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9" r:id="rId1"/>
  </p:sldMasterIdLst>
  <p:notesMasterIdLst>
    <p:notesMasterId r:id="rId4"/>
  </p:notesMasterIdLst>
  <p:handoutMasterIdLst>
    <p:handoutMasterId r:id="rId5"/>
  </p:handoutMasterIdLst>
  <p:sldIdLst>
    <p:sldId id="266" r:id="rId2"/>
    <p:sldId id="808" r:id="rId3"/>
  </p:sldIdLst>
  <p:sldSz cx="12192000" cy="6858000"/>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7320A71D-06E2-4CA3-9A89-69B3A7FD7D4D}">
          <p14:sldIdLst>
            <p14:sldId id="266"/>
            <p14:sldId id="8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彥 Lin" initials="彥" lastIdx="1" clrIdx="0">
    <p:extLst>
      <p:ext uri="{19B8F6BF-5375-455C-9EA6-DF929625EA0E}">
        <p15:presenceInfo xmlns:p15="http://schemas.microsoft.com/office/powerpoint/2012/main" userId="0670ca2f1b37ee7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B0F0"/>
    <a:srgbClr val="F58F17"/>
    <a:srgbClr val="66FFFF"/>
    <a:srgbClr val="E2F0D9"/>
    <a:srgbClr val="E6FCDC"/>
    <a:srgbClr val="FFFFFF"/>
    <a:srgbClr val="CC9900"/>
    <a:srgbClr val="CCFFCC"/>
    <a:srgbClr val="FFB0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80485" autoAdjust="0"/>
  </p:normalViewPr>
  <p:slideViewPr>
    <p:cSldViewPr snapToObjects="1">
      <p:cViewPr>
        <p:scale>
          <a:sx n="66" d="100"/>
          <a:sy n="66" d="100"/>
        </p:scale>
        <p:origin x="1296" y="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Objects="1">
      <p:cViewPr varScale="1">
        <p:scale>
          <a:sx n="47" d="100"/>
          <a:sy n="47" d="100"/>
        </p:scale>
        <p:origin x="-2652" y="-76"/>
      </p:cViewPr>
      <p:guideLst>
        <p:guide orient="horz" pos="3131"/>
        <p:guide pos="2144"/>
      </p:guideLst>
    </p:cSldViewPr>
  </p:notes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9787" cy="496967"/>
          </a:xfrm>
          <a:prstGeom prst="rect">
            <a:avLst/>
          </a:prstGeom>
        </p:spPr>
        <p:txBody>
          <a:bodyPr vert="horz" lIns="91431" tIns="45715" rIns="91431" bIns="45715" rtlCol="0"/>
          <a:lstStyle>
            <a:lvl1pPr algn="l">
              <a:defRPr sz="1200"/>
            </a:lvl1pPr>
          </a:lstStyle>
          <a:p>
            <a:endParaRPr lang="en-US" dirty="0"/>
          </a:p>
        </p:txBody>
      </p:sp>
      <p:sp>
        <p:nvSpPr>
          <p:cNvPr id="3" name="Date Placeholder 2"/>
          <p:cNvSpPr>
            <a:spLocks noGrp="1"/>
          </p:cNvSpPr>
          <p:nvPr>
            <p:ph type="dt" sz="quarter" idx="1"/>
          </p:nvPr>
        </p:nvSpPr>
        <p:spPr>
          <a:xfrm>
            <a:off x="3855838" y="1"/>
            <a:ext cx="2949787" cy="496967"/>
          </a:xfrm>
          <a:prstGeom prst="rect">
            <a:avLst/>
          </a:prstGeom>
        </p:spPr>
        <p:txBody>
          <a:bodyPr vert="horz" lIns="91431" tIns="45715" rIns="91431" bIns="45715" rtlCol="0"/>
          <a:lstStyle>
            <a:lvl1pPr algn="r">
              <a:defRPr sz="1200"/>
            </a:lvl1pPr>
          </a:lstStyle>
          <a:p>
            <a:fld id="{D9A13432-9FC4-4847-B369-E5C0DDD918EB}" type="datetime1">
              <a:rPr lang="zh-TW" altLang="en-US" smtClean="0"/>
              <a:t>2025/9/18</a:t>
            </a:fld>
            <a:endParaRPr lang="en-US" dirty="0"/>
          </a:p>
        </p:txBody>
      </p:sp>
      <p:sp>
        <p:nvSpPr>
          <p:cNvPr id="4" name="Footer Placeholder 3"/>
          <p:cNvSpPr>
            <a:spLocks noGrp="1"/>
          </p:cNvSpPr>
          <p:nvPr>
            <p:ph type="ftr" sz="quarter" idx="2"/>
          </p:nvPr>
        </p:nvSpPr>
        <p:spPr>
          <a:xfrm>
            <a:off x="0" y="9440647"/>
            <a:ext cx="2949787" cy="496967"/>
          </a:xfrm>
          <a:prstGeom prst="rect">
            <a:avLst/>
          </a:prstGeom>
        </p:spPr>
        <p:txBody>
          <a:bodyPr vert="horz" lIns="91431" tIns="45715" rIns="91431" bIns="4571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5838" y="9440647"/>
            <a:ext cx="2949787" cy="496967"/>
          </a:xfrm>
          <a:prstGeom prst="rect">
            <a:avLst/>
          </a:prstGeom>
        </p:spPr>
        <p:txBody>
          <a:bodyPr vert="horz" lIns="91431" tIns="45715" rIns="91431" bIns="45715" rtlCol="0" anchor="b"/>
          <a:lstStyle>
            <a:lvl1pPr algn="r">
              <a:defRPr sz="1200"/>
            </a:lvl1pPr>
          </a:lstStyle>
          <a:p>
            <a:fld id="{6DA8EFFE-14FE-124F-B2CE-32BD85ED3928}" type="slidenum">
              <a:rPr lang="en-US" smtClean="0"/>
              <a:pPr/>
              <a:t>‹#›</a:t>
            </a:fld>
            <a:endParaRPr lang="en-US" dirty="0"/>
          </a:p>
        </p:txBody>
      </p:sp>
    </p:spTree>
    <p:extLst>
      <p:ext uri="{BB962C8B-B14F-4D97-AF65-F5344CB8AC3E}">
        <p14:creationId xmlns:p14="http://schemas.microsoft.com/office/powerpoint/2010/main" val="37932024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9787" cy="496967"/>
          </a:xfrm>
          <a:prstGeom prst="rect">
            <a:avLst/>
          </a:prstGeom>
        </p:spPr>
        <p:txBody>
          <a:bodyPr vert="horz" lIns="91431" tIns="45715" rIns="91431" bIns="45715" rtlCol="0"/>
          <a:lstStyle>
            <a:lvl1pPr algn="l">
              <a:defRPr sz="1200"/>
            </a:lvl1pPr>
          </a:lstStyle>
          <a:p>
            <a:endParaRPr lang="en-US" dirty="0"/>
          </a:p>
        </p:txBody>
      </p:sp>
      <p:sp>
        <p:nvSpPr>
          <p:cNvPr id="3" name="Date Placeholder 2"/>
          <p:cNvSpPr>
            <a:spLocks noGrp="1"/>
          </p:cNvSpPr>
          <p:nvPr>
            <p:ph type="dt" idx="1"/>
          </p:nvPr>
        </p:nvSpPr>
        <p:spPr>
          <a:xfrm>
            <a:off x="3855838" y="1"/>
            <a:ext cx="2949787" cy="496967"/>
          </a:xfrm>
          <a:prstGeom prst="rect">
            <a:avLst/>
          </a:prstGeom>
        </p:spPr>
        <p:txBody>
          <a:bodyPr vert="horz" lIns="91431" tIns="45715" rIns="91431" bIns="45715" rtlCol="0"/>
          <a:lstStyle>
            <a:lvl1pPr algn="r">
              <a:defRPr sz="1200"/>
            </a:lvl1pPr>
          </a:lstStyle>
          <a:p>
            <a:fld id="{97A39107-8806-4BBD-94FE-73E6724A9D6B}" type="datetime1">
              <a:rPr lang="zh-TW" altLang="en-US" smtClean="0"/>
              <a:t>2025/9/18</a:t>
            </a:fld>
            <a:endParaRPr lang="en-US" dirty="0"/>
          </a:p>
        </p:txBody>
      </p:sp>
      <p:sp>
        <p:nvSpPr>
          <p:cNvPr id="4" name="Slide Image Placeholder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31" tIns="45715" rIns="91431" bIns="45715" rtlCol="0" anchor="ctr"/>
          <a:lstStyle/>
          <a:p>
            <a:endParaRPr lang="en-US" dirty="0"/>
          </a:p>
        </p:txBody>
      </p:sp>
      <p:sp>
        <p:nvSpPr>
          <p:cNvPr id="5" name="Notes Placeholder 4"/>
          <p:cNvSpPr>
            <a:spLocks noGrp="1"/>
          </p:cNvSpPr>
          <p:nvPr>
            <p:ph type="body" sz="quarter" idx="3"/>
          </p:nvPr>
        </p:nvSpPr>
        <p:spPr>
          <a:xfrm>
            <a:off x="680720" y="4721186"/>
            <a:ext cx="5445760" cy="4472702"/>
          </a:xfrm>
          <a:prstGeom prst="rect">
            <a:avLst/>
          </a:prstGeom>
        </p:spPr>
        <p:txBody>
          <a:bodyPr vert="horz" lIns="91431" tIns="45715" rIns="91431" bIns="457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6967"/>
          </a:xfrm>
          <a:prstGeom prst="rect">
            <a:avLst/>
          </a:prstGeom>
        </p:spPr>
        <p:txBody>
          <a:bodyPr vert="horz" lIns="91431" tIns="45715" rIns="91431" bIns="457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5838" y="9440647"/>
            <a:ext cx="2949787" cy="496967"/>
          </a:xfrm>
          <a:prstGeom prst="rect">
            <a:avLst/>
          </a:prstGeom>
        </p:spPr>
        <p:txBody>
          <a:bodyPr vert="horz" lIns="91431" tIns="45715" rIns="91431" bIns="45715" rtlCol="0" anchor="b"/>
          <a:lstStyle>
            <a:lvl1pPr algn="r">
              <a:defRPr sz="1200"/>
            </a:lvl1pPr>
          </a:lstStyle>
          <a:p>
            <a:fld id="{1548752F-E1F0-9041-9BBB-203AF400B139}" type="slidenum">
              <a:rPr lang="en-US" smtClean="0"/>
              <a:pPr/>
              <a:t>‹#›</a:t>
            </a:fld>
            <a:endParaRPr lang="en-US" dirty="0"/>
          </a:p>
        </p:txBody>
      </p:sp>
    </p:spTree>
    <p:extLst>
      <p:ext uri="{BB962C8B-B14F-4D97-AF65-F5344CB8AC3E}">
        <p14:creationId xmlns:p14="http://schemas.microsoft.com/office/powerpoint/2010/main" val="1821582348"/>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AI Agent </a:t>
            </a:r>
            <a:r>
              <a:rPr lang="zh-TW" altLang="en-US" dirty="0"/>
              <a:t>是一種能夠自主感知、決策和執行任務的 </a:t>
            </a:r>
            <a:r>
              <a:rPr lang="en-US" altLang="zh-TW" dirty="0"/>
              <a:t>AI </a:t>
            </a:r>
            <a:r>
              <a:rPr lang="zh-TW" altLang="en-US" dirty="0"/>
              <a:t>應用概念智慧。它最大的特色，就是不需要人為介入便能夠自動完成任務。換句話說，它是一個會思考、會行動的智慧助理。</a:t>
            </a:r>
            <a:endParaRPr lang="en-US" altLang="zh-TW" dirty="0"/>
          </a:p>
          <a:p>
            <a:endParaRPr lang="zh-TW" altLang="en-US" dirty="0"/>
          </a:p>
          <a:p>
            <a:r>
              <a:rPr lang="en-US" altLang="zh-TW" b="1" dirty="0"/>
              <a:t>AI </a:t>
            </a:r>
            <a:r>
              <a:rPr lang="zh-TW" altLang="en-US" b="1" dirty="0"/>
              <a:t>的發展是如何演進的？</a:t>
            </a:r>
            <a:br>
              <a:rPr lang="en-US" altLang="zh-TW" dirty="0"/>
            </a:br>
            <a:r>
              <a:rPr lang="en-US" altLang="zh-TW" dirty="0"/>
              <a:t>OpenAI </a:t>
            </a:r>
            <a:r>
              <a:rPr lang="zh-TW" altLang="en-US" dirty="0"/>
              <a:t>將 </a:t>
            </a:r>
            <a:r>
              <a:rPr lang="en-US" altLang="zh-TW" dirty="0"/>
              <a:t>AI </a:t>
            </a:r>
            <a:r>
              <a:rPr lang="zh-TW" altLang="en-US" dirty="0"/>
              <a:t>的發展階段分為五個層級：</a:t>
            </a:r>
          </a:p>
          <a:p>
            <a:pPr marL="0" marR="0" lvl="0" indent="0" algn="l" defTabSz="457200" rtl="0" eaLnBrk="1" fontAlgn="auto" latinLnBrk="0" hangingPunct="1">
              <a:lnSpc>
                <a:spcPct val="100000"/>
              </a:lnSpc>
              <a:spcBef>
                <a:spcPts val="0"/>
              </a:spcBef>
              <a:spcAft>
                <a:spcPts val="0"/>
              </a:spcAft>
              <a:buClrTx/>
              <a:buSzTx/>
              <a:buFontTx/>
              <a:buNone/>
              <a:tabLst/>
              <a:defRPr/>
            </a:pPr>
            <a:r>
              <a:rPr lang="zh-TW" altLang="en-US" b="1" dirty="0"/>
              <a:t>而</a:t>
            </a:r>
            <a:r>
              <a:rPr lang="en-US" altLang="zh-TW" b="1" dirty="0"/>
              <a:t>AI Agent</a:t>
            </a:r>
            <a:r>
              <a:rPr lang="zh-TW" altLang="en-US" b="1" dirty="0"/>
              <a:t>屬於第三級</a:t>
            </a:r>
            <a:r>
              <a:rPr lang="zh-TW" altLang="en-US" dirty="0"/>
              <a:t>不只會思考，甚至操作其他工具，像是幫你訂機票、查資料、寫程式。</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TW" b="1"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b="1" dirty="0"/>
              <a:t>AI Agent </a:t>
            </a:r>
            <a:r>
              <a:rPr lang="zh-TW" altLang="en-US" b="1" dirty="0"/>
              <a:t>的應用案例上</a:t>
            </a:r>
            <a:r>
              <a:rPr lang="zh-TW" altLang="en-US" dirty="0"/>
              <a:t>。</a:t>
            </a:r>
            <a:br>
              <a:rPr lang="zh-TW" altLang="en-US" dirty="0"/>
            </a:br>
            <a:r>
              <a:rPr lang="zh-TW" altLang="en-US" dirty="0"/>
              <a:t>首</a:t>
            </a:r>
            <a:r>
              <a:rPr lang="zh-TW" altLang="en-US" b="1" dirty="0"/>
              <a:t>智慧客</a:t>
            </a:r>
            <a:r>
              <a:rPr lang="en-US" altLang="zh-TW" dirty="0"/>
              <a:t>AI Agent </a:t>
            </a:r>
            <a:r>
              <a:rPr lang="zh-TW" altLang="en-US" dirty="0"/>
              <a:t>能即時回覆顧客問題，處理訂單與退款，並提供產品建議，大幅降低人工客服的負擔。</a:t>
            </a:r>
            <a:br>
              <a:rPr lang="zh-TW" altLang="en-US" dirty="0"/>
            </a:br>
            <a:r>
              <a:rPr lang="zh-TW" altLang="en-US" b="1" dirty="0"/>
              <a:t>智慧製造</a:t>
            </a:r>
            <a:r>
              <a:rPr lang="en-US" altLang="zh-TW" dirty="0"/>
              <a:t>AI Agent </a:t>
            </a:r>
            <a:r>
              <a:rPr lang="zh-TW" altLang="en-US" dirty="0"/>
              <a:t>可以監控生產數據，主動發現異常，預測維護需求，並自動調整參數，提升整體效率。</a:t>
            </a:r>
          </a:p>
          <a:p>
            <a:endParaRPr lang="en-US" altLang="zh-TW" dirty="0"/>
          </a:p>
          <a:p>
            <a:r>
              <a:rPr lang="zh-TW" altLang="en-US" dirty="0"/>
              <a:t>總結來說，</a:t>
            </a:r>
            <a:r>
              <a:rPr lang="en-US" altLang="zh-TW" dirty="0"/>
              <a:t>AI Agent </a:t>
            </a:r>
            <a:r>
              <a:rPr lang="zh-TW" altLang="en-US" dirty="0"/>
              <a:t>是從基礎的聊天與推理，逐步進化到能行動、能創新、甚至能組織協作的一種智慧體。這正是我們現在看到 </a:t>
            </a:r>
            <a:r>
              <a:rPr lang="en-US" altLang="zh-TW" dirty="0"/>
              <a:t>AI </a:t>
            </a:r>
            <a:r>
              <a:rPr lang="zh-TW" altLang="en-US" dirty="0"/>
              <a:t>技術快速發展的方向</a:t>
            </a:r>
          </a:p>
          <a:p>
            <a:endParaRPr lang="zh-TW" altLang="en-US" dirty="0"/>
          </a:p>
        </p:txBody>
      </p:sp>
      <p:sp>
        <p:nvSpPr>
          <p:cNvPr id="4" name="日期版面配置區 3"/>
          <p:cNvSpPr>
            <a:spLocks noGrp="1"/>
          </p:cNvSpPr>
          <p:nvPr>
            <p:ph type="dt" idx="1"/>
          </p:nvPr>
        </p:nvSpPr>
        <p:spPr/>
        <p:txBody>
          <a:bodyPr/>
          <a:lstStyle/>
          <a:p>
            <a:fld id="{97A39107-8806-4BBD-94FE-73E6724A9D6B}" type="datetime1">
              <a:rPr lang="zh-TW" altLang="en-US" smtClean="0"/>
              <a:t>2025/9/18</a:t>
            </a:fld>
            <a:endParaRPr lang="en-US" dirty="0"/>
          </a:p>
        </p:txBody>
      </p:sp>
      <p:sp>
        <p:nvSpPr>
          <p:cNvPr id="5" name="投影片編號版面配置區 4"/>
          <p:cNvSpPr>
            <a:spLocks noGrp="1"/>
          </p:cNvSpPr>
          <p:nvPr>
            <p:ph type="sldNum" sz="quarter" idx="5"/>
          </p:nvPr>
        </p:nvSpPr>
        <p:spPr/>
        <p:txBody>
          <a:bodyPr/>
          <a:lstStyle/>
          <a:p>
            <a:fld id="{1548752F-E1F0-9041-9BBB-203AF400B139}" type="slidenum">
              <a:rPr lang="en-US" smtClean="0"/>
              <a:pPr/>
              <a:t>1</a:t>
            </a:fld>
            <a:endParaRPr lang="en-US" dirty="0"/>
          </a:p>
        </p:txBody>
      </p:sp>
    </p:spTree>
    <p:extLst>
      <p:ext uri="{BB962C8B-B14F-4D97-AF65-F5344CB8AC3E}">
        <p14:creationId xmlns:p14="http://schemas.microsoft.com/office/powerpoint/2010/main" val="139507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fontScale="92500" lnSpcReduction="20000"/>
          </a:bodyPr>
          <a:lstStyle/>
          <a:p>
            <a:r>
              <a:rPr lang="en-US" altLang="zh-TW" b="1" dirty="0"/>
              <a:t>AI Agent</a:t>
            </a:r>
            <a:r>
              <a:rPr lang="en-US" altLang="zh-TW" dirty="0"/>
              <a:t> is an AI application concept capable of autonomous perception, decision-making, and task execution. Its greatest feature is the ability to complete tasks automatically without human intervention. In other words, it is an intelligent assistant that can both think and act.</a:t>
            </a:r>
          </a:p>
          <a:p>
            <a:r>
              <a:rPr lang="en-US" altLang="zh-TW" b="1" dirty="0"/>
              <a:t>How has AI development evolved?</a:t>
            </a:r>
            <a:br>
              <a:rPr lang="en-US" altLang="zh-TW" dirty="0"/>
            </a:br>
            <a:r>
              <a:rPr lang="en-US" altLang="zh-TW" dirty="0" err="1"/>
              <a:t>OpenAI</a:t>
            </a:r>
            <a:r>
              <a:rPr lang="en-US" altLang="zh-TW" dirty="0"/>
              <a:t> divides the stages of AI development into five levels. AI Agents belong to the third level, which not only involves reasoning but also the ability to operate other tools—for example, booking flights, searching for information, or writing code.</a:t>
            </a:r>
          </a:p>
          <a:p>
            <a:r>
              <a:rPr lang="en-US" altLang="zh-TW" b="1" dirty="0"/>
              <a:t>Application Scenarios of AI Agents:</a:t>
            </a:r>
            <a:endParaRPr lang="en-US" altLang="zh-TW" dirty="0"/>
          </a:p>
          <a:p>
            <a:pPr>
              <a:buFont typeface="Arial" panose="020B0604020202020204" pitchFamily="34" charset="0"/>
              <a:buChar char="•"/>
            </a:pPr>
            <a:r>
              <a:rPr lang="en-US" altLang="zh-TW" b="1" dirty="0"/>
              <a:t>Intelligent Customer Service:</a:t>
            </a:r>
            <a:r>
              <a:rPr lang="en-US" altLang="zh-TW" dirty="0"/>
              <a:t> AI Agents can respond to customer inquiries in real time, handle orders and refunds, and provide product recommendations, significantly reducing the workload of human customer service.</a:t>
            </a:r>
          </a:p>
          <a:p>
            <a:pPr>
              <a:buFont typeface="Arial" panose="020B0604020202020204" pitchFamily="34" charset="0"/>
              <a:buChar char="•"/>
            </a:pPr>
            <a:r>
              <a:rPr lang="en-US" altLang="zh-TW" b="1" dirty="0"/>
              <a:t>Smart Manufacturing:</a:t>
            </a:r>
            <a:r>
              <a:rPr lang="en-US" altLang="zh-TW" dirty="0"/>
              <a:t> AI Agents can monitor production data, proactively detect anomalies, predict maintenance needs, and automatically adjust parameters to improve overall efficiency.</a:t>
            </a:r>
          </a:p>
          <a:p>
            <a:r>
              <a:rPr lang="en-US" altLang="zh-TW" b="1" dirty="0"/>
              <a:t>In summary</a:t>
            </a:r>
            <a:r>
              <a:rPr lang="en-US" altLang="zh-TW" dirty="0"/>
              <a:t>, AI Agents represent an evolution from basic conversation and reasoning to intelligent entities capable of taking actions, innovating, and even collaborating in an organized way. This is precisely the direction in which AI technology is rapidly advancing today.</a:t>
            </a:r>
          </a:p>
          <a:p>
            <a:endParaRPr lang="zh-TW" altLang="en-US" dirty="0"/>
          </a:p>
        </p:txBody>
      </p:sp>
      <p:sp>
        <p:nvSpPr>
          <p:cNvPr id="4" name="日期版面配置區 3"/>
          <p:cNvSpPr>
            <a:spLocks noGrp="1"/>
          </p:cNvSpPr>
          <p:nvPr>
            <p:ph type="dt" idx="1"/>
          </p:nvPr>
        </p:nvSpPr>
        <p:spPr/>
        <p:txBody>
          <a:bodyPr/>
          <a:lstStyle/>
          <a:p>
            <a:fld id="{97A39107-8806-4BBD-94FE-73E6724A9D6B}" type="datetime1">
              <a:rPr lang="zh-TW" altLang="en-US" smtClean="0"/>
              <a:t>2025/9/18</a:t>
            </a:fld>
            <a:endParaRPr lang="en-US" dirty="0"/>
          </a:p>
        </p:txBody>
      </p:sp>
      <p:sp>
        <p:nvSpPr>
          <p:cNvPr id="5" name="投影片編號版面配置區 4"/>
          <p:cNvSpPr>
            <a:spLocks noGrp="1"/>
          </p:cNvSpPr>
          <p:nvPr>
            <p:ph type="sldNum" sz="quarter" idx="5"/>
          </p:nvPr>
        </p:nvSpPr>
        <p:spPr/>
        <p:txBody>
          <a:bodyPr/>
          <a:lstStyle/>
          <a:p>
            <a:fld id="{1548752F-E1F0-9041-9BBB-203AF400B139}" type="slidenum">
              <a:rPr lang="en-US" smtClean="0"/>
              <a:pPr/>
              <a:t>2</a:t>
            </a:fld>
            <a:endParaRPr lang="en-US" dirty="0"/>
          </a:p>
        </p:txBody>
      </p:sp>
    </p:spTree>
    <p:extLst>
      <p:ext uri="{BB962C8B-B14F-4D97-AF65-F5344CB8AC3E}">
        <p14:creationId xmlns:p14="http://schemas.microsoft.com/office/powerpoint/2010/main" val="128792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6" name="Rectangle 5"/>
          <p:cNvSpPr/>
          <p:nvPr userDrawn="1"/>
        </p:nvSpPr>
        <p:spPr>
          <a:xfrm rot="10800000" flipV="1">
            <a:off x="335361" y="6111446"/>
            <a:ext cx="4076700" cy="307777"/>
          </a:xfrm>
          <a:prstGeom prst="rect">
            <a:avLst/>
          </a:prstGeom>
        </p:spPr>
        <p:txBody>
          <a:bodyPr wrap="square" anchor="ctr">
            <a:spAutoFit/>
          </a:bodyPr>
          <a:lstStyle/>
          <a:p>
            <a:pPr algn="l"/>
            <a:r>
              <a:rPr lang="en-US" altLang="zh-TW" sz="1400" dirty="0">
                <a:solidFill>
                  <a:schemeClr val="tx1">
                    <a:lumMod val="75000"/>
                    <a:lumOff val="25000"/>
                  </a:schemeClr>
                </a:solidFill>
              </a:rPr>
              <a:t>*Reference</a:t>
            </a:r>
            <a:r>
              <a:rPr lang="zh-TW" altLang="en-US" sz="1400" dirty="0">
                <a:solidFill>
                  <a:schemeClr val="tx1">
                    <a:lumMod val="75000"/>
                    <a:lumOff val="25000"/>
                  </a:schemeClr>
                </a:solidFill>
              </a:rPr>
              <a:t>：</a:t>
            </a:r>
          </a:p>
        </p:txBody>
      </p:sp>
      <p:sp>
        <p:nvSpPr>
          <p:cNvPr id="8" name="Text Placeholder 2"/>
          <p:cNvSpPr>
            <a:spLocks noGrp="1"/>
          </p:cNvSpPr>
          <p:nvPr>
            <p:ph idx="1"/>
          </p:nvPr>
        </p:nvSpPr>
        <p:spPr>
          <a:xfrm>
            <a:off x="2210070" y="1695934"/>
            <a:ext cx="9019365" cy="4303584"/>
          </a:xfrm>
          <a:prstGeom prst="rect">
            <a:avLst/>
          </a:prstGeom>
        </p:spPr>
        <p:txBody>
          <a:bodyPr vert="horz" lIns="91440" tIns="45720" rIns="91440" bIns="45720" rtlCol="0">
            <a:normAutofit/>
          </a:bodyPr>
          <a:lstStyle/>
          <a:p>
            <a:pPr lvl="0"/>
            <a:endParaRPr lang="en-US" dirty="0"/>
          </a:p>
        </p:txBody>
      </p:sp>
      <p:sp>
        <p:nvSpPr>
          <p:cNvPr id="9" name="Title Placeholder 1">
            <a:extLst>
              <a:ext uri="{FF2B5EF4-FFF2-40B4-BE49-F238E27FC236}">
                <a16:creationId xmlns:a16="http://schemas.microsoft.com/office/drawing/2014/main" id="{048A641F-6B40-4CAC-BBE9-8CA1DD0C47D7}"/>
              </a:ext>
            </a:extLst>
          </p:cNvPr>
          <p:cNvSpPr>
            <a:spLocks noGrp="1"/>
          </p:cNvSpPr>
          <p:nvPr>
            <p:ph type="title"/>
          </p:nvPr>
        </p:nvSpPr>
        <p:spPr>
          <a:xfrm>
            <a:off x="2205269" y="633198"/>
            <a:ext cx="9237133" cy="685799"/>
          </a:xfrm>
          <a:prstGeom prst="rect">
            <a:avLst/>
          </a:prstGeom>
        </p:spPr>
        <p:txBody>
          <a:bodyPr vert="horz" lIns="91440" tIns="45720" rIns="91440" bIns="45720" rtlCol="0" anchor="ctr" anchorCtr="0">
            <a:normAutofit/>
          </a:bodyPr>
          <a:lstStyle/>
          <a:p>
            <a:r>
              <a:rPr lang="zh-TW" altLang="en-US" dirty="0"/>
              <a:t>按一下以編輯母片標題樣式</a:t>
            </a:r>
            <a:endParaRPr lang="en-US" dirty="0"/>
          </a:p>
        </p:txBody>
      </p:sp>
    </p:spTree>
    <p:extLst>
      <p:ext uri="{BB962C8B-B14F-4D97-AF65-F5344CB8AC3E}">
        <p14:creationId xmlns:p14="http://schemas.microsoft.com/office/powerpoint/2010/main" val="153523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標題及物件">
    <p:spTree>
      <p:nvGrpSpPr>
        <p:cNvPr id="1" name=""/>
        <p:cNvGrpSpPr/>
        <p:nvPr/>
      </p:nvGrpSpPr>
      <p:grpSpPr>
        <a:xfrm>
          <a:off x="0" y="0"/>
          <a:ext cx="0" cy="0"/>
          <a:chOff x="0" y="0"/>
          <a:chExt cx="0" cy="0"/>
        </a:xfrm>
      </p:grpSpPr>
      <p:sp>
        <p:nvSpPr>
          <p:cNvPr id="6" name="Rectangle 5"/>
          <p:cNvSpPr/>
          <p:nvPr userDrawn="1"/>
        </p:nvSpPr>
        <p:spPr>
          <a:xfrm rot="10800000" flipV="1">
            <a:off x="335360" y="6381328"/>
            <a:ext cx="4076700" cy="307777"/>
          </a:xfrm>
          <a:prstGeom prst="rect">
            <a:avLst/>
          </a:prstGeom>
        </p:spPr>
        <p:txBody>
          <a:bodyPr wrap="square" anchor="ctr">
            <a:spAutoFit/>
          </a:bodyPr>
          <a:lstStyle/>
          <a:p>
            <a:r>
              <a:rPr lang="en-US" altLang="zh-TW" sz="1400" dirty="0">
                <a:solidFill>
                  <a:srgbClr val="212121">
                    <a:lumMod val="75000"/>
                    <a:lumOff val="25000"/>
                  </a:srgbClr>
                </a:solidFill>
              </a:rPr>
              <a:t>*Reference</a:t>
            </a:r>
            <a:r>
              <a:rPr lang="zh-TW" altLang="en-US" sz="1400" dirty="0">
                <a:solidFill>
                  <a:srgbClr val="212121">
                    <a:lumMod val="75000"/>
                    <a:lumOff val="25000"/>
                  </a:srgbClr>
                </a:solidFill>
              </a:rPr>
              <a:t>：</a:t>
            </a:r>
          </a:p>
        </p:txBody>
      </p:sp>
      <p:sp>
        <p:nvSpPr>
          <p:cNvPr id="3" name="內容版面配置區 2"/>
          <p:cNvSpPr>
            <a:spLocks noGrp="1"/>
          </p:cNvSpPr>
          <p:nvPr>
            <p:ph sz="quarter" idx="10"/>
          </p:nvPr>
        </p:nvSpPr>
        <p:spPr>
          <a:xfrm>
            <a:off x="2241951" y="1773238"/>
            <a:ext cx="8641357" cy="4104034"/>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7565941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7568" y="654969"/>
            <a:ext cx="9237133" cy="685799"/>
          </a:xfrm>
          <a:prstGeom prst="rect">
            <a:avLst/>
          </a:prstGeom>
        </p:spPr>
        <p:txBody>
          <a:bodyPr vert="horz" lIns="91440" tIns="45720" rIns="91440" bIns="45720" rtlCol="0" anchor="ctr" anchorCtr="0">
            <a:normAutofit/>
          </a:bodyPr>
          <a:lstStyle/>
          <a:p>
            <a:r>
              <a:rPr lang="zh-TW" altLang="en-US" dirty="0"/>
              <a:t>按一下以編輯母片標題樣式</a:t>
            </a:r>
            <a:endParaRPr lang="en-US" dirty="0"/>
          </a:p>
        </p:txBody>
      </p:sp>
      <p:sp>
        <p:nvSpPr>
          <p:cNvPr id="3" name="Text Placeholder 2"/>
          <p:cNvSpPr>
            <a:spLocks noGrp="1"/>
          </p:cNvSpPr>
          <p:nvPr>
            <p:ph type="body" idx="1"/>
          </p:nvPr>
        </p:nvSpPr>
        <p:spPr>
          <a:xfrm>
            <a:off x="2207568" y="1773238"/>
            <a:ext cx="9205152" cy="429535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pic>
        <p:nvPicPr>
          <p:cNvPr id="46" name="圖片 45">
            <a:extLst>
              <a:ext uri="{FF2B5EF4-FFF2-40B4-BE49-F238E27FC236}">
                <a16:creationId xmlns:a16="http://schemas.microsoft.com/office/drawing/2014/main" id="{65700FA4-6B5A-4344-93B4-EF9B2B2464B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34368" y="6150903"/>
            <a:ext cx="1411939" cy="685799"/>
          </a:xfrm>
          <a:prstGeom prst="rect">
            <a:avLst/>
          </a:prstGeom>
        </p:spPr>
      </p:pic>
      <p:sp>
        <p:nvSpPr>
          <p:cNvPr id="109" name="Donut 13">
            <a:extLst>
              <a:ext uri="{FF2B5EF4-FFF2-40B4-BE49-F238E27FC236}">
                <a16:creationId xmlns:a16="http://schemas.microsoft.com/office/drawing/2014/main" id="{E92A82C1-90BC-43D5-AA61-AA2730C1A030}"/>
              </a:ext>
            </a:extLst>
          </p:cNvPr>
          <p:cNvSpPr/>
          <p:nvPr userDrawn="1"/>
        </p:nvSpPr>
        <p:spPr>
          <a:xfrm rot="7488651">
            <a:off x="648655"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0" name="橢圓 109">
            <a:extLst>
              <a:ext uri="{FF2B5EF4-FFF2-40B4-BE49-F238E27FC236}">
                <a16:creationId xmlns:a16="http://schemas.microsoft.com/office/drawing/2014/main" id="{0CEB6239-B178-43C1-B5AF-34A10090C37C}"/>
              </a:ext>
            </a:extLst>
          </p:cNvPr>
          <p:cNvSpPr/>
          <p:nvPr userDrawn="1"/>
        </p:nvSpPr>
        <p:spPr>
          <a:xfrm>
            <a:off x="278230" y="256526"/>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1" name="橢圓 110">
            <a:extLst>
              <a:ext uri="{FF2B5EF4-FFF2-40B4-BE49-F238E27FC236}">
                <a16:creationId xmlns:a16="http://schemas.microsoft.com/office/drawing/2014/main" id="{5EF831DA-7834-4C6F-9874-5D77997FEE51}"/>
              </a:ext>
            </a:extLst>
          </p:cNvPr>
          <p:cNvSpPr/>
          <p:nvPr userDrawn="1"/>
        </p:nvSpPr>
        <p:spPr>
          <a:xfrm>
            <a:off x="104141" y="106293"/>
            <a:ext cx="1908000" cy="1908000"/>
          </a:xfrm>
          <a:prstGeom prst="ellipse">
            <a:avLst/>
          </a:prstGeom>
          <a:solidFill>
            <a:srgbClr val="FDB912"/>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2" name="橢圓 111">
            <a:extLst>
              <a:ext uri="{FF2B5EF4-FFF2-40B4-BE49-F238E27FC236}">
                <a16:creationId xmlns:a16="http://schemas.microsoft.com/office/drawing/2014/main" id="{DD54DB3C-F0ED-4314-8860-3E25BDB060C6}"/>
              </a:ext>
            </a:extLst>
          </p:cNvPr>
          <p:cNvSpPr/>
          <p:nvPr userDrawn="1"/>
        </p:nvSpPr>
        <p:spPr>
          <a:xfrm>
            <a:off x="262327" y="264477"/>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3" name="Donut 13">
            <a:extLst>
              <a:ext uri="{FF2B5EF4-FFF2-40B4-BE49-F238E27FC236}">
                <a16:creationId xmlns:a16="http://schemas.microsoft.com/office/drawing/2014/main" id="{B40AC9B7-6D87-470B-BB8A-C1434F8D1A70}"/>
              </a:ext>
            </a:extLst>
          </p:cNvPr>
          <p:cNvSpPr/>
          <p:nvPr userDrawn="1"/>
        </p:nvSpPr>
        <p:spPr>
          <a:xfrm rot="267487">
            <a:off x="1014670" y="337716"/>
            <a:ext cx="818077" cy="1047779"/>
          </a:xfrm>
          <a:custGeom>
            <a:avLst/>
            <a:gdLst/>
            <a:ahLst/>
            <a:cxnLst/>
            <a:rect l="l" t="t" r="r" b="b"/>
            <a:pathLst>
              <a:path w="1911628" h="2448370">
                <a:moveTo>
                  <a:pt x="159028" y="0"/>
                </a:moveTo>
                <a:cubicBezTo>
                  <a:pt x="1126962" y="0"/>
                  <a:pt x="1911628" y="784666"/>
                  <a:pt x="1911628" y="1752600"/>
                </a:cubicBezTo>
                <a:cubicBezTo>
                  <a:pt x="1911628" y="1971660"/>
                  <a:pt x="1871438" y="2181334"/>
                  <a:pt x="1796069" y="2373897"/>
                </a:cubicBezTo>
                <a:lnTo>
                  <a:pt x="1484520" y="2448370"/>
                </a:lnTo>
                <a:lnTo>
                  <a:pt x="1376590" y="2085315"/>
                </a:lnTo>
                <a:cubicBezTo>
                  <a:pt x="1406890" y="1979599"/>
                  <a:pt x="1422337" y="1867904"/>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lose/>
              </a:path>
            </a:pathLst>
          </a:custGeom>
          <a:solidFill>
            <a:srgbClr val="15A085"/>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4" name="Donut 13">
            <a:extLst>
              <a:ext uri="{FF2B5EF4-FFF2-40B4-BE49-F238E27FC236}">
                <a16:creationId xmlns:a16="http://schemas.microsoft.com/office/drawing/2014/main" id="{46B1BA03-0289-4E43-96A7-AC24CD4B1D7C}"/>
              </a:ext>
            </a:extLst>
          </p:cNvPr>
          <p:cNvSpPr/>
          <p:nvPr userDrawn="1"/>
        </p:nvSpPr>
        <p:spPr>
          <a:xfrm rot="7488651">
            <a:off x="648656"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5" name="Donut 13">
            <a:extLst>
              <a:ext uri="{FF2B5EF4-FFF2-40B4-BE49-F238E27FC236}">
                <a16:creationId xmlns:a16="http://schemas.microsoft.com/office/drawing/2014/main" id="{3F09961C-7BBD-48A7-8384-EE7BAC8FF8BD}"/>
              </a:ext>
            </a:extLst>
          </p:cNvPr>
          <p:cNvSpPr/>
          <p:nvPr userDrawn="1"/>
        </p:nvSpPr>
        <p:spPr>
          <a:xfrm rot="14667487">
            <a:off x="306207" y="328874"/>
            <a:ext cx="818081" cy="1046057"/>
          </a:xfrm>
          <a:custGeom>
            <a:avLst/>
            <a:gdLst/>
            <a:ahLst/>
            <a:cxnLst/>
            <a:rect l="l" t="t" r="r" b="b"/>
            <a:pathLst>
              <a:path w="1911628" h="2444355">
                <a:moveTo>
                  <a:pt x="1797134" y="2370766"/>
                </a:moveTo>
                <a:lnTo>
                  <a:pt x="1489282" y="2444355"/>
                </a:lnTo>
                <a:lnTo>
                  <a:pt x="1379591" y="2075377"/>
                </a:lnTo>
                <a:cubicBezTo>
                  <a:pt x="1407847" y="1972569"/>
                  <a:pt x="1422337" y="1864277"/>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ubicBezTo>
                  <a:pt x="1126962" y="0"/>
                  <a:pt x="1911628" y="784666"/>
                  <a:pt x="1911628" y="1752600"/>
                </a:cubicBezTo>
                <a:cubicBezTo>
                  <a:pt x="1911628" y="1970493"/>
                  <a:pt x="1871865" y="2179100"/>
                  <a:pt x="1797134" y="2370766"/>
                </a:cubicBezTo>
                <a:close/>
              </a:path>
            </a:pathLst>
          </a:custGeom>
          <a:solidFill>
            <a:srgbClr val="95CB6E"/>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7" name="文本4">
            <a:extLst>
              <a:ext uri="{FF2B5EF4-FFF2-40B4-BE49-F238E27FC236}">
                <a16:creationId xmlns:a16="http://schemas.microsoft.com/office/drawing/2014/main" id="{CCB6C943-DEEC-49E0-95B1-F8863118261A}"/>
              </a:ext>
            </a:extLst>
          </p:cNvPr>
          <p:cNvSpPr/>
          <p:nvPr userDrawn="1"/>
        </p:nvSpPr>
        <p:spPr>
          <a:xfrm>
            <a:off x="542478" y="213828"/>
            <a:ext cx="102059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4123060"/>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300" b="1" kern="0" spc="50" dirty="0">
                <a:solidFill>
                  <a:srgbClr val="FFFFFF"/>
                </a:solidFill>
                <a:latin typeface="+mj-lt"/>
                <a:ea typeface="微软雅黑" pitchFamily="34" charset="-122"/>
              </a:rPr>
              <a:t>AI</a:t>
            </a:r>
            <a:endParaRPr lang="zh-CN" altLang="en-US" sz="1300" b="1" kern="0" spc="50" dirty="0">
              <a:solidFill>
                <a:srgbClr val="FFFFFF"/>
              </a:solidFill>
              <a:latin typeface="+mj-lt"/>
              <a:ea typeface="微软雅黑" pitchFamily="34" charset="-122"/>
            </a:endParaRPr>
          </a:p>
        </p:txBody>
      </p:sp>
      <p:sp>
        <p:nvSpPr>
          <p:cNvPr id="118" name="文字方塊 117">
            <a:extLst>
              <a:ext uri="{FF2B5EF4-FFF2-40B4-BE49-F238E27FC236}">
                <a16:creationId xmlns:a16="http://schemas.microsoft.com/office/drawing/2014/main" id="{4B1F5FAD-0D72-4D58-9A05-3672AFB54416}"/>
              </a:ext>
            </a:extLst>
          </p:cNvPr>
          <p:cNvSpPr txBox="1"/>
          <p:nvPr userDrawn="1"/>
        </p:nvSpPr>
        <p:spPr>
          <a:xfrm>
            <a:off x="522934" y="760201"/>
            <a:ext cx="1069524" cy="646331"/>
          </a:xfrm>
          <a:prstGeom prst="rect">
            <a:avLst/>
          </a:prstGeom>
          <a:noFill/>
        </p:spPr>
        <p:txBody>
          <a:bodyPr wrap="none" rtlCol="0">
            <a:spAutoFit/>
          </a:bodyPr>
          <a:lstStyle/>
          <a:p>
            <a:pPr lvl="0" algn="ctr">
              <a:defRPr/>
            </a:pPr>
            <a:r>
              <a:rPr lang="en-US" altLang="zh-TW" sz="1800" b="1" dirty="0">
                <a:solidFill>
                  <a:srgbClr val="F68B1E"/>
                </a:solidFill>
              </a:rPr>
              <a:t>ESG</a:t>
            </a:r>
            <a:r>
              <a:rPr lang="zh-TW" altLang="en-US" sz="1800" b="1" dirty="0">
                <a:solidFill>
                  <a:srgbClr val="F68B1E"/>
                </a:solidFill>
              </a:rPr>
              <a:t>×</a:t>
            </a:r>
            <a:r>
              <a:rPr lang="en-US" altLang="zh-TW" sz="1800" b="1" dirty="0">
                <a:solidFill>
                  <a:srgbClr val="F68B1E"/>
                </a:solidFill>
              </a:rPr>
              <a:t>AI</a:t>
            </a:r>
          </a:p>
          <a:p>
            <a:pPr algn="ctr">
              <a:defRPr/>
            </a:pPr>
            <a:r>
              <a:rPr lang="en-US" altLang="zh-TW" sz="1800" b="1" dirty="0">
                <a:solidFill>
                  <a:srgbClr val="F68B1E"/>
                </a:solidFill>
              </a:rPr>
              <a:t>Moment</a:t>
            </a:r>
            <a:endParaRPr lang="zh-TW" altLang="en-US" sz="1800" b="1" dirty="0">
              <a:solidFill>
                <a:srgbClr val="F68B1E"/>
              </a:solidFill>
            </a:endParaRPr>
          </a:p>
        </p:txBody>
      </p:sp>
      <p:sp>
        <p:nvSpPr>
          <p:cNvPr id="121" name="文本3">
            <a:extLst>
              <a:ext uri="{FF2B5EF4-FFF2-40B4-BE49-F238E27FC236}">
                <a16:creationId xmlns:a16="http://schemas.microsoft.com/office/drawing/2014/main" id="{9E9EDB26-682A-4589-A18A-5FE3BDFD1085}"/>
              </a:ext>
            </a:extLst>
          </p:cNvPr>
          <p:cNvSpPr/>
          <p:nvPr userDrawn="1"/>
        </p:nvSpPr>
        <p:spPr>
          <a:xfrm rot="18153499">
            <a:off x="376375" y="454927"/>
            <a:ext cx="1213438" cy="1075135"/>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2808063"/>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latin typeface="Arial" panose="020B0604020202020204" pitchFamily="34" charset="0"/>
                <a:ea typeface="+mj-ea"/>
                <a:cs typeface="Arial" panose="020B0604020202020204" pitchFamily="34" charset="0"/>
              </a:rPr>
              <a:t>Green Engineering</a:t>
            </a:r>
          </a:p>
        </p:txBody>
      </p:sp>
      <p:sp>
        <p:nvSpPr>
          <p:cNvPr id="122" name="文本1">
            <a:extLst>
              <a:ext uri="{FF2B5EF4-FFF2-40B4-BE49-F238E27FC236}">
                <a16:creationId xmlns:a16="http://schemas.microsoft.com/office/drawing/2014/main" id="{45CE7E33-C3AD-4068-B492-DD13ACAA5178}"/>
              </a:ext>
            </a:extLst>
          </p:cNvPr>
          <p:cNvSpPr/>
          <p:nvPr userDrawn="1"/>
        </p:nvSpPr>
        <p:spPr>
          <a:xfrm rot="3741566">
            <a:off x="339897" y="388826"/>
            <a:ext cx="1335747" cy="1420818"/>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3174737"/>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ea typeface="+mj-ea"/>
              </a:rPr>
              <a:t>Smart applications</a:t>
            </a:r>
          </a:p>
        </p:txBody>
      </p:sp>
      <p:sp>
        <p:nvSpPr>
          <p:cNvPr id="123" name="文本2">
            <a:extLst>
              <a:ext uri="{FF2B5EF4-FFF2-40B4-BE49-F238E27FC236}">
                <a16:creationId xmlns:a16="http://schemas.microsoft.com/office/drawing/2014/main" id="{10B86328-7A99-43DE-8848-E201756BCC99}"/>
              </a:ext>
            </a:extLst>
          </p:cNvPr>
          <p:cNvSpPr/>
          <p:nvPr userDrawn="1"/>
        </p:nvSpPr>
        <p:spPr>
          <a:xfrm rot="11005674">
            <a:off x="418523" y="542041"/>
            <a:ext cx="1273771" cy="1163949"/>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2981818"/>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ea typeface="+mj-ea"/>
              </a:rPr>
              <a:t>Circular Economy</a:t>
            </a:r>
          </a:p>
        </p:txBody>
      </p:sp>
    </p:spTree>
    <p:extLst>
      <p:ext uri="{BB962C8B-B14F-4D97-AF65-F5344CB8AC3E}">
        <p14:creationId xmlns:p14="http://schemas.microsoft.com/office/powerpoint/2010/main" val="1582741451"/>
      </p:ext>
    </p:extLst>
  </p:cSld>
  <p:clrMap bg1="lt1" tx1="dk1" bg2="lt2" tx2="dk2" accent1="accent1" accent2="accent2" accent3="accent3" accent4="accent4" accent5="accent5" accent6="accent6" hlink="hlink" folHlink="folHlink"/>
  <p:sldLayoutIdLst>
    <p:sldLayoutId id="2147483670" r:id="rId1"/>
    <p:sldLayoutId id="2147483671" r:id="rId2"/>
  </p:sldLayoutIdLst>
  <p:hf hdr="0" ftr="0" dt="0"/>
  <p:txStyles>
    <p:titleStyle>
      <a:lvl1pPr algn="l" defTabSz="457200" rtl="0" eaLnBrk="1" latinLnBrk="0" hangingPunct="1">
        <a:spcBef>
          <a:spcPct val="0"/>
        </a:spcBef>
        <a:buNone/>
        <a:defRPr sz="2600" b="1" i="0" kern="1600" spc="0">
          <a:solidFill>
            <a:srgbClr val="FF9B14"/>
          </a:solidFill>
          <a:latin typeface="+mj-ea"/>
          <a:ea typeface="+mj-ea"/>
          <a:cs typeface="+mj-cs"/>
        </a:defRPr>
      </a:lvl1pPr>
    </p:titleStyle>
    <p:bodyStyle>
      <a:lvl1pPr marL="180000" indent="-180000" algn="l" defTabSz="457200" rtl="0" eaLnBrk="1" latinLnBrk="0" hangingPunct="1">
        <a:lnSpc>
          <a:spcPct val="120000"/>
        </a:lnSpc>
        <a:spcBef>
          <a:spcPts val="0"/>
        </a:spcBef>
        <a:spcAft>
          <a:spcPts val="1200"/>
        </a:spcAft>
        <a:buClr>
          <a:srgbClr val="FF9B14"/>
        </a:buClr>
        <a:buSzPct val="100000"/>
        <a:buFont typeface="Arial"/>
        <a:buChar char="•"/>
        <a:defRPr sz="1600" kern="1200">
          <a:solidFill>
            <a:srgbClr val="282828"/>
          </a:solidFill>
          <a:latin typeface="+mn-ea"/>
          <a:ea typeface="+mn-ea"/>
          <a:cs typeface="+mn-cs"/>
        </a:defRPr>
      </a:lvl1pPr>
      <a:lvl2pPr marL="540000" indent="-216000" algn="l" defTabSz="457200" rtl="0" eaLnBrk="1" latinLnBrk="0" hangingPunct="1">
        <a:lnSpc>
          <a:spcPct val="120000"/>
        </a:lnSpc>
        <a:spcBef>
          <a:spcPts val="0"/>
        </a:spcBef>
        <a:spcAft>
          <a:spcPts val="1200"/>
        </a:spcAft>
        <a:buClr>
          <a:srgbClr val="FF9B14"/>
        </a:buClr>
        <a:buFont typeface="Arial"/>
        <a:buChar char="•"/>
        <a:defRPr sz="1600" kern="1200">
          <a:solidFill>
            <a:srgbClr val="282828"/>
          </a:solidFill>
          <a:latin typeface="+mn-ea"/>
          <a:ea typeface="+mn-ea"/>
          <a:cs typeface="+mn-cs"/>
        </a:defRPr>
      </a:lvl2pPr>
      <a:lvl3pPr marL="900000" indent="-180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3pPr>
      <a:lvl4pPr marL="1260000" indent="-216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4pPr>
      <a:lvl5pPr marL="1620000" indent="-180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7">
          <p15:clr>
            <a:srgbClr val="F26B43"/>
          </p15:clr>
        </p15:guide>
        <p15:guide id="2" pos="1391">
          <p15:clr>
            <a:srgbClr val="F26B43"/>
          </p15:clr>
        </p15:guide>
        <p15:guide id="3" orient="horz" pos="70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udemy.com/course/dify-ollama-ai/?couponCode=ST18MT170625B"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udemy.com/course/dify-ollama-ai/?couponCode=ST18MT170625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3">
            <a:extLst>
              <a:ext uri="{FF2B5EF4-FFF2-40B4-BE49-F238E27FC236}">
                <a16:creationId xmlns:a16="http://schemas.microsoft.com/office/drawing/2014/main" id="{54F63527-EE74-12E4-2709-A9A5D093EF55}"/>
              </a:ext>
            </a:extLst>
          </p:cNvPr>
          <p:cNvSpPr txBox="1">
            <a:spLocks/>
          </p:cNvSpPr>
          <p:nvPr/>
        </p:nvSpPr>
        <p:spPr>
          <a:xfrm>
            <a:off x="2091000" y="774000"/>
            <a:ext cx="9903857" cy="685799"/>
          </a:xfrm>
          <a:prstGeom prst="rect">
            <a:avLst/>
          </a:prstGeom>
        </p:spPr>
        <p:txBody>
          <a:bodyPr/>
          <a:lstStyle>
            <a:lvl1pPr algn="l" defTabSz="457200" rtl="0" eaLnBrk="1" latinLnBrk="0" hangingPunct="1">
              <a:spcBef>
                <a:spcPct val="0"/>
              </a:spcBef>
              <a:buNone/>
              <a:defRPr sz="2600" b="1" i="0" kern="1600" spc="0">
                <a:solidFill>
                  <a:srgbClr val="FF9B14"/>
                </a:solidFill>
                <a:latin typeface="+mj-ea"/>
                <a:ea typeface="+mj-ea"/>
                <a:cs typeface="+mj-cs"/>
              </a:defRPr>
            </a:lvl1pPr>
          </a:lstStyle>
          <a:p>
            <a:r>
              <a:rPr lang="en-US" altLang="zh-TW" dirty="0"/>
              <a:t>AI Agent</a:t>
            </a:r>
            <a:r>
              <a:rPr lang="zh-TW" altLang="zh-TW" dirty="0"/>
              <a:t>介紹</a:t>
            </a:r>
            <a:endParaRPr lang="zh-TW" altLang="en-US" dirty="0"/>
          </a:p>
        </p:txBody>
      </p:sp>
      <p:sp>
        <p:nvSpPr>
          <p:cNvPr id="4" name="文字方塊 3">
            <a:extLst>
              <a:ext uri="{FF2B5EF4-FFF2-40B4-BE49-F238E27FC236}">
                <a16:creationId xmlns:a16="http://schemas.microsoft.com/office/drawing/2014/main" id="{4D22ECE2-3AFA-FA60-19CE-E1B2E8319D27}"/>
              </a:ext>
            </a:extLst>
          </p:cNvPr>
          <p:cNvSpPr txBox="1"/>
          <p:nvPr/>
        </p:nvSpPr>
        <p:spPr>
          <a:xfrm>
            <a:off x="2091000" y="1543762"/>
            <a:ext cx="9122228" cy="584775"/>
          </a:xfrm>
          <a:prstGeom prst="rect">
            <a:avLst/>
          </a:prstGeom>
          <a:noFill/>
        </p:spPr>
        <p:txBody>
          <a:bodyPr wrap="square">
            <a:spAutoFit/>
          </a:bodyPr>
          <a:lstStyle/>
          <a:p>
            <a:r>
              <a:rPr lang="en-US" altLang="zh-TW" sz="1600" b="1" dirty="0"/>
              <a:t>AI Agent</a:t>
            </a:r>
            <a:r>
              <a:rPr lang="zh-TW" altLang="en-US" sz="1600" dirty="0"/>
              <a:t>是一種能夠自主感知、決策和執行任務，且不需要人為介入的 </a:t>
            </a:r>
            <a:r>
              <a:rPr lang="en-US" altLang="zh-TW" sz="1600" dirty="0"/>
              <a:t>AI </a:t>
            </a:r>
            <a:r>
              <a:rPr lang="zh-TW" altLang="en-US" sz="1600" dirty="0"/>
              <a:t>應用概念智慧。例如在智慧客服代理</a:t>
            </a:r>
          </a:p>
        </p:txBody>
      </p:sp>
      <p:sp>
        <p:nvSpPr>
          <p:cNvPr id="5" name="文字方塊 4">
            <a:extLst>
              <a:ext uri="{FF2B5EF4-FFF2-40B4-BE49-F238E27FC236}">
                <a16:creationId xmlns:a16="http://schemas.microsoft.com/office/drawing/2014/main" id="{D3CB5163-FE20-D7F2-D41A-04F5291A057B}"/>
              </a:ext>
            </a:extLst>
          </p:cNvPr>
          <p:cNvSpPr txBox="1"/>
          <p:nvPr/>
        </p:nvSpPr>
        <p:spPr>
          <a:xfrm>
            <a:off x="2044727" y="2195148"/>
            <a:ext cx="9122228" cy="2262992"/>
          </a:xfrm>
          <a:prstGeom prst="rect">
            <a:avLst/>
          </a:prstGeom>
          <a:noFill/>
        </p:spPr>
        <p:txBody>
          <a:bodyPr wrap="square">
            <a:spAutoFit/>
          </a:bodyPr>
          <a:lstStyle/>
          <a:p>
            <a:pPr>
              <a:lnSpc>
                <a:spcPct val="150000"/>
              </a:lnSpc>
            </a:pPr>
            <a:r>
              <a:rPr lang="en-US" altLang="zh-TW" sz="1600" b="1" dirty="0" err="1"/>
              <a:t>OpenAI</a:t>
            </a:r>
            <a:r>
              <a:rPr lang="en-US" altLang="zh-TW" sz="1600" b="1" dirty="0"/>
              <a:t> </a:t>
            </a:r>
            <a:r>
              <a:rPr lang="zh-TW" altLang="en-US" sz="1600" b="1" dirty="0"/>
              <a:t>把 </a:t>
            </a:r>
            <a:r>
              <a:rPr lang="en-US" altLang="zh-TW" sz="1600" b="1" dirty="0"/>
              <a:t>AI </a:t>
            </a:r>
            <a:r>
              <a:rPr lang="zh-TW" altLang="en-US" sz="1600" b="1" dirty="0"/>
              <a:t>的發展階段分為 </a:t>
            </a:r>
            <a:r>
              <a:rPr lang="en-US" altLang="zh-TW" sz="1600" b="1" dirty="0"/>
              <a:t>5 </a:t>
            </a:r>
            <a:r>
              <a:rPr lang="zh-TW" altLang="en-US" sz="1600" b="1" dirty="0"/>
              <a:t>級</a:t>
            </a:r>
            <a:endParaRPr lang="zh-TW" altLang="en-US" sz="1600" dirty="0"/>
          </a:p>
          <a:p>
            <a:pPr marL="800100" lvl="1" indent="-342900">
              <a:lnSpc>
                <a:spcPct val="150000"/>
              </a:lnSpc>
              <a:buFont typeface="+mj-lt"/>
              <a:buAutoNum type="arabicPeriod"/>
            </a:pPr>
            <a:r>
              <a:rPr lang="zh-TW" altLang="en-US" sz="1600" b="1" dirty="0"/>
              <a:t>聊天機器人（</a:t>
            </a:r>
            <a:r>
              <a:rPr lang="en-US" altLang="zh-TW" sz="1600" b="1" dirty="0"/>
              <a:t>chatbots</a:t>
            </a:r>
            <a:r>
              <a:rPr lang="zh-TW" altLang="en-US" sz="1600" b="1" dirty="0"/>
              <a:t>）：</a:t>
            </a:r>
            <a:r>
              <a:rPr lang="en-US" altLang="zh-TW" sz="1600" dirty="0"/>
              <a:t> </a:t>
            </a:r>
            <a:r>
              <a:rPr lang="zh-TW" altLang="en-US" sz="1600" dirty="0"/>
              <a:t>具有對話功能的 </a:t>
            </a:r>
            <a:r>
              <a:rPr lang="en-US" altLang="zh-TW" sz="1600" dirty="0"/>
              <a:t>AI</a:t>
            </a:r>
            <a:r>
              <a:rPr lang="zh-TW" altLang="en-US" sz="1600" dirty="0"/>
              <a:t>（</a:t>
            </a:r>
            <a:r>
              <a:rPr lang="en-US" altLang="zh-TW" sz="1600" dirty="0"/>
              <a:t>ChatGPT 4o</a:t>
            </a:r>
            <a:r>
              <a:rPr lang="zh-TW" altLang="en-US" sz="1100" dirty="0"/>
              <a:t>、</a:t>
            </a:r>
            <a:r>
              <a:rPr lang="en-US" altLang="zh-TW" sz="1600" dirty="0"/>
              <a:t>Siri</a:t>
            </a:r>
            <a:r>
              <a:rPr lang="zh-TW" altLang="en-US" sz="1600" dirty="0"/>
              <a:t>、</a:t>
            </a:r>
            <a:r>
              <a:rPr lang="en-US" altLang="zh-TW" sz="1600" dirty="0"/>
              <a:t>Google Assistant</a:t>
            </a:r>
            <a:r>
              <a:rPr lang="zh-TW" altLang="en-US" sz="1600" dirty="0"/>
              <a:t>）</a:t>
            </a:r>
            <a:endParaRPr lang="en-US" altLang="zh-TW" sz="1600" dirty="0"/>
          </a:p>
          <a:p>
            <a:pPr marL="800100" lvl="1" indent="-342900">
              <a:lnSpc>
                <a:spcPct val="150000"/>
              </a:lnSpc>
              <a:buFont typeface="+mj-lt"/>
              <a:buAutoNum type="arabicPeriod"/>
            </a:pPr>
            <a:r>
              <a:rPr lang="zh-TW" altLang="en-US" sz="1600" b="1" dirty="0"/>
              <a:t>推理者（</a:t>
            </a:r>
            <a:r>
              <a:rPr lang="en-US" altLang="zh-TW" sz="1600" b="1" dirty="0"/>
              <a:t>Reasoners</a:t>
            </a:r>
            <a:r>
              <a:rPr lang="zh-TW" altLang="en-US" sz="1600" b="1" dirty="0"/>
              <a:t>）：</a:t>
            </a:r>
            <a:r>
              <a:rPr lang="en-US" altLang="zh-TW" sz="1600" dirty="0"/>
              <a:t> </a:t>
            </a:r>
            <a:r>
              <a:rPr lang="zh-TW" altLang="en-US" sz="1600" dirty="0"/>
              <a:t>能像人類一樣分析複雜的問題（</a:t>
            </a:r>
            <a:r>
              <a:rPr lang="en-US" altLang="zh-TW" sz="1600" dirty="0"/>
              <a:t>ChatGPT o1/o3</a:t>
            </a:r>
            <a:r>
              <a:rPr lang="zh-TW" altLang="en-US" sz="1600" dirty="0"/>
              <a:t>）</a:t>
            </a:r>
            <a:endParaRPr lang="en-US" altLang="zh-TW" sz="1600" dirty="0"/>
          </a:p>
          <a:p>
            <a:pPr marL="800100" lvl="1" indent="-342900">
              <a:lnSpc>
                <a:spcPct val="150000"/>
              </a:lnSpc>
              <a:buFont typeface="+mj-lt"/>
              <a:buAutoNum type="arabicPeriod"/>
            </a:pPr>
            <a:r>
              <a:rPr lang="zh-TW" altLang="en-US" sz="1600" b="1" dirty="0"/>
              <a:t>代理（</a:t>
            </a:r>
            <a:r>
              <a:rPr lang="en-US" altLang="zh-TW" sz="1600" b="1" dirty="0"/>
              <a:t>Agents</a:t>
            </a:r>
            <a:r>
              <a:rPr lang="zh-TW" altLang="en-US" sz="1600" b="1" dirty="0"/>
              <a:t>）：</a:t>
            </a:r>
            <a:r>
              <a:rPr lang="en-US" altLang="zh-TW" sz="1600" dirty="0"/>
              <a:t> </a:t>
            </a:r>
            <a:r>
              <a:rPr lang="zh-TW" altLang="en-US" sz="1600" dirty="0"/>
              <a:t>可以正確地使用工具完成任務</a:t>
            </a:r>
            <a:endParaRPr lang="en-US" altLang="zh-TW" sz="1600" dirty="0"/>
          </a:p>
          <a:p>
            <a:pPr marL="800100" lvl="1" indent="-342900">
              <a:lnSpc>
                <a:spcPct val="150000"/>
              </a:lnSpc>
              <a:buFont typeface="+mj-lt"/>
              <a:buAutoNum type="arabicPeriod"/>
            </a:pPr>
            <a:r>
              <a:rPr lang="zh-TW" altLang="en-US" sz="1600" b="1" dirty="0"/>
              <a:t>創新者（</a:t>
            </a:r>
            <a:r>
              <a:rPr lang="en-US" altLang="zh-TW" sz="1600" b="1" dirty="0"/>
              <a:t>Innovators</a:t>
            </a:r>
            <a:r>
              <a:rPr lang="zh-TW" altLang="en-US" sz="1600" b="1" dirty="0"/>
              <a:t>）：</a:t>
            </a:r>
            <a:r>
              <a:rPr lang="en-US" altLang="zh-TW" sz="1600" dirty="0"/>
              <a:t> </a:t>
            </a:r>
            <a:r>
              <a:rPr lang="zh-TW" altLang="en-US" sz="1600" dirty="0"/>
              <a:t>能幫助人類發明新東西、設計產品、提出創意</a:t>
            </a:r>
            <a:endParaRPr lang="en-US" altLang="zh-TW" sz="1600" dirty="0"/>
          </a:p>
          <a:p>
            <a:pPr marL="800100" lvl="1" indent="-342900">
              <a:lnSpc>
                <a:spcPct val="150000"/>
              </a:lnSpc>
              <a:buFont typeface="+mj-lt"/>
              <a:buAutoNum type="arabicPeriod"/>
            </a:pPr>
            <a:r>
              <a:rPr lang="zh-TW" altLang="en-US" sz="1600" b="1" dirty="0"/>
              <a:t>組織（</a:t>
            </a:r>
            <a:r>
              <a:rPr lang="en-US" altLang="zh-TW" sz="1600" b="1" dirty="0"/>
              <a:t>Organizations</a:t>
            </a:r>
            <a:r>
              <a:rPr lang="zh-TW" altLang="en-US" sz="1600" b="1" dirty="0"/>
              <a:t>）：</a:t>
            </a:r>
            <a:r>
              <a:rPr lang="en-US" altLang="zh-TW" sz="1600" dirty="0"/>
              <a:t> AI </a:t>
            </a:r>
            <a:r>
              <a:rPr lang="zh-TW" altLang="en-US" sz="1600" dirty="0"/>
              <a:t>可以執行人類組織的工作</a:t>
            </a:r>
          </a:p>
        </p:txBody>
      </p:sp>
      <p:sp>
        <p:nvSpPr>
          <p:cNvPr id="6" name="文字方塊 5">
            <a:extLst>
              <a:ext uri="{FF2B5EF4-FFF2-40B4-BE49-F238E27FC236}">
                <a16:creationId xmlns:a16="http://schemas.microsoft.com/office/drawing/2014/main" id="{CD3EF5FA-8CA6-81ED-5C94-1F1B30702426}"/>
              </a:ext>
            </a:extLst>
          </p:cNvPr>
          <p:cNvSpPr txBox="1"/>
          <p:nvPr/>
        </p:nvSpPr>
        <p:spPr>
          <a:xfrm>
            <a:off x="1416000" y="6321232"/>
            <a:ext cx="6096000" cy="400110"/>
          </a:xfrm>
          <a:prstGeom prst="rect">
            <a:avLst/>
          </a:prstGeom>
          <a:noFill/>
        </p:spPr>
        <p:txBody>
          <a:bodyPr wrap="square">
            <a:spAutoFit/>
          </a:bodyPr>
          <a:lstStyle/>
          <a:p>
            <a:pPr algn="l"/>
            <a:r>
              <a:rPr lang="en-US" altLang="zh-TW" sz="1000" b="1" i="0" dirty="0">
                <a:effectLst/>
                <a:latin typeface="Udemy Sans"/>
              </a:rPr>
              <a:t>AI Agent</a:t>
            </a:r>
            <a:r>
              <a:rPr lang="zh-TW" altLang="en-US" sz="1000" b="1" i="0" dirty="0">
                <a:effectLst/>
                <a:latin typeface="Udemy Sans"/>
              </a:rPr>
              <a:t>最強組合！企業</a:t>
            </a:r>
            <a:r>
              <a:rPr lang="en-US" altLang="zh-TW" sz="1000" b="1" i="0" dirty="0">
                <a:effectLst/>
                <a:latin typeface="Udemy Sans"/>
              </a:rPr>
              <a:t>AI</a:t>
            </a:r>
            <a:r>
              <a:rPr lang="zh-TW" altLang="en-US" sz="1000" b="1" i="0" dirty="0">
                <a:effectLst/>
                <a:latin typeface="Udemy Sans"/>
              </a:rPr>
              <a:t>落地應用聖經：集成</a:t>
            </a:r>
            <a:r>
              <a:rPr lang="en-US" altLang="zh-TW" sz="1000" b="1" i="0" dirty="0" err="1">
                <a:effectLst/>
                <a:latin typeface="Udemy Sans"/>
              </a:rPr>
              <a:t>DifyAI</a:t>
            </a:r>
            <a:r>
              <a:rPr lang="zh-TW" altLang="en-US" sz="1000" b="1" i="0" dirty="0">
                <a:effectLst/>
                <a:latin typeface="Udemy Sans"/>
              </a:rPr>
              <a:t>、</a:t>
            </a:r>
            <a:r>
              <a:rPr lang="en-US" altLang="zh-TW" sz="1000" b="1" i="0" dirty="0">
                <a:effectLst/>
                <a:latin typeface="Udemy Sans"/>
              </a:rPr>
              <a:t>n8n</a:t>
            </a:r>
            <a:r>
              <a:rPr lang="zh-TW" altLang="en-US" sz="1000" b="1" i="0" dirty="0">
                <a:effectLst/>
                <a:latin typeface="Udemy Sans"/>
              </a:rPr>
              <a:t>、</a:t>
            </a:r>
            <a:r>
              <a:rPr lang="en-US" altLang="zh-TW" sz="1000" b="1" i="0" dirty="0">
                <a:effectLst/>
                <a:latin typeface="Udemy Sans"/>
              </a:rPr>
              <a:t>MCP</a:t>
            </a:r>
            <a:r>
              <a:rPr lang="zh-TW" altLang="en-US" sz="1000" b="1" i="0" dirty="0">
                <a:effectLst/>
                <a:latin typeface="Udemy Sans"/>
              </a:rPr>
              <a:t>、</a:t>
            </a:r>
            <a:r>
              <a:rPr lang="en-US" altLang="zh-TW" sz="1000" b="1" i="0" dirty="0" err="1">
                <a:effectLst/>
                <a:latin typeface="Udemy Sans"/>
              </a:rPr>
              <a:t>VannaAI</a:t>
            </a:r>
            <a:r>
              <a:rPr lang="zh-TW" altLang="en-US" sz="1000" b="1" i="0" dirty="0">
                <a:effectLst/>
                <a:latin typeface="Udemy Sans"/>
              </a:rPr>
              <a:t>自然語言打造智慧</a:t>
            </a:r>
            <a:r>
              <a:rPr lang="en-US" altLang="zh-TW" sz="1000" b="1" i="0" dirty="0">
                <a:effectLst/>
                <a:latin typeface="Udemy Sans"/>
              </a:rPr>
              <a:t>AI</a:t>
            </a:r>
            <a:r>
              <a:rPr lang="zh-TW" altLang="en-US" sz="1000" b="1" i="0" dirty="0">
                <a:effectLst/>
                <a:latin typeface="Udemy Sans"/>
              </a:rPr>
              <a:t>助理</a:t>
            </a:r>
            <a:r>
              <a:rPr lang="en-US" altLang="zh-TW" sz="1000" b="1" i="0" dirty="0">
                <a:effectLst/>
                <a:latin typeface="Udemy Sans"/>
                <a:hlinkClick r:id="rId3"/>
              </a:rPr>
              <a:t>(https://www.udemy.com/course/dify-ollama-ai/?couponCode=ST18MT170625B)</a:t>
            </a:r>
            <a:endParaRPr lang="zh-TW" altLang="en-US" sz="1000" b="1" i="0" dirty="0">
              <a:effectLst/>
              <a:latin typeface="Udemy Sans"/>
            </a:endParaRPr>
          </a:p>
        </p:txBody>
      </p:sp>
      <p:sp>
        <p:nvSpPr>
          <p:cNvPr id="2" name="Donut 13">
            <a:extLst>
              <a:ext uri="{FF2B5EF4-FFF2-40B4-BE49-F238E27FC236}">
                <a16:creationId xmlns:a16="http://schemas.microsoft.com/office/drawing/2014/main" id="{B984062B-8AED-9BC4-2414-30C94F3206AB}"/>
              </a:ext>
            </a:extLst>
          </p:cNvPr>
          <p:cNvSpPr/>
          <p:nvPr/>
        </p:nvSpPr>
        <p:spPr>
          <a:xfrm rot="7488651">
            <a:off x="648655"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7" name="橢圓 6">
            <a:extLst>
              <a:ext uri="{FF2B5EF4-FFF2-40B4-BE49-F238E27FC236}">
                <a16:creationId xmlns:a16="http://schemas.microsoft.com/office/drawing/2014/main" id="{EF57E8F6-BAE5-CBF2-DDAC-A56A2B023508}"/>
              </a:ext>
            </a:extLst>
          </p:cNvPr>
          <p:cNvSpPr/>
          <p:nvPr/>
        </p:nvSpPr>
        <p:spPr>
          <a:xfrm>
            <a:off x="278230" y="256526"/>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a:extLst>
              <a:ext uri="{FF2B5EF4-FFF2-40B4-BE49-F238E27FC236}">
                <a16:creationId xmlns:a16="http://schemas.microsoft.com/office/drawing/2014/main" id="{2E818116-1E09-E5CE-B7B1-3855AB69B8D5}"/>
              </a:ext>
            </a:extLst>
          </p:cNvPr>
          <p:cNvSpPr/>
          <p:nvPr/>
        </p:nvSpPr>
        <p:spPr>
          <a:xfrm>
            <a:off x="104141" y="106293"/>
            <a:ext cx="1908000" cy="1908000"/>
          </a:xfrm>
          <a:prstGeom prst="ellipse">
            <a:avLst/>
          </a:prstGeom>
          <a:solidFill>
            <a:srgbClr val="FDB912"/>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橢圓 8">
            <a:extLst>
              <a:ext uri="{FF2B5EF4-FFF2-40B4-BE49-F238E27FC236}">
                <a16:creationId xmlns:a16="http://schemas.microsoft.com/office/drawing/2014/main" id="{F916DB0C-C5BC-8148-B091-89D763A8FBFB}"/>
              </a:ext>
            </a:extLst>
          </p:cNvPr>
          <p:cNvSpPr/>
          <p:nvPr/>
        </p:nvSpPr>
        <p:spPr>
          <a:xfrm>
            <a:off x="262327" y="264477"/>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 name="Donut 13">
            <a:extLst>
              <a:ext uri="{FF2B5EF4-FFF2-40B4-BE49-F238E27FC236}">
                <a16:creationId xmlns:a16="http://schemas.microsoft.com/office/drawing/2014/main" id="{F0A695E6-54FF-D8FC-6CBC-076B9AE2EB6E}"/>
              </a:ext>
            </a:extLst>
          </p:cNvPr>
          <p:cNvSpPr/>
          <p:nvPr/>
        </p:nvSpPr>
        <p:spPr>
          <a:xfrm rot="267487">
            <a:off x="1014670" y="337716"/>
            <a:ext cx="818077" cy="1047779"/>
          </a:xfrm>
          <a:custGeom>
            <a:avLst/>
            <a:gdLst/>
            <a:ahLst/>
            <a:cxnLst/>
            <a:rect l="l" t="t" r="r" b="b"/>
            <a:pathLst>
              <a:path w="1911628" h="2448370">
                <a:moveTo>
                  <a:pt x="159028" y="0"/>
                </a:moveTo>
                <a:cubicBezTo>
                  <a:pt x="1126962" y="0"/>
                  <a:pt x="1911628" y="784666"/>
                  <a:pt x="1911628" y="1752600"/>
                </a:cubicBezTo>
                <a:cubicBezTo>
                  <a:pt x="1911628" y="1971660"/>
                  <a:pt x="1871438" y="2181334"/>
                  <a:pt x="1796069" y="2373897"/>
                </a:cubicBezTo>
                <a:lnTo>
                  <a:pt x="1484520" y="2448370"/>
                </a:lnTo>
                <a:lnTo>
                  <a:pt x="1376590" y="2085315"/>
                </a:lnTo>
                <a:cubicBezTo>
                  <a:pt x="1406890" y="1979599"/>
                  <a:pt x="1422337" y="1867904"/>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lose/>
              </a:path>
            </a:pathLst>
          </a:custGeom>
          <a:solidFill>
            <a:srgbClr val="15A085"/>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 name="Donut 13">
            <a:extLst>
              <a:ext uri="{FF2B5EF4-FFF2-40B4-BE49-F238E27FC236}">
                <a16:creationId xmlns:a16="http://schemas.microsoft.com/office/drawing/2014/main" id="{153028CD-40A8-11B1-34A1-32A0E560A368}"/>
              </a:ext>
            </a:extLst>
          </p:cNvPr>
          <p:cNvSpPr/>
          <p:nvPr/>
        </p:nvSpPr>
        <p:spPr>
          <a:xfrm rot="7488651">
            <a:off x="648656"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 name="Donut 13">
            <a:extLst>
              <a:ext uri="{FF2B5EF4-FFF2-40B4-BE49-F238E27FC236}">
                <a16:creationId xmlns:a16="http://schemas.microsoft.com/office/drawing/2014/main" id="{37FDB057-0E8D-DC1D-B717-8C31CBF0EA55}"/>
              </a:ext>
            </a:extLst>
          </p:cNvPr>
          <p:cNvSpPr/>
          <p:nvPr/>
        </p:nvSpPr>
        <p:spPr>
          <a:xfrm rot="14667487">
            <a:off x="306207" y="328874"/>
            <a:ext cx="818081" cy="1046057"/>
          </a:xfrm>
          <a:custGeom>
            <a:avLst/>
            <a:gdLst/>
            <a:ahLst/>
            <a:cxnLst/>
            <a:rect l="l" t="t" r="r" b="b"/>
            <a:pathLst>
              <a:path w="1911628" h="2444355">
                <a:moveTo>
                  <a:pt x="1797134" y="2370766"/>
                </a:moveTo>
                <a:lnTo>
                  <a:pt x="1489282" y="2444355"/>
                </a:lnTo>
                <a:lnTo>
                  <a:pt x="1379591" y="2075377"/>
                </a:lnTo>
                <a:cubicBezTo>
                  <a:pt x="1407847" y="1972569"/>
                  <a:pt x="1422337" y="1864277"/>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ubicBezTo>
                  <a:pt x="1126962" y="0"/>
                  <a:pt x="1911628" y="784666"/>
                  <a:pt x="1911628" y="1752600"/>
                </a:cubicBezTo>
                <a:cubicBezTo>
                  <a:pt x="1911628" y="1970493"/>
                  <a:pt x="1871865" y="2179100"/>
                  <a:pt x="1797134" y="2370766"/>
                </a:cubicBezTo>
                <a:close/>
              </a:path>
            </a:pathLst>
          </a:custGeom>
          <a:solidFill>
            <a:srgbClr val="95CB6E"/>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 name="文本1">
            <a:extLst>
              <a:ext uri="{FF2B5EF4-FFF2-40B4-BE49-F238E27FC236}">
                <a16:creationId xmlns:a16="http://schemas.microsoft.com/office/drawing/2014/main" id="{8BBD9616-A5CE-A52C-35C6-844794162D0B}"/>
              </a:ext>
            </a:extLst>
          </p:cNvPr>
          <p:cNvSpPr/>
          <p:nvPr/>
        </p:nvSpPr>
        <p:spPr>
          <a:xfrm rot="3594807">
            <a:off x="712619" y="562534"/>
            <a:ext cx="1101435" cy="786987"/>
          </a:xfrm>
          <a:prstGeom prst="rect">
            <a:avLst/>
          </a:prstGeom>
          <a:noFill/>
          <a:ln w="25400" cap="flat" cmpd="sng" algn="ctr">
            <a:noFill/>
            <a:prstDash val="solid"/>
          </a:ln>
          <a:effectLst/>
        </p:spPr>
        <p:txBody>
          <a:bodyPr spcFirstLastPara="1" lIns="91430" tIns="45716" rIns="91430" bIns="45716" numCol="1" anchor="ctr">
            <a:prstTxWarp prst="textArchUp">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zh-TW" altLang="en-US" sz="1250" b="1" kern="0" spc="50" dirty="0">
                <a:solidFill>
                  <a:srgbClr val="F9F9F9"/>
                </a:solidFill>
                <a:latin typeface="+mj-ea"/>
                <a:ea typeface="+mj-ea"/>
              </a:rPr>
              <a:t>智能應用</a:t>
            </a:r>
            <a:endParaRPr lang="zh-CN" altLang="en-US" sz="1250" b="1" kern="0" spc="50" dirty="0">
              <a:solidFill>
                <a:srgbClr val="F9F9F9"/>
              </a:solidFill>
              <a:latin typeface="+mj-ea"/>
              <a:ea typeface="+mj-ea"/>
            </a:endParaRPr>
          </a:p>
        </p:txBody>
      </p:sp>
      <p:sp>
        <p:nvSpPr>
          <p:cNvPr id="14" name="文本4">
            <a:extLst>
              <a:ext uri="{FF2B5EF4-FFF2-40B4-BE49-F238E27FC236}">
                <a16:creationId xmlns:a16="http://schemas.microsoft.com/office/drawing/2014/main" id="{78D4F5D5-FB34-F55D-6A71-0A542452FEF6}"/>
              </a:ext>
            </a:extLst>
          </p:cNvPr>
          <p:cNvSpPr/>
          <p:nvPr/>
        </p:nvSpPr>
        <p:spPr>
          <a:xfrm>
            <a:off x="542478" y="213828"/>
            <a:ext cx="102059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4123060"/>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300" b="1" kern="0" spc="50" dirty="0">
                <a:solidFill>
                  <a:srgbClr val="FFFFFF"/>
                </a:solidFill>
                <a:latin typeface="+mj-lt"/>
                <a:ea typeface="微软雅黑" pitchFamily="34" charset="-122"/>
              </a:rPr>
              <a:t>AI</a:t>
            </a:r>
            <a:endParaRPr lang="zh-CN" altLang="en-US" sz="1300" b="1" kern="0" spc="50" dirty="0">
              <a:solidFill>
                <a:srgbClr val="FFFFFF"/>
              </a:solidFill>
              <a:latin typeface="+mj-lt"/>
              <a:ea typeface="微软雅黑" pitchFamily="34" charset="-122"/>
            </a:endParaRPr>
          </a:p>
        </p:txBody>
      </p:sp>
      <p:sp>
        <p:nvSpPr>
          <p:cNvPr id="15" name="文字方塊 14">
            <a:extLst>
              <a:ext uri="{FF2B5EF4-FFF2-40B4-BE49-F238E27FC236}">
                <a16:creationId xmlns:a16="http://schemas.microsoft.com/office/drawing/2014/main" id="{7A09AF4E-4844-4B85-27D0-906ACC0D85D6}"/>
              </a:ext>
            </a:extLst>
          </p:cNvPr>
          <p:cNvSpPr txBox="1"/>
          <p:nvPr/>
        </p:nvSpPr>
        <p:spPr>
          <a:xfrm>
            <a:off x="522934" y="760201"/>
            <a:ext cx="1069524" cy="646331"/>
          </a:xfrm>
          <a:prstGeom prst="rect">
            <a:avLst/>
          </a:prstGeom>
          <a:noFill/>
        </p:spPr>
        <p:txBody>
          <a:bodyPr wrap="none" rtlCol="0">
            <a:spAutoFit/>
          </a:bodyPr>
          <a:lstStyle/>
          <a:p>
            <a:pPr lvl="0" algn="ctr">
              <a:defRPr/>
            </a:pPr>
            <a:r>
              <a:rPr lang="en-US" altLang="zh-TW" sz="1800" b="1" dirty="0">
                <a:solidFill>
                  <a:srgbClr val="F68B1E"/>
                </a:solidFill>
              </a:rPr>
              <a:t>ESG</a:t>
            </a:r>
            <a:r>
              <a:rPr lang="zh-TW" altLang="en-US" sz="1800" b="1" dirty="0">
                <a:solidFill>
                  <a:srgbClr val="F68B1E"/>
                </a:solidFill>
              </a:rPr>
              <a:t>×</a:t>
            </a:r>
            <a:r>
              <a:rPr lang="en-US" altLang="zh-TW" sz="1800" b="1" dirty="0">
                <a:solidFill>
                  <a:srgbClr val="F68B1E"/>
                </a:solidFill>
              </a:rPr>
              <a:t>AI</a:t>
            </a:r>
          </a:p>
          <a:p>
            <a:pPr algn="ctr">
              <a:defRPr/>
            </a:pPr>
            <a:r>
              <a:rPr lang="en-US" altLang="zh-TW" sz="1800" b="1" dirty="0">
                <a:solidFill>
                  <a:srgbClr val="F68B1E"/>
                </a:solidFill>
              </a:rPr>
              <a:t>Moment</a:t>
            </a:r>
            <a:endParaRPr lang="zh-TW" altLang="en-US" sz="1800" b="1" dirty="0">
              <a:solidFill>
                <a:srgbClr val="F68B1E"/>
              </a:solidFill>
            </a:endParaRPr>
          </a:p>
        </p:txBody>
      </p:sp>
      <p:sp>
        <p:nvSpPr>
          <p:cNvPr id="16" name="文本3">
            <a:extLst>
              <a:ext uri="{FF2B5EF4-FFF2-40B4-BE49-F238E27FC236}">
                <a16:creationId xmlns:a16="http://schemas.microsoft.com/office/drawing/2014/main" id="{9A34FA2C-6203-3303-3428-D62BFA1EDFCE}"/>
              </a:ext>
            </a:extLst>
          </p:cNvPr>
          <p:cNvSpPr/>
          <p:nvPr/>
        </p:nvSpPr>
        <p:spPr>
          <a:xfrm rot="18130980">
            <a:off x="307100" y="560858"/>
            <a:ext cx="111982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3453619"/>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zh-TW" altLang="en-US" sz="1250" b="1" kern="0" spc="50" dirty="0">
                <a:solidFill>
                  <a:srgbClr val="F9F9F9"/>
                </a:solidFill>
                <a:latin typeface="+mj-ea"/>
                <a:ea typeface="+mj-ea"/>
              </a:rPr>
              <a:t>綠色工程</a:t>
            </a:r>
            <a:endParaRPr lang="zh-CN" altLang="en-US" sz="1250" b="1" kern="0" spc="50" dirty="0">
              <a:solidFill>
                <a:srgbClr val="F9F9F9"/>
              </a:solidFill>
              <a:latin typeface="+mj-ea"/>
              <a:ea typeface="+mj-ea"/>
            </a:endParaRPr>
          </a:p>
        </p:txBody>
      </p:sp>
      <p:sp>
        <p:nvSpPr>
          <p:cNvPr id="17" name="文本2">
            <a:extLst>
              <a:ext uri="{FF2B5EF4-FFF2-40B4-BE49-F238E27FC236}">
                <a16:creationId xmlns:a16="http://schemas.microsoft.com/office/drawing/2014/main" id="{74110C53-86C1-B658-B1FC-29F4D23B1EC2}"/>
              </a:ext>
            </a:extLst>
          </p:cNvPr>
          <p:cNvSpPr/>
          <p:nvPr/>
        </p:nvSpPr>
        <p:spPr>
          <a:xfrm rot="21439826">
            <a:off x="531762" y="942840"/>
            <a:ext cx="1055472" cy="786987"/>
          </a:xfrm>
          <a:prstGeom prst="rect">
            <a:avLst/>
          </a:prstGeom>
          <a:noFill/>
          <a:ln w="25400" cap="flat" cmpd="sng" algn="ctr">
            <a:noFill/>
            <a:prstDash val="solid"/>
          </a:ln>
          <a:effectLst/>
        </p:spPr>
        <p:txBody>
          <a:bodyPr spcFirstLastPara="1" lIns="91430" tIns="45716" rIns="91430" bIns="45716" numCol="1" anchor="ctr">
            <a:prstTxWarp prst="textArchDown">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algn="ctr" defTabSz="457200" rtl="0" eaLnBrk="1" latinLnBrk="0" hangingPunct="1">
              <a:defRPr/>
            </a:pPr>
            <a:r>
              <a:rPr lang="zh-TW" altLang="en-US" sz="1250" b="1" kern="0" spc="200" baseline="0" dirty="0">
                <a:solidFill>
                  <a:srgbClr val="F9F9F9"/>
                </a:solidFill>
                <a:latin typeface="+mj-ea"/>
                <a:ea typeface="+mj-ea"/>
                <a:cs typeface="+mn-cs"/>
              </a:rPr>
              <a:t>循環經濟</a:t>
            </a:r>
            <a:endParaRPr lang="zh-CN" altLang="en-US" sz="1250" b="1" kern="0" spc="200" baseline="0" dirty="0">
              <a:solidFill>
                <a:srgbClr val="F9F9F9"/>
              </a:solidFill>
              <a:latin typeface="+mj-ea"/>
              <a:ea typeface="+mj-ea"/>
              <a:cs typeface="+mn-cs"/>
            </a:endParaRPr>
          </a:p>
        </p:txBody>
      </p:sp>
      <p:grpSp>
        <p:nvGrpSpPr>
          <p:cNvPr id="23" name="群組 22">
            <a:extLst>
              <a:ext uri="{FF2B5EF4-FFF2-40B4-BE49-F238E27FC236}">
                <a16:creationId xmlns:a16="http://schemas.microsoft.com/office/drawing/2014/main" id="{318AD9DF-75F3-41CD-AF41-562218977546}"/>
              </a:ext>
            </a:extLst>
          </p:cNvPr>
          <p:cNvGrpSpPr/>
          <p:nvPr/>
        </p:nvGrpSpPr>
        <p:grpSpPr>
          <a:xfrm>
            <a:off x="775936" y="3381089"/>
            <a:ext cx="2008435" cy="369332"/>
            <a:chOff x="417121" y="3357939"/>
            <a:chExt cx="2008435" cy="369332"/>
          </a:xfrm>
        </p:grpSpPr>
        <p:sp>
          <p:nvSpPr>
            <p:cNvPr id="19" name="文字方塊 18">
              <a:extLst>
                <a:ext uri="{FF2B5EF4-FFF2-40B4-BE49-F238E27FC236}">
                  <a16:creationId xmlns:a16="http://schemas.microsoft.com/office/drawing/2014/main" id="{12996886-6D40-479D-BD28-465759A58838}"/>
                </a:ext>
              </a:extLst>
            </p:cNvPr>
            <p:cNvSpPr txBox="1"/>
            <p:nvPr/>
          </p:nvSpPr>
          <p:spPr>
            <a:xfrm>
              <a:off x="417121" y="3357939"/>
              <a:ext cx="2008435" cy="369332"/>
            </a:xfrm>
            <a:prstGeom prst="rect">
              <a:avLst/>
            </a:prstGeom>
            <a:noFill/>
          </p:spPr>
          <p:txBody>
            <a:bodyPr wrap="square">
              <a:spAutoFit/>
            </a:bodyPr>
            <a:lstStyle/>
            <a:p>
              <a:r>
                <a:rPr lang="en-US" altLang="zh-TW" sz="1800" b="1" dirty="0"/>
                <a:t>AI Agent</a:t>
              </a:r>
              <a:endParaRPr lang="zh-TW" altLang="en-US" dirty="0"/>
            </a:p>
          </p:txBody>
        </p:sp>
        <p:sp>
          <p:nvSpPr>
            <p:cNvPr id="20" name="箭號: 向右 19">
              <a:extLst>
                <a:ext uri="{FF2B5EF4-FFF2-40B4-BE49-F238E27FC236}">
                  <a16:creationId xmlns:a16="http://schemas.microsoft.com/office/drawing/2014/main" id="{433EF346-986A-400D-A0D3-A9D223DAB1F3}"/>
                </a:ext>
              </a:extLst>
            </p:cNvPr>
            <p:cNvSpPr/>
            <p:nvPr/>
          </p:nvSpPr>
          <p:spPr>
            <a:xfrm>
              <a:off x="1604989" y="3379305"/>
              <a:ext cx="410818" cy="26504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grpSp>
      <p:sp>
        <p:nvSpPr>
          <p:cNvPr id="22" name="文字方塊 21">
            <a:extLst>
              <a:ext uri="{FF2B5EF4-FFF2-40B4-BE49-F238E27FC236}">
                <a16:creationId xmlns:a16="http://schemas.microsoft.com/office/drawing/2014/main" id="{17D3A872-2CFE-442B-89BF-AC8A606A50D9}"/>
              </a:ext>
            </a:extLst>
          </p:cNvPr>
          <p:cNvSpPr txBox="1"/>
          <p:nvPr/>
        </p:nvSpPr>
        <p:spPr>
          <a:xfrm>
            <a:off x="2080591" y="4692134"/>
            <a:ext cx="9086364" cy="1400383"/>
          </a:xfrm>
          <a:prstGeom prst="rect">
            <a:avLst/>
          </a:prstGeom>
          <a:noFill/>
        </p:spPr>
        <p:txBody>
          <a:bodyPr wrap="square">
            <a:spAutoFit/>
          </a:bodyPr>
          <a:lstStyle/>
          <a:p>
            <a:pPr>
              <a:spcAft>
                <a:spcPts val="600"/>
              </a:spcAft>
            </a:pPr>
            <a:r>
              <a:rPr lang="en-US" altLang="zh-TW" sz="1600" b="1" dirty="0"/>
              <a:t>AI Agent </a:t>
            </a:r>
            <a:r>
              <a:rPr lang="zh-TW" altLang="en-US" sz="1600" b="1" dirty="0"/>
              <a:t>應用案例</a:t>
            </a:r>
            <a:r>
              <a:rPr lang="en-US" altLang="zh-TW" sz="1600" b="1" dirty="0"/>
              <a:t>:</a:t>
            </a:r>
          </a:p>
          <a:p>
            <a:pPr marL="800100" lvl="1" indent="-342900">
              <a:buFont typeface="+mj-lt"/>
              <a:buAutoNum type="arabicPeriod"/>
            </a:pPr>
            <a:r>
              <a:rPr lang="zh-TW" altLang="en-US" sz="1600" b="1" dirty="0"/>
              <a:t>智慧客服代理</a:t>
            </a:r>
            <a:r>
              <a:rPr lang="en-US" altLang="zh-TW" sz="1600" b="1" dirty="0"/>
              <a:t>: </a:t>
            </a:r>
            <a:r>
              <a:rPr lang="en-US" altLang="zh-TW" sz="1600" dirty="0"/>
              <a:t>AI Agent </a:t>
            </a:r>
            <a:r>
              <a:rPr lang="zh-TW" altLang="en-US" sz="1600" dirty="0"/>
              <a:t>可用於即時回覆顧客問題，處理訂單查詢、退款申請，或提供產品建議，減少人工客服的工作量。</a:t>
            </a:r>
            <a:endParaRPr lang="en-US" altLang="zh-TW" sz="1600" dirty="0"/>
          </a:p>
          <a:p>
            <a:pPr marL="800100" lvl="1" indent="-342900">
              <a:buFont typeface="+mj-lt"/>
              <a:buAutoNum type="arabicPeriod"/>
            </a:pPr>
            <a:r>
              <a:rPr lang="zh-TW" altLang="en-US" sz="1600" b="1" dirty="0"/>
              <a:t>智慧製造</a:t>
            </a:r>
            <a:r>
              <a:rPr lang="en-US" altLang="zh-TW" sz="1600" b="1" dirty="0"/>
              <a:t>: </a:t>
            </a:r>
            <a:r>
              <a:rPr lang="en-US" altLang="zh-TW" sz="1600" dirty="0"/>
              <a:t>AI Agent </a:t>
            </a:r>
            <a:r>
              <a:rPr lang="zh-TW" altLang="en-US" sz="1600" dirty="0"/>
              <a:t>可監控生產線數據，主動發現異常、預測設備維護需求，甚至自動調整生產參數以提升效率。</a:t>
            </a:r>
          </a:p>
        </p:txBody>
      </p:sp>
    </p:spTree>
    <p:extLst>
      <p:ext uri="{BB962C8B-B14F-4D97-AF65-F5344CB8AC3E}">
        <p14:creationId xmlns:p14="http://schemas.microsoft.com/office/powerpoint/2010/main" val="429492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3">
            <a:extLst>
              <a:ext uri="{FF2B5EF4-FFF2-40B4-BE49-F238E27FC236}">
                <a16:creationId xmlns:a16="http://schemas.microsoft.com/office/drawing/2014/main" id="{54F63527-EE74-12E4-2709-A9A5D093EF55}"/>
              </a:ext>
            </a:extLst>
          </p:cNvPr>
          <p:cNvSpPr txBox="1">
            <a:spLocks/>
          </p:cNvSpPr>
          <p:nvPr/>
        </p:nvSpPr>
        <p:spPr>
          <a:xfrm>
            <a:off x="2091000" y="774000"/>
            <a:ext cx="9903857" cy="685799"/>
          </a:xfrm>
          <a:prstGeom prst="rect">
            <a:avLst/>
          </a:prstGeom>
        </p:spPr>
        <p:txBody>
          <a:bodyPr/>
          <a:lstStyle>
            <a:lvl1pPr algn="l" defTabSz="457200" rtl="0" eaLnBrk="1" latinLnBrk="0" hangingPunct="1">
              <a:spcBef>
                <a:spcPct val="0"/>
              </a:spcBef>
              <a:buNone/>
              <a:defRPr sz="2600" b="1" i="0" kern="1600" spc="0">
                <a:solidFill>
                  <a:srgbClr val="FF9B14"/>
                </a:solidFill>
                <a:latin typeface="+mj-ea"/>
                <a:ea typeface="+mj-ea"/>
                <a:cs typeface="+mj-cs"/>
              </a:defRPr>
            </a:lvl1pPr>
          </a:lstStyle>
          <a:p>
            <a:r>
              <a:rPr lang="en-US" altLang="zh-TW" dirty="0"/>
              <a:t>Introduction</a:t>
            </a:r>
            <a:r>
              <a:rPr lang="en-US" altLang="zh-TW" b="1" dirty="0"/>
              <a:t> of </a:t>
            </a:r>
            <a:r>
              <a:rPr lang="en-US" altLang="zh-TW" dirty="0"/>
              <a:t>AI Agent</a:t>
            </a:r>
            <a:endParaRPr lang="zh-TW" altLang="en-US" dirty="0"/>
          </a:p>
        </p:txBody>
      </p:sp>
      <p:sp>
        <p:nvSpPr>
          <p:cNvPr id="4" name="文字方塊 3">
            <a:extLst>
              <a:ext uri="{FF2B5EF4-FFF2-40B4-BE49-F238E27FC236}">
                <a16:creationId xmlns:a16="http://schemas.microsoft.com/office/drawing/2014/main" id="{4D22ECE2-3AFA-FA60-19CE-E1B2E8319D27}"/>
              </a:ext>
            </a:extLst>
          </p:cNvPr>
          <p:cNvSpPr txBox="1"/>
          <p:nvPr/>
        </p:nvSpPr>
        <p:spPr>
          <a:xfrm>
            <a:off x="2091000" y="1225674"/>
            <a:ext cx="7695000" cy="861774"/>
          </a:xfrm>
          <a:prstGeom prst="rect">
            <a:avLst/>
          </a:prstGeom>
          <a:noFill/>
        </p:spPr>
        <p:txBody>
          <a:bodyPr wrap="square">
            <a:spAutoFit/>
          </a:bodyPr>
          <a:lstStyle/>
          <a:p>
            <a:br>
              <a:rPr lang="en-US" altLang="zh-TW" sz="1600" dirty="0"/>
            </a:br>
            <a:r>
              <a:rPr lang="en-US" altLang="zh-TW" sz="1600" b="1" dirty="0"/>
              <a:t>AI Agent </a:t>
            </a:r>
            <a:r>
              <a:rPr lang="en-US" altLang="zh-TW" sz="1600" dirty="0"/>
              <a:t>is an intelligent application concept that can autonomously perceive, make decisions, and execute tasks without human intervention</a:t>
            </a:r>
            <a:r>
              <a:rPr lang="en-US" altLang="zh-TW" dirty="0"/>
              <a:t>.</a:t>
            </a:r>
            <a:endParaRPr lang="zh-TW" altLang="en-US" dirty="0"/>
          </a:p>
        </p:txBody>
      </p:sp>
      <p:sp>
        <p:nvSpPr>
          <p:cNvPr id="5" name="文字方塊 4">
            <a:extLst>
              <a:ext uri="{FF2B5EF4-FFF2-40B4-BE49-F238E27FC236}">
                <a16:creationId xmlns:a16="http://schemas.microsoft.com/office/drawing/2014/main" id="{D3CB5163-FE20-D7F2-D41A-04F5291A057B}"/>
              </a:ext>
            </a:extLst>
          </p:cNvPr>
          <p:cNvSpPr txBox="1"/>
          <p:nvPr/>
        </p:nvSpPr>
        <p:spPr>
          <a:xfrm>
            <a:off x="2091000" y="2129371"/>
            <a:ext cx="9231249" cy="2262671"/>
          </a:xfrm>
          <a:prstGeom prst="rect">
            <a:avLst/>
          </a:prstGeom>
          <a:noFill/>
        </p:spPr>
        <p:txBody>
          <a:bodyPr wrap="square">
            <a:spAutoFit/>
          </a:bodyPr>
          <a:lstStyle/>
          <a:p>
            <a:pPr>
              <a:lnSpc>
                <a:spcPct val="150000"/>
              </a:lnSpc>
            </a:pPr>
            <a:r>
              <a:rPr lang="en-US" altLang="zh-TW" sz="1600" b="1" dirty="0"/>
              <a:t>OpenAI categorizes the development stages of AI into five levels:</a:t>
            </a:r>
            <a:endParaRPr lang="en-US" altLang="zh-TW" sz="1600" dirty="0"/>
          </a:p>
          <a:p>
            <a:pPr marL="342900" indent="-342900">
              <a:lnSpc>
                <a:spcPct val="150000"/>
              </a:lnSpc>
              <a:buFont typeface="+mj-lt"/>
              <a:buAutoNum type="arabicPeriod"/>
            </a:pPr>
            <a:r>
              <a:rPr lang="en-US" altLang="zh-TW" sz="1600" b="1" dirty="0"/>
              <a:t>Chatbots</a:t>
            </a:r>
            <a:r>
              <a:rPr lang="en-US" altLang="zh-TW" sz="1600" dirty="0"/>
              <a:t>: AI with conversational capabilities (e.g., ChatGPT-4o)</a:t>
            </a:r>
            <a:r>
              <a:rPr lang="pt-BR" altLang="zh-TW" sz="1600" dirty="0"/>
              <a:t> </a:t>
            </a:r>
            <a:endParaRPr lang="en-US" altLang="zh-TW" sz="1600" dirty="0"/>
          </a:p>
          <a:p>
            <a:pPr marL="342900" indent="-342900">
              <a:lnSpc>
                <a:spcPct val="150000"/>
              </a:lnSpc>
              <a:buFont typeface="+mj-lt"/>
              <a:buAutoNum type="arabicPeriod"/>
            </a:pPr>
            <a:r>
              <a:rPr lang="en-US" altLang="zh-TW" sz="1600" b="1" dirty="0"/>
              <a:t>Reasoners</a:t>
            </a:r>
            <a:r>
              <a:rPr lang="en-US" altLang="zh-TW" sz="1600" dirty="0"/>
              <a:t>: AI that can solve problems like humans (e.g., ChatGPT-o1/o3)</a:t>
            </a:r>
          </a:p>
          <a:p>
            <a:pPr marL="342900" indent="-342900">
              <a:lnSpc>
                <a:spcPct val="150000"/>
              </a:lnSpc>
              <a:buFont typeface="+mj-lt"/>
              <a:buAutoNum type="arabicPeriod"/>
            </a:pPr>
            <a:r>
              <a:rPr lang="en-US" altLang="zh-TW" sz="1600" b="1" dirty="0"/>
              <a:t>Agents</a:t>
            </a:r>
            <a:r>
              <a:rPr lang="en-US" altLang="zh-TW" sz="1600" dirty="0"/>
              <a:t>: AI that can take correct actions, with a focus on tool usage</a:t>
            </a:r>
          </a:p>
          <a:p>
            <a:pPr marL="342900" indent="-342900">
              <a:lnSpc>
                <a:spcPct val="150000"/>
              </a:lnSpc>
              <a:buFont typeface="+mj-lt"/>
              <a:buAutoNum type="arabicPeriod"/>
            </a:pPr>
            <a:r>
              <a:rPr lang="en-US" altLang="zh-TW" sz="1600" b="1" dirty="0"/>
              <a:t>Innovators</a:t>
            </a:r>
            <a:r>
              <a:rPr lang="en-US" altLang="zh-TW" sz="1600" dirty="0"/>
              <a:t>: AI that can assist in inventions</a:t>
            </a:r>
          </a:p>
          <a:p>
            <a:pPr marL="342900" indent="-342900">
              <a:lnSpc>
                <a:spcPct val="150000"/>
              </a:lnSpc>
              <a:buFont typeface="+mj-lt"/>
              <a:buAutoNum type="arabicPeriod"/>
            </a:pPr>
            <a:r>
              <a:rPr lang="en-US" altLang="zh-TW" sz="1600" b="1" dirty="0"/>
              <a:t>Organizations</a:t>
            </a:r>
            <a:r>
              <a:rPr lang="en-US" altLang="zh-TW" sz="1600" dirty="0"/>
              <a:t>: AI that can perform the work of human organizations</a:t>
            </a:r>
          </a:p>
        </p:txBody>
      </p:sp>
      <p:sp>
        <p:nvSpPr>
          <p:cNvPr id="6" name="文字方塊 5">
            <a:extLst>
              <a:ext uri="{FF2B5EF4-FFF2-40B4-BE49-F238E27FC236}">
                <a16:creationId xmlns:a16="http://schemas.microsoft.com/office/drawing/2014/main" id="{CD3EF5FA-8CA6-81ED-5C94-1F1B30702426}"/>
              </a:ext>
            </a:extLst>
          </p:cNvPr>
          <p:cNvSpPr txBox="1"/>
          <p:nvPr/>
        </p:nvSpPr>
        <p:spPr>
          <a:xfrm>
            <a:off x="1416000" y="6321232"/>
            <a:ext cx="6096000" cy="400110"/>
          </a:xfrm>
          <a:prstGeom prst="rect">
            <a:avLst/>
          </a:prstGeom>
          <a:noFill/>
        </p:spPr>
        <p:txBody>
          <a:bodyPr wrap="square">
            <a:spAutoFit/>
          </a:bodyPr>
          <a:lstStyle/>
          <a:p>
            <a:pPr algn="l"/>
            <a:r>
              <a:rPr lang="en-US" altLang="zh-TW" sz="1000" b="1" i="0" dirty="0">
                <a:effectLst/>
                <a:latin typeface="Udemy Sans"/>
              </a:rPr>
              <a:t>AI Agent</a:t>
            </a:r>
            <a:r>
              <a:rPr lang="zh-TW" altLang="en-US" sz="1000" b="1" i="0" dirty="0">
                <a:effectLst/>
                <a:latin typeface="Udemy Sans"/>
              </a:rPr>
              <a:t>最強組合！企業</a:t>
            </a:r>
            <a:r>
              <a:rPr lang="en-US" altLang="zh-TW" sz="1000" b="1" i="0" dirty="0">
                <a:effectLst/>
                <a:latin typeface="Udemy Sans"/>
              </a:rPr>
              <a:t>AI</a:t>
            </a:r>
            <a:r>
              <a:rPr lang="zh-TW" altLang="en-US" sz="1000" b="1" i="0" dirty="0">
                <a:effectLst/>
                <a:latin typeface="Udemy Sans"/>
              </a:rPr>
              <a:t>落地應用聖經：集成</a:t>
            </a:r>
            <a:r>
              <a:rPr lang="en-US" altLang="zh-TW" sz="1000" b="1" i="0" dirty="0" err="1">
                <a:effectLst/>
                <a:latin typeface="Udemy Sans"/>
              </a:rPr>
              <a:t>DifyAI</a:t>
            </a:r>
            <a:r>
              <a:rPr lang="zh-TW" altLang="en-US" sz="1000" b="1" i="0" dirty="0">
                <a:effectLst/>
                <a:latin typeface="Udemy Sans"/>
              </a:rPr>
              <a:t>、</a:t>
            </a:r>
            <a:r>
              <a:rPr lang="en-US" altLang="zh-TW" sz="1000" b="1" i="0" dirty="0">
                <a:effectLst/>
                <a:latin typeface="Udemy Sans"/>
              </a:rPr>
              <a:t>n8n</a:t>
            </a:r>
            <a:r>
              <a:rPr lang="zh-TW" altLang="en-US" sz="1000" b="1" i="0" dirty="0">
                <a:effectLst/>
                <a:latin typeface="Udemy Sans"/>
              </a:rPr>
              <a:t>、</a:t>
            </a:r>
            <a:r>
              <a:rPr lang="en-US" altLang="zh-TW" sz="1000" b="1" i="0" dirty="0">
                <a:effectLst/>
                <a:latin typeface="Udemy Sans"/>
              </a:rPr>
              <a:t>MCP</a:t>
            </a:r>
            <a:r>
              <a:rPr lang="zh-TW" altLang="en-US" sz="1000" b="1" i="0" dirty="0">
                <a:effectLst/>
                <a:latin typeface="Udemy Sans"/>
              </a:rPr>
              <a:t>、</a:t>
            </a:r>
            <a:r>
              <a:rPr lang="en-US" altLang="zh-TW" sz="1000" b="1" i="0" dirty="0" err="1">
                <a:effectLst/>
                <a:latin typeface="Udemy Sans"/>
              </a:rPr>
              <a:t>VannaAI</a:t>
            </a:r>
            <a:r>
              <a:rPr lang="zh-TW" altLang="en-US" sz="1000" b="1" i="0" dirty="0">
                <a:effectLst/>
                <a:latin typeface="Udemy Sans"/>
              </a:rPr>
              <a:t>自然語言打造智慧</a:t>
            </a:r>
            <a:r>
              <a:rPr lang="en-US" altLang="zh-TW" sz="1000" b="1" i="0" dirty="0">
                <a:effectLst/>
                <a:latin typeface="Udemy Sans"/>
              </a:rPr>
              <a:t>AI</a:t>
            </a:r>
            <a:r>
              <a:rPr lang="zh-TW" altLang="en-US" sz="1000" b="1" i="0" dirty="0">
                <a:effectLst/>
                <a:latin typeface="Udemy Sans"/>
              </a:rPr>
              <a:t>助理</a:t>
            </a:r>
            <a:r>
              <a:rPr lang="en-US" altLang="zh-TW" sz="1000" b="1" i="0" dirty="0">
                <a:effectLst/>
                <a:latin typeface="Udemy Sans"/>
                <a:hlinkClick r:id="rId3"/>
              </a:rPr>
              <a:t>(https://www.udemy.com/course/dify-ollama-ai/?couponCode=ST18MT170625B)</a:t>
            </a:r>
            <a:endParaRPr lang="zh-TW" altLang="en-US" sz="1000" b="1" i="0" dirty="0">
              <a:effectLst/>
              <a:latin typeface="Udemy Sans"/>
            </a:endParaRPr>
          </a:p>
        </p:txBody>
      </p:sp>
      <p:grpSp>
        <p:nvGrpSpPr>
          <p:cNvPr id="7" name="群組 6">
            <a:extLst>
              <a:ext uri="{FF2B5EF4-FFF2-40B4-BE49-F238E27FC236}">
                <a16:creationId xmlns:a16="http://schemas.microsoft.com/office/drawing/2014/main" id="{D2F4DD20-3FE9-41C8-8144-E19FB58F6A99}"/>
              </a:ext>
            </a:extLst>
          </p:cNvPr>
          <p:cNvGrpSpPr/>
          <p:nvPr/>
        </p:nvGrpSpPr>
        <p:grpSpPr>
          <a:xfrm>
            <a:off x="324523" y="3300065"/>
            <a:ext cx="2008435" cy="369332"/>
            <a:chOff x="417121" y="3357939"/>
            <a:chExt cx="2008435" cy="369332"/>
          </a:xfrm>
        </p:grpSpPr>
        <p:sp>
          <p:nvSpPr>
            <p:cNvPr id="8" name="文字方塊 7">
              <a:extLst>
                <a:ext uri="{FF2B5EF4-FFF2-40B4-BE49-F238E27FC236}">
                  <a16:creationId xmlns:a16="http://schemas.microsoft.com/office/drawing/2014/main" id="{9CE88178-F323-4606-9916-2BCA482DDBEC}"/>
                </a:ext>
              </a:extLst>
            </p:cNvPr>
            <p:cNvSpPr txBox="1"/>
            <p:nvPr/>
          </p:nvSpPr>
          <p:spPr>
            <a:xfrm>
              <a:off x="417121" y="3357939"/>
              <a:ext cx="2008435" cy="369332"/>
            </a:xfrm>
            <a:prstGeom prst="rect">
              <a:avLst/>
            </a:prstGeom>
            <a:noFill/>
          </p:spPr>
          <p:txBody>
            <a:bodyPr wrap="square">
              <a:spAutoFit/>
            </a:bodyPr>
            <a:lstStyle/>
            <a:p>
              <a:r>
                <a:rPr lang="en-US" altLang="zh-TW" sz="1800" b="1" dirty="0"/>
                <a:t>AI Agent</a:t>
              </a:r>
              <a:endParaRPr lang="zh-TW" altLang="en-US" dirty="0"/>
            </a:p>
          </p:txBody>
        </p:sp>
        <p:sp>
          <p:nvSpPr>
            <p:cNvPr id="9" name="箭號: 向右 8">
              <a:extLst>
                <a:ext uri="{FF2B5EF4-FFF2-40B4-BE49-F238E27FC236}">
                  <a16:creationId xmlns:a16="http://schemas.microsoft.com/office/drawing/2014/main" id="{06AD43F2-B68E-45DB-AF93-EBE9ADFCF024}"/>
                </a:ext>
              </a:extLst>
            </p:cNvPr>
            <p:cNvSpPr/>
            <p:nvPr/>
          </p:nvSpPr>
          <p:spPr>
            <a:xfrm>
              <a:off x="1604989" y="3379305"/>
              <a:ext cx="410818" cy="26504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grpSp>
      <p:sp>
        <p:nvSpPr>
          <p:cNvPr id="10" name="文字方塊 9">
            <a:extLst>
              <a:ext uri="{FF2B5EF4-FFF2-40B4-BE49-F238E27FC236}">
                <a16:creationId xmlns:a16="http://schemas.microsoft.com/office/drawing/2014/main" id="{01F130D7-1AF4-4CB5-863A-09D76A958834}"/>
              </a:ext>
            </a:extLst>
          </p:cNvPr>
          <p:cNvSpPr txBox="1"/>
          <p:nvPr/>
        </p:nvSpPr>
        <p:spPr>
          <a:xfrm>
            <a:off x="2121061" y="4454565"/>
            <a:ext cx="9231248" cy="1815882"/>
          </a:xfrm>
          <a:prstGeom prst="rect">
            <a:avLst/>
          </a:prstGeom>
          <a:noFill/>
        </p:spPr>
        <p:txBody>
          <a:bodyPr wrap="square">
            <a:spAutoFit/>
          </a:bodyPr>
          <a:lstStyle/>
          <a:p>
            <a:r>
              <a:rPr lang="en-US" altLang="zh-TW" sz="1600" b="1" dirty="0"/>
              <a:t>AI Agent Application Scenarios:</a:t>
            </a:r>
            <a:endParaRPr lang="en-US" altLang="zh-TW" sz="1600" dirty="0"/>
          </a:p>
          <a:p>
            <a:pPr marL="342900" indent="-342900">
              <a:buFont typeface="+mj-lt"/>
              <a:buAutoNum type="arabicPeriod"/>
            </a:pPr>
            <a:r>
              <a:rPr lang="en-US" altLang="zh-TW" sz="1600" b="1" dirty="0"/>
              <a:t>Intelligent Customer Service Agent:</a:t>
            </a:r>
            <a:r>
              <a:rPr lang="en-US" altLang="zh-TW" sz="1600" dirty="0"/>
              <a:t> AI Agents can be used to respond to customer inquiries in real time, handle order tracking and refund requests, or provide product recommendations, thereby reducing the workload of human customer service representatives.</a:t>
            </a:r>
          </a:p>
          <a:p>
            <a:pPr marL="342900" indent="-342900">
              <a:buFont typeface="+mj-lt"/>
              <a:buAutoNum type="arabicPeriod"/>
            </a:pPr>
            <a:r>
              <a:rPr lang="en-US" altLang="zh-TW" sz="1600" b="1" dirty="0"/>
              <a:t>Smart Manufacturing:</a:t>
            </a:r>
            <a:r>
              <a:rPr lang="en-US" altLang="zh-TW" sz="1600" dirty="0"/>
              <a:t> AI Agents can monitor production line data, proactively detect anomalies, predict equipment maintenance needs, and even automatically adjust production parameters to improve efficiency.</a:t>
            </a:r>
          </a:p>
        </p:txBody>
      </p:sp>
    </p:spTree>
    <p:extLst>
      <p:ext uri="{BB962C8B-B14F-4D97-AF65-F5344CB8AC3E}">
        <p14:creationId xmlns:p14="http://schemas.microsoft.com/office/powerpoint/2010/main" val="1152863252"/>
      </p:ext>
    </p:extLst>
  </p:cSld>
  <p:clrMapOvr>
    <a:masterClrMapping/>
  </p:clrMapOvr>
</p:sld>
</file>

<file path=ppt/theme/theme1.xml><?xml version="1.0" encoding="utf-8"?>
<a:theme xmlns:a="http://schemas.openxmlformats.org/drawingml/2006/main" name="8_CTCI_PPT-Template">
  <a:themeElements>
    <a:clrScheme name="Custom 3">
      <a:dk1>
        <a:srgbClr val="212121"/>
      </a:dk1>
      <a:lt1>
        <a:sysClr val="window" lastClr="FFFFFF"/>
      </a:lt1>
      <a:dk2>
        <a:srgbClr val="414448"/>
      </a:dk2>
      <a:lt2>
        <a:srgbClr val="F8F8F8"/>
      </a:lt2>
      <a:accent1>
        <a:srgbClr val="F58F17"/>
      </a:accent1>
      <a:accent2>
        <a:srgbClr val="FFDD00"/>
      </a:accent2>
      <a:accent3>
        <a:srgbClr val="E55A25"/>
      </a:accent3>
      <a:accent4>
        <a:srgbClr val="D5DF30"/>
      </a:accent4>
      <a:accent5>
        <a:srgbClr val="1B9F84"/>
      </a:accent5>
      <a:accent6>
        <a:srgbClr val="6E4233"/>
      </a:accent6>
      <a:hlink>
        <a:srgbClr val="0A5BC3"/>
      </a:hlink>
      <a:folHlink>
        <a:srgbClr val="601DAF"/>
      </a:folHlink>
    </a:clrScheme>
    <a:fontScheme name="Office 古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TCI_PPT-Template" id="{D737F933-4CE4-4BFD-8AFF-C2DE44DF1FF1}" vid="{873E4518-2A1A-456E-8196-F036EA5B89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47677</TotalTime>
  <Words>882</Words>
  <Application>Microsoft Office PowerPoint</Application>
  <PresentationFormat>寬螢幕</PresentationFormat>
  <Paragraphs>50</Paragraphs>
  <Slides>2</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vt:i4>
      </vt:variant>
    </vt:vector>
  </HeadingPairs>
  <TitlesOfParts>
    <vt:vector size="8" baseType="lpstr">
      <vt:lpstr>黑体</vt:lpstr>
      <vt:lpstr>Udemy Sans</vt:lpstr>
      <vt:lpstr>微軟正黑體</vt:lpstr>
      <vt:lpstr>Arial</vt:lpstr>
      <vt:lpstr>Calibri</vt:lpstr>
      <vt:lpstr>8_CTCI_PPT-Template</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ddg</dc:creator>
  <cp:lastModifiedBy>Shuoyen Lin/林碩彥/ASI-ADD</cp:lastModifiedBy>
  <cp:revision>2181</cp:revision>
  <cp:lastPrinted>2025-05-08T05:57:21Z</cp:lastPrinted>
  <dcterms:created xsi:type="dcterms:W3CDTF">2016-04-15T01:59:57Z</dcterms:created>
  <dcterms:modified xsi:type="dcterms:W3CDTF">2025-09-18T07:24:59Z</dcterms:modified>
</cp:coreProperties>
</file>