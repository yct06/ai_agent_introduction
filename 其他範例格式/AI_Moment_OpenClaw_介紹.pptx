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69" r:id="rId1"/>
  </p:sldMasterIdLst>
  <p:notesMasterIdLst>
    <p:notesMasterId r:id="rId4"/>
  </p:notesMasterIdLst>
  <p:handoutMasterIdLst>
    <p:handoutMasterId r:id="rId5"/>
  </p:handoutMasterIdLst>
  <p:sldIdLst>
    <p:sldId id="266" r:id="rId2"/>
    <p:sldId id="808" r:id="rId3"/>
  </p:sldIdLst>
  <p:sldSz cx="12192000" cy="6858000"/>
  <p:notesSz cx="6807200" cy="9939338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預設章節" id="{7320A71D-06E2-4CA3-9A89-69B3A7FD7D4D}">
          <p14:sldIdLst>
            <p14:sldId id="266"/>
            <p14:sldId id="808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31" userDrawn="1">
          <p15:clr>
            <a:srgbClr val="A4A3A4"/>
          </p15:clr>
        </p15:guide>
        <p15:guide id="2" pos="2144" userDrawn="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彥 Lin" initials="彥" lastIdx="1" clrIdx="0">
    <p:extLst>
      <p:ext uri="{19B8F6BF-5375-455C-9EA6-DF929625EA0E}">
        <p15:presenceInfo xmlns:p15="http://schemas.microsoft.com/office/powerpoint/2012/main" userId="0670ca2f1b37ee79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33FF"/>
    <a:srgbClr val="00B0F0"/>
    <a:srgbClr val="F58F17"/>
    <a:srgbClr val="66FFFF"/>
    <a:srgbClr val="E2F0D9"/>
    <a:srgbClr val="E6FCDC"/>
    <a:srgbClr val="FFFFFF"/>
    <a:srgbClr val="CC9900"/>
    <a:srgbClr val="CCFFCC"/>
    <a:srgbClr val="FFB05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F5AB1C69-6EDB-4FF4-983F-18BD219EF322}" styleName="中等深淺樣式 2 - 輔色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DF18680-E054-41AD-8BC1-D1AEF772440D}" styleName="中等深淺樣式 2 - 輔色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74C1A8A3-306A-4EB7-A6B1-4F7E0EB9C5D6}" styleName="中等深淺樣式 3 - 輔色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中等深淺樣式 2 - 輔色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46F890A9-2807-4EBB-B81D-B2AA78EC7F39}" styleName="深色樣式 2 - 輔色 5/輔色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22838BEF-8BB2-4498-84A7-C5851F593DF1}" styleName="中等深淺樣式 4 - 輔色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107" autoAdjust="0"/>
    <p:restoredTop sz="80485" autoAdjust="0"/>
  </p:normalViewPr>
  <p:slideViewPr>
    <p:cSldViewPr snapToObjects="1">
      <p:cViewPr varScale="1">
        <p:scale>
          <a:sx n="77" d="100"/>
          <a:sy n="77" d="100"/>
        </p:scale>
        <p:origin x="1404" y="60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notesViewPr>
    <p:cSldViewPr snapToObjects="1">
      <p:cViewPr varScale="1">
        <p:scale>
          <a:sx n="47" d="100"/>
          <a:sy n="47" d="100"/>
        </p:scale>
        <p:origin x="-2652" y="-76"/>
      </p:cViewPr>
      <p:guideLst>
        <p:guide orient="horz" pos="3131"/>
        <p:guide pos="2144"/>
      </p:guideLst>
    </p:cSldViewPr>
  </p:notesViewPr>
  <p:gridSpacing cx="45000" cy="450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commentAuthors" Target="commentAuthors.xml"/><Relationship Id="rId5" Type="http://schemas.openxmlformats.org/officeDocument/2006/relationships/handoutMaster" Target="handoutMasters/handoutMaster1.xml"/><Relationship Id="rId10" Type="http://schemas.openxmlformats.org/officeDocument/2006/relationships/tableStyles" Target="tableStyles.xml"/><Relationship Id="rId4" Type="http://schemas.openxmlformats.org/officeDocument/2006/relationships/notesMaster" Target="notesMasters/notesMaster1.xml"/><Relationship Id="rId9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2949787" cy="496967"/>
          </a:xfrm>
          <a:prstGeom prst="rect">
            <a:avLst/>
          </a:prstGeom>
        </p:spPr>
        <p:txBody>
          <a:bodyPr vert="horz" lIns="91431" tIns="45715" rIns="91431" bIns="45715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55838" y="1"/>
            <a:ext cx="2949787" cy="496967"/>
          </a:xfrm>
          <a:prstGeom prst="rect">
            <a:avLst/>
          </a:prstGeom>
        </p:spPr>
        <p:txBody>
          <a:bodyPr vert="horz" lIns="91431" tIns="45715" rIns="91431" bIns="45715" rtlCol="0"/>
          <a:lstStyle>
            <a:lvl1pPr algn="r">
              <a:defRPr sz="1200"/>
            </a:lvl1pPr>
          </a:lstStyle>
          <a:p>
            <a:fld id="{D9A13432-9FC4-4847-B369-E5C0DDD918EB}" type="datetime1">
              <a:rPr lang="zh-TW" altLang="en-US" smtClean="0"/>
              <a:t>2026/3/25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440647"/>
            <a:ext cx="2949787" cy="496967"/>
          </a:xfrm>
          <a:prstGeom prst="rect">
            <a:avLst/>
          </a:prstGeom>
        </p:spPr>
        <p:txBody>
          <a:bodyPr vert="horz" lIns="91431" tIns="45715" rIns="91431" bIns="45715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55838" y="9440647"/>
            <a:ext cx="2949787" cy="496967"/>
          </a:xfrm>
          <a:prstGeom prst="rect">
            <a:avLst/>
          </a:prstGeom>
        </p:spPr>
        <p:txBody>
          <a:bodyPr vert="horz" lIns="91431" tIns="45715" rIns="91431" bIns="45715" rtlCol="0" anchor="b"/>
          <a:lstStyle>
            <a:lvl1pPr algn="r">
              <a:defRPr sz="1200"/>
            </a:lvl1pPr>
          </a:lstStyle>
          <a:p>
            <a:fld id="{6DA8EFFE-14FE-124F-B2CE-32BD85ED392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3202416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2949787" cy="496967"/>
          </a:xfrm>
          <a:prstGeom prst="rect">
            <a:avLst/>
          </a:prstGeom>
        </p:spPr>
        <p:txBody>
          <a:bodyPr vert="horz" lIns="91431" tIns="45715" rIns="91431" bIns="45715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55838" y="1"/>
            <a:ext cx="2949787" cy="496967"/>
          </a:xfrm>
          <a:prstGeom prst="rect">
            <a:avLst/>
          </a:prstGeom>
        </p:spPr>
        <p:txBody>
          <a:bodyPr vert="horz" lIns="91431" tIns="45715" rIns="91431" bIns="45715" rtlCol="0"/>
          <a:lstStyle>
            <a:lvl1pPr algn="r">
              <a:defRPr sz="1200"/>
            </a:lvl1pPr>
          </a:lstStyle>
          <a:p>
            <a:fld id="{97A39107-8806-4BBD-94FE-73E6724A9D6B}" type="datetime1">
              <a:rPr lang="zh-TW" altLang="en-US" smtClean="0"/>
              <a:t>2026/3/25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2075" y="746125"/>
            <a:ext cx="6623050" cy="37258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31" tIns="45715" rIns="91431" bIns="45715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0720" y="4721186"/>
            <a:ext cx="5445760" cy="4472702"/>
          </a:xfrm>
          <a:prstGeom prst="rect">
            <a:avLst/>
          </a:prstGeom>
        </p:spPr>
        <p:txBody>
          <a:bodyPr vert="horz" lIns="91431" tIns="45715" rIns="91431" bIns="45715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40647"/>
            <a:ext cx="2949787" cy="496967"/>
          </a:xfrm>
          <a:prstGeom prst="rect">
            <a:avLst/>
          </a:prstGeom>
        </p:spPr>
        <p:txBody>
          <a:bodyPr vert="horz" lIns="91431" tIns="45715" rIns="91431" bIns="45715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5838" y="9440647"/>
            <a:ext cx="2949787" cy="496967"/>
          </a:xfrm>
          <a:prstGeom prst="rect">
            <a:avLst/>
          </a:prstGeom>
        </p:spPr>
        <p:txBody>
          <a:bodyPr vert="horz" lIns="91431" tIns="45715" rIns="91431" bIns="45715" rtlCol="0" anchor="b"/>
          <a:lstStyle>
            <a:lvl1pPr algn="r">
              <a:defRPr sz="1200"/>
            </a:lvl1pPr>
          </a:lstStyle>
          <a:p>
            <a:fld id="{1548752F-E1F0-9041-9BBB-203AF400B13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21582348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zh-TW" altLang="en-US" dirty="0"/>
              <a:t>OpenClaw 是一個開源的自主 AI Agent，由奧地利開發者 Peter Steinberger 於 2025 年 11 月發布。發布後迅速爆紅，短短數個月內獲得超過 247,000 個 GitHub Stars，創下開源專案史上最快爆紅的紀錄之一。</a:t>
            </a:r>
          </a:p>
          <a:p>
            <a:endParaRPr lang="zh-TW" altLang="en-US" dirty="0"/>
          </a:p>
          <a:p>
            <a:r>
              <a:rPr lang="zh-TW" altLang="en-US" dirty="0"/>
              <a:t>OpenClaw 最大的特色是讓使用者透過 WhatsApp、Telegram、Slack 等日常通訊工具下指令，AI 即在本機自動執行各種任務，完全不需要學習新的操作介面。</a:t>
            </a:r>
          </a:p>
          <a:p>
            <a:endParaRPr lang="zh-TW" altLang="en-US" dirty="0"/>
          </a:p>
          <a:p>
            <a:r>
              <a:rPr lang="zh-TW" altLang="en-US" dirty="0"/>
              <a:t>四大核心功能：</a:t>
            </a:r>
          </a:p>
          <a:p>
            <a:r>
              <a:rPr lang="zh-TW" altLang="en-US" dirty="0"/>
              <a:t>1. 訊息平台整合：支援 20+ 主流通訊工具，包括 WhatsApp、Telegram、Slack、Discord 等。</a:t>
            </a:r>
          </a:p>
          <a:p>
            <a:r>
              <a:rPr lang="zh-TW" altLang="en-US" dirty="0"/>
              <a:t>2. 技能生態系統（Skills）：內建 100+ 技能，社群 ClawHub 提供 13,000+ 擴充技能。</a:t>
            </a:r>
          </a:p>
          <a:p>
            <a:r>
              <a:rPr lang="zh-TW" altLang="en-US" dirty="0"/>
              <a:t>3. 多模型支援：可接入 GPT-4、Claude、Gemini 等主流 LLM，靈活切換。</a:t>
            </a:r>
          </a:p>
          <a:p>
            <a:r>
              <a:rPr lang="zh-TW" altLang="en-US" dirty="0"/>
              <a:t>4. 本機私有部署：完整在本機執行，有效保護使用者隱私，支援 Windows、Mac、Linux。</a:t>
            </a:r>
          </a:p>
          <a:p>
            <a:endParaRPr lang="zh-TW" altLang="en-US" dirty="0"/>
          </a:p>
          <a:p>
            <a:r>
              <a:rPr lang="zh-TW" altLang="en-US" dirty="0"/>
              <a:t>應用情境：透過通訊工具傳訊指令自動處理郵件與行事曆；串接 GitHub、Gmail、Slack 設定排程自動執行跨服務任務。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97A39107-8806-4BBD-94FE-73E6724A9D6B}" type="datetime1">
              <a:rPr lang="zh-TW" altLang="en-US" smtClean="0"/>
              <a:t>2026/3/25</a:t>
            </a:fld>
            <a:endParaRPr lang="en-US" dirty="0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548752F-E1F0-9041-9BBB-203AF400B139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50730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OpenClaw is an open-source autonomous AI agent released in November 2025 by Austrian developer Peter Steinberger. It rapidly gained over 247,000 GitHub Stars—one of the fastest-growing open-source projects in history.</a:t>
            </a:r>
          </a:p>
          <a:p>
            <a:endParaRPr lang="en-US" altLang="zh-TW" dirty="0"/>
          </a:p>
          <a:p>
            <a:r>
              <a:rPr lang="en-US" altLang="zh-TW" dirty="0"/>
              <a:t>Its key innovation: use everyday messaging apps (WhatsApp, Telegram, Slack, and 20+ others) as the user interface, while running entirely on the local machine for privacy.</a:t>
            </a:r>
          </a:p>
          <a:p>
            <a:endParaRPr lang="en-US" altLang="zh-TW" dirty="0"/>
          </a:p>
          <a:p>
            <a:r>
              <a:rPr lang="en-US" altLang="zh-TW" dirty="0"/>
              <a:t>Four core features:</a:t>
            </a:r>
          </a:p>
          <a:p>
            <a:r>
              <a:rPr lang="en-US" altLang="zh-TW" dirty="0"/>
              <a:t>1. Platform Integration: Supports 20+ messaging platforms including WhatsApp, Telegram, Slack, and Discord.</a:t>
            </a:r>
          </a:p>
          <a:p>
            <a:r>
              <a:rPr lang="en-US" altLang="zh-TW" dirty="0"/>
              <a:t>2. Skills Ecosystem: 100+ built-in skills and 13,000+ community skills via the ClawHub registry.</a:t>
            </a:r>
          </a:p>
          <a:p>
            <a:r>
              <a:rPr lang="en-US" altLang="zh-TW" dirty="0"/>
              <a:t>3. Multi-Model Support: Works with GPT-4, Claude, Gemini and other major LLMs.</a:t>
            </a:r>
          </a:p>
          <a:p>
            <a:r>
              <a:rPr lang="en-US" altLang="zh-TW" dirty="0"/>
              <a:t>4. Local Private Deployment: Runs fully on-device on Windows, Mac, and Linux.</a:t>
            </a:r>
          </a:p>
          <a:p>
            <a:endParaRPr lang="en-US" altLang="zh-TW" dirty="0"/>
          </a:p>
          <a:p>
            <a:r>
              <a:rPr lang="en-US" altLang="zh-TW" dirty="0"/>
              <a:t>Use cases: Automate email and calendar management via chat commands; connect GitHub, Gmail, Slack for cross-platform scheduled task execution.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97A39107-8806-4BBD-94FE-73E6724A9D6B}" type="datetime1">
              <a:rPr lang="zh-TW" altLang="en-US" smtClean="0"/>
              <a:t>2026/3/25</a:t>
            </a:fld>
            <a:endParaRPr lang="en-US" dirty="0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548752F-E1F0-9041-9BBB-203AF400B139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79257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>
          <a:xfrm rot="10800000" flipV="1">
            <a:off x="335361" y="6111446"/>
            <a:ext cx="4076700" cy="307777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 algn="l"/>
            <a:r>
              <a:rPr lang="en-US" altLang="zh-TW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*Reference</a:t>
            </a:r>
            <a:r>
              <a:rPr lang="zh-TW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：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idx="1"/>
          </p:nvPr>
        </p:nvSpPr>
        <p:spPr>
          <a:xfrm>
            <a:off x="2210070" y="1695934"/>
            <a:ext cx="9019365" cy="43035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endParaRPr lang="en-US" dirty="0"/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048A641F-6B40-4CAC-BBE9-8CA1DD0C47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05269" y="633198"/>
            <a:ext cx="9237133" cy="685799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/>
          </a:bodyPr>
          <a:lstStyle/>
          <a:p>
            <a:r>
              <a:rPr lang="zh-TW" altLang="en-US" dirty="0"/>
              <a:t>按一下以編輯母片標題樣式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52395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>
          <a:xfrm rot="10800000" flipV="1">
            <a:off x="335360" y="6381328"/>
            <a:ext cx="4076700" cy="307777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r>
              <a:rPr lang="en-US" altLang="zh-TW" sz="1400" dirty="0">
                <a:solidFill>
                  <a:srgbClr val="212121">
                    <a:lumMod val="75000"/>
                    <a:lumOff val="25000"/>
                  </a:srgbClr>
                </a:solidFill>
              </a:rPr>
              <a:t>*Reference</a:t>
            </a:r>
            <a:r>
              <a:rPr lang="zh-TW" altLang="en-US" sz="1400" dirty="0">
                <a:solidFill>
                  <a:srgbClr val="212121">
                    <a:lumMod val="75000"/>
                    <a:lumOff val="25000"/>
                  </a:srgbClr>
                </a:solidFill>
              </a:rPr>
              <a:t>：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quarter" idx="10"/>
          </p:nvPr>
        </p:nvSpPr>
        <p:spPr>
          <a:xfrm>
            <a:off x="2241951" y="1773238"/>
            <a:ext cx="8641357" cy="4104034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37565941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207568" y="654969"/>
            <a:ext cx="9237133" cy="685799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/>
          </a:bodyPr>
          <a:lstStyle/>
          <a:p>
            <a:r>
              <a:rPr lang="zh-TW" altLang="en-US" dirty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07568" y="1773238"/>
            <a:ext cx="9205152" cy="429535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  <a:endParaRPr lang="en-US" dirty="0"/>
          </a:p>
        </p:txBody>
      </p:sp>
      <p:pic>
        <p:nvPicPr>
          <p:cNvPr id="46" name="圖片 45">
            <a:extLst>
              <a:ext uri="{FF2B5EF4-FFF2-40B4-BE49-F238E27FC236}">
                <a16:creationId xmlns:a16="http://schemas.microsoft.com/office/drawing/2014/main" id="{65700FA4-6B5A-4344-93B4-EF9B2B2464B6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4368" y="6150903"/>
            <a:ext cx="1411939" cy="685799"/>
          </a:xfrm>
          <a:prstGeom prst="rect">
            <a:avLst/>
          </a:prstGeom>
        </p:spPr>
      </p:pic>
      <p:sp>
        <p:nvSpPr>
          <p:cNvPr id="109" name="Donut 13">
            <a:extLst>
              <a:ext uri="{FF2B5EF4-FFF2-40B4-BE49-F238E27FC236}">
                <a16:creationId xmlns:a16="http://schemas.microsoft.com/office/drawing/2014/main" id="{E92A82C1-90BC-43D5-AA61-AA2730C1A030}"/>
              </a:ext>
            </a:extLst>
          </p:cNvPr>
          <p:cNvSpPr/>
          <p:nvPr userDrawn="1"/>
        </p:nvSpPr>
        <p:spPr>
          <a:xfrm rot="7488651">
            <a:off x="648655" y="947158"/>
            <a:ext cx="818081" cy="1047034"/>
          </a:xfrm>
          <a:custGeom>
            <a:avLst/>
            <a:gdLst/>
            <a:ahLst/>
            <a:cxnLst/>
            <a:rect l="l" t="t" r="r" b="b"/>
            <a:pathLst>
              <a:path w="1911628" h="2446640">
                <a:moveTo>
                  <a:pt x="10805" y="498722"/>
                </a:moveTo>
                <a:lnTo>
                  <a:pt x="237769" y="259080"/>
                </a:lnTo>
                <a:lnTo>
                  <a:pt x="0" y="8030"/>
                </a:lnTo>
                <a:lnTo>
                  <a:pt x="159028" y="0"/>
                </a:lnTo>
                <a:cubicBezTo>
                  <a:pt x="1126962" y="0"/>
                  <a:pt x="1911628" y="784666"/>
                  <a:pt x="1911628" y="1752600"/>
                </a:cubicBezTo>
                <a:cubicBezTo>
                  <a:pt x="1911628" y="1969707"/>
                  <a:pt x="1872152" y="2177593"/>
                  <a:pt x="1797852" y="2368654"/>
                </a:cubicBezTo>
                <a:lnTo>
                  <a:pt x="1478579" y="2446640"/>
                </a:lnTo>
                <a:lnTo>
                  <a:pt x="1371400" y="2092516"/>
                </a:lnTo>
                <a:cubicBezTo>
                  <a:pt x="1406097" y="1985258"/>
                  <a:pt x="1422337" y="1870826"/>
                  <a:pt x="1422337" y="1752600"/>
                </a:cubicBezTo>
                <a:cubicBezTo>
                  <a:pt x="1422337" y="1054894"/>
                  <a:pt x="856734" y="489291"/>
                  <a:pt x="159028" y="489291"/>
                </a:cubicBezTo>
                <a:cubicBezTo>
                  <a:pt x="108852" y="489291"/>
                  <a:pt x="59358" y="492216"/>
                  <a:pt x="10805" y="498722"/>
                </a:cubicBezTo>
                <a:close/>
              </a:path>
            </a:pathLst>
          </a:custGeom>
          <a:solidFill>
            <a:srgbClr val="1568B3"/>
          </a:solidFill>
          <a:ln w="25400" cap="flat" cmpd="sng" algn="ctr">
            <a:noFill/>
            <a:prstDash val="solid"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</a:endParaRPr>
          </a:p>
        </p:txBody>
      </p:sp>
      <p:sp>
        <p:nvSpPr>
          <p:cNvPr id="110" name="橢圓 109">
            <a:extLst>
              <a:ext uri="{FF2B5EF4-FFF2-40B4-BE49-F238E27FC236}">
                <a16:creationId xmlns:a16="http://schemas.microsoft.com/office/drawing/2014/main" id="{0CEB6239-B178-43C1-B5AF-34A10090C37C}"/>
              </a:ext>
            </a:extLst>
          </p:cNvPr>
          <p:cNvSpPr/>
          <p:nvPr userDrawn="1"/>
        </p:nvSpPr>
        <p:spPr>
          <a:xfrm>
            <a:off x="278230" y="256526"/>
            <a:ext cx="1591626" cy="1591632"/>
          </a:xfrm>
          <a:prstGeom prst="ellipse">
            <a:avLst/>
          </a:prstGeom>
          <a:solidFill>
            <a:sysClr val="window" lastClr="FFFFFF"/>
          </a:solidFill>
          <a:ln w="384175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111" name="橢圓 110">
            <a:extLst>
              <a:ext uri="{FF2B5EF4-FFF2-40B4-BE49-F238E27FC236}">
                <a16:creationId xmlns:a16="http://schemas.microsoft.com/office/drawing/2014/main" id="{5EF831DA-7834-4C6F-9874-5D77997FEE51}"/>
              </a:ext>
            </a:extLst>
          </p:cNvPr>
          <p:cNvSpPr/>
          <p:nvPr userDrawn="1"/>
        </p:nvSpPr>
        <p:spPr>
          <a:xfrm>
            <a:off x="104141" y="106293"/>
            <a:ext cx="1908000" cy="1908000"/>
          </a:xfrm>
          <a:prstGeom prst="ellipse">
            <a:avLst/>
          </a:prstGeom>
          <a:solidFill>
            <a:srgbClr val="FDB912"/>
          </a:solidFill>
          <a:ln w="384175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112" name="橢圓 111">
            <a:extLst>
              <a:ext uri="{FF2B5EF4-FFF2-40B4-BE49-F238E27FC236}">
                <a16:creationId xmlns:a16="http://schemas.microsoft.com/office/drawing/2014/main" id="{DD54DB3C-F0ED-4314-8860-3E25BDB060C6}"/>
              </a:ext>
            </a:extLst>
          </p:cNvPr>
          <p:cNvSpPr/>
          <p:nvPr userDrawn="1"/>
        </p:nvSpPr>
        <p:spPr>
          <a:xfrm>
            <a:off x="262327" y="264477"/>
            <a:ext cx="1591626" cy="1591632"/>
          </a:xfrm>
          <a:prstGeom prst="ellipse">
            <a:avLst/>
          </a:prstGeom>
          <a:solidFill>
            <a:sysClr val="window" lastClr="FFFFFF"/>
          </a:solidFill>
          <a:ln w="384175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113" name="Donut 13">
            <a:extLst>
              <a:ext uri="{FF2B5EF4-FFF2-40B4-BE49-F238E27FC236}">
                <a16:creationId xmlns:a16="http://schemas.microsoft.com/office/drawing/2014/main" id="{B40AC9B7-6D87-470B-BB8A-C1434F8D1A70}"/>
              </a:ext>
            </a:extLst>
          </p:cNvPr>
          <p:cNvSpPr/>
          <p:nvPr userDrawn="1"/>
        </p:nvSpPr>
        <p:spPr>
          <a:xfrm rot="267487">
            <a:off x="1014670" y="337716"/>
            <a:ext cx="818077" cy="1047779"/>
          </a:xfrm>
          <a:custGeom>
            <a:avLst/>
            <a:gdLst/>
            <a:ahLst/>
            <a:cxnLst/>
            <a:rect l="l" t="t" r="r" b="b"/>
            <a:pathLst>
              <a:path w="1911628" h="2448370">
                <a:moveTo>
                  <a:pt x="159028" y="0"/>
                </a:moveTo>
                <a:cubicBezTo>
                  <a:pt x="1126962" y="0"/>
                  <a:pt x="1911628" y="784666"/>
                  <a:pt x="1911628" y="1752600"/>
                </a:cubicBezTo>
                <a:cubicBezTo>
                  <a:pt x="1911628" y="1971660"/>
                  <a:pt x="1871438" y="2181334"/>
                  <a:pt x="1796069" y="2373897"/>
                </a:cubicBezTo>
                <a:lnTo>
                  <a:pt x="1484520" y="2448370"/>
                </a:lnTo>
                <a:lnTo>
                  <a:pt x="1376590" y="2085315"/>
                </a:lnTo>
                <a:cubicBezTo>
                  <a:pt x="1406890" y="1979599"/>
                  <a:pt x="1422337" y="1867904"/>
                  <a:pt x="1422337" y="1752600"/>
                </a:cubicBezTo>
                <a:cubicBezTo>
                  <a:pt x="1422337" y="1054894"/>
                  <a:pt x="856734" y="489291"/>
                  <a:pt x="159028" y="489291"/>
                </a:cubicBezTo>
                <a:cubicBezTo>
                  <a:pt x="108852" y="489291"/>
                  <a:pt x="59358" y="492216"/>
                  <a:pt x="10805" y="498722"/>
                </a:cubicBezTo>
                <a:lnTo>
                  <a:pt x="237769" y="259080"/>
                </a:lnTo>
                <a:lnTo>
                  <a:pt x="0" y="8030"/>
                </a:lnTo>
                <a:cubicBezTo>
                  <a:pt x="52324" y="2409"/>
                  <a:pt x="105395" y="0"/>
                  <a:pt x="159028" y="0"/>
                </a:cubicBezTo>
                <a:close/>
              </a:path>
            </a:pathLst>
          </a:custGeom>
          <a:solidFill>
            <a:srgbClr val="15A085"/>
          </a:solidFill>
          <a:ln w="25400" cap="flat" cmpd="sng" algn="ctr">
            <a:noFill/>
            <a:prstDash val="solid"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</a:endParaRPr>
          </a:p>
        </p:txBody>
      </p:sp>
      <p:sp>
        <p:nvSpPr>
          <p:cNvPr id="114" name="Donut 13">
            <a:extLst>
              <a:ext uri="{FF2B5EF4-FFF2-40B4-BE49-F238E27FC236}">
                <a16:creationId xmlns:a16="http://schemas.microsoft.com/office/drawing/2014/main" id="{46B1BA03-0289-4E43-96A7-AC24CD4B1D7C}"/>
              </a:ext>
            </a:extLst>
          </p:cNvPr>
          <p:cNvSpPr/>
          <p:nvPr userDrawn="1"/>
        </p:nvSpPr>
        <p:spPr>
          <a:xfrm rot="7488651">
            <a:off x="648656" y="947158"/>
            <a:ext cx="818081" cy="1047034"/>
          </a:xfrm>
          <a:custGeom>
            <a:avLst/>
            <a:gdLst/>
            <a:ahLst/>
            <a:cxnLst/>
            <a:rect l="l" t="t" r="r" b="b"/>
            <a:pathLst>
              <a:path w="1911628" h="2446640">
                <a:moveTo>
                  <a:pt x="10805" y="498722"/>
                </a:moveTo>
                <a:lnTo>
                  <a:pt x="237769" y="259080"/>
                </a:lnTo>
                <a:lnTo>
                  <a:pt x="0" y="8030"/>
                </a:lnTo>
                <a:lnTo>
                  <a:pt x="159028" y="0"/>
                </a:lnTo>
                <a:cubicBezTo>
                  <a:pt x="1126962" y="0"/>
                  <a:pt x="1911628" y="784666"/>
                  <a:pt x="1911628" y="1752600"/>
                </a:cubicBezTo>
                <a:cubicBezTo>
                  <a:pt x="1911628" y="1969707"/>
                  <a:pt x="1872152" y="2177593"/>
                  <a:pt x="1797852" y="2368654"/>
                </a:cubicBezTo>
                <a:lnTo>
                  <a:pt x="1478579" y="2446640"/>
                </a:lnTo>
                <a:lnTo>
                  <a:pt x="1371400" y="2092516"/>
                </a:lnTo>
                <a:cubicBezTo>
                  <a:pt x="1406097" y="1985258"/>
                  <a:pt x="1422337" y="1870826"/>
                  <a:pt x="1422337" y="1752600"/>
                </a:cubicBezTo>
                <a:cubicBezTo>
                  <a:pt x="1422337" y="1054894"/>
                  <a:pt x="856734" y="489291"/>
                  <a:pt x="159028" y="489291"/>
                </a:cubicBezTo>
                <a:cubicBezTo>
                  <a:pt x="108852" y="489291"/>
                  <a:pt x="59358" y="492216"/>
                  <a:pt x="10805" y="498722"/>
                </a:cubicBezTo>
                <a:close/>
              </a:path>
            </a:pathLst>
          </a:custGeom>
          <a:solidFill>
            <a:srgbClr val="1568B3"/>
          </a:solidFill>
          <a:ln w="25400" cap="flat" cmpd="sng" algn="ctr">
            <a:noFill/>
            <a:prstDash val="solid"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</a:endParaRPr>
          </a:p>
        </p:txBody>
      </p:sp>
      <p:sp>
        <p:nvSpPr>
          <p:cNvPr id="115" name="Donut 13">
            <a:extLst>
              <a:ext uri="{FF2B5EF4-FFF2-40B4-BE49-F238E27FC236}">
                <a16:creationId xmlns:a16="http://schemas.microsoft.com/office/drawing/2014/main" id="{3F09961C-7BBD-48A7-8384-EE7BAC8FF8BD}"/>
              </a:ext>
            </a:extLst>
          </p:cNvPr>
          <p:cNvSpPr/>
          <p:nvPr userDrawn="1"/>
        </p:nvSpPr>
        <p:spPr>
          <a:xfrm rot="14667487">
            <a:off x="306207" y="328874"/>
            <a:ext cx="818081" cy="1046057"/>
          </a:xfrm>
          <a:custGeom>
            <a:avLst/>
            <a:gdLst/>
            <a:ahLst/>
            <a:cxnLst/>
            <a:rect l="l" t="t" r="r" b="b"/>
            <a:pathLst>
              <a:path w="1911628" h="2444355">
                <a:moveTo>
                  <a:pt x="1797134" y="2370766"/>
                </a:moveTo>
                <a:lnTo>
                  <a:pt x="1489282" y="2444355"/>
                </a:lnTo>
                <a:lnTo>
                  <a:pt x="1379591" y="2075377"/>
                </a:lnTo>
                <a:cubicBezTo>
                  <a:pt x="1407847" y="1972569"/>
                  <a:pt x="1422337" y="1864277"/>
                  <a:pt x="1422337" y="1752600"/>
                </a:cubicBezTo>
                <a:cubicBezTo>
                  <a:pt x="1422337" y="1054894"/>
                  <a:pt x="856734" y="489291"/>
                  <a:pt x="159028" y="489291"/>
                </a:cubicBezTo>
                <a:cubicBezTo>
                  <a:pt x="108852" y="489291"/>
                  <a:pt x="59358" y="492216"/>
                  <a:pt x="10805" y="498722"/>
                </a:cubicBezTo>
                <a:lnTo>
                  <a:pt x="237769" y="259080"/>
                </a:lnTo>
                <a:lnTo>
                  <a:pt x="0" y="8030"/>
                </a:lnTo>
                <a:cubicBezTo>
                  <a:pt x="52324" y="2409"/>
                  <a:pt x="105395" y="0"/>
                  <a:pt x="159028" y="0"/>
                </a:cubicBezTo>
                <a:cubicBezTo>
                  <a:pt x="1126962" y="0"/>
                  <a:pt x="1911628" y="784666"/>
                  <a:pt x="1911628" y="1752600"/>
                </a:cubicBezTo>
                <a:cubicBezTo>
                  <a:pt x="1911628" y="1970493"/>
                  <a:pt x="1871865" y="2179100"/>
                  <a:pt x="1797134" y="2370766"/>
                </a:cubicBezTo>
                <a:close/>
              </a:path>
            </a:pathLst>
          </a:custGeom>
          <a:solidFill>
            <a:srgbClr val="95CB6E"/>
          </a:solidFill>
          <a:ln w="25400" cap="flat" cmpd="sng" algn="ctr">
            <a:noFill/>
            <a:prstDash val="solid"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</a:endParaRPr>
          </a:p>
        </p:txBody>
      </p:sp>
      <p:sp>
        <p:nvSpPr>
          <p:cNvPr id="117" name="文本4">
            <a:extLst>
              <a:ext uri="{FF2B5EF4-FFF2-40B4-BE49-F238E27FC236}">
                <a16:creationId xmlns:a16="http://schemas.microsoft.com/office/drawing/2014/main" id="{CCB6C943-DEEC-49E0-95B1-F8863118261A}"/>
              </a:ext>
            </a:extLst>
          </p:cNvPr>
          <p:cNvSpPr/>
          <p:nvPr userDrawn="1"/>
        </p:nvSpPr>
        <p:spPr>
          <a:xfrm>
            <a:off x="542478" y="213828"/>
            <a:ext cx="1020599" cy="786987"/>
          </a:xfrm>
          <a:prstGeom prst="rect">
            <a:avLst/>
          </a:prstGeom>
          <a:noFill/>
          <a:ln w="25400" cap="flat" cmpd="sng" algn="ctr">
            <a:noFill/>
            <a:prstDash val="solid"/>
          </a:ln>
          <a:effectLst/>
        </p:spPr>
        <p:txBody>
          <a:bodyPr spcFirstLastPara="1" lIns="91430" tIns="45716" rIns="91430" bIns="45716" numCol="1" anchor="ctr">
            <a:prstTxWarp prst="textArchUp">
              <a:avLst>
                <a:gd name="adj" fmla="val 14123060"/>
              </a:avLst>
            </a:prstTxWarp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en-US" altLang="zh-TW" sz="1300" b="1" kern="0" spc="50" dirty="0">
                <a:solidFill>
                  <a:srgbClr val="FFFFFF"/>
                </a:solidFill>
                <a:latin typeface="+mj-lt"/>
                <a:ea typeface="微软雅黑" pitchFamily="34" charset="-122"/>
              </a:rPr>
              <a:t>AI</a:t>
            </a:r>
            <a:endParaRPr lang="zh-CN" altLang="en-US" sz="1300" b="1" kern="0" spc="50" dirty="0">
              <a:solidFill>
                <a:srgbClr val="FFFFFF"/>
              </a:solidFill>
              <a:latin typeface="+mj-lt"/>
              <a:ea typeface="微软雅黑" pitchFamily="34" charset="-122"/>
            </a:endParaRPr>
          </a:p>
        </p:txBody>
      </p:sp>
      <p:sp>
        <p:nvSpPr>
          <p:cNvPr id="118" name="文字方塊 117">
            <a:extLst>
              <a:ext uri="{FF2B5EF4-FFF2-40B4-BE49-F238E27FC236}">
                <a16:creationId xmlns:a16="http://schemas.microsoft.com/office/drawing/2014/main" id="{4B1F5FAD-0D72-4D58-9A05-3672AFB54416}"/>
              </a:ext>
            </a:extLst>
          </p:cNvPr>
          <p:cNvSpPr txBox="1"/>
          <p:nvPr userDrawn="1"/>
        </p:nvSpPr>
        <p:spPr>
          <a:xfrm>
            <a:off x="522934" y="760201"/>
            <a:ext cx="106952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 algn="ctr">
              <a:defRPr/>
            </a:pPr>
            <a:r>
              <a:rPr lang="en-US" altLang="zh-TW" sz="1800" b="1" dirty="0">
                <a:solidFill>
                  <a:srgbClr val="F68B1E"/>
                </a:solidFill>
              </a:rPr>
              <a:t>ESG</a:t>
            </a:r>
            <a:r>
              <a:rPr lang="zh-TW" altLang="en-US" sz="1800" b="1" dirty="0">
                <a:solidFill>
                  <a:srgbClr val="F68B1E"/>
                </a:solidFill>
              </a:rPr>
              <a:t>×</a:t>
            </a:r>
            <a:r>
              <a:rPr lang="en-US" altLang="zh-TW" sz="1800" b="1" dirty="0">
                <a:solidFill>
                  <a:srgbClr val="F68B1E"/>
                </a:solidFill>
              </a:rPr>
              <a:t>AI</a:t>
            </a:r>
          </a:p>
          <a:p>
            <a:pPr algn="ctr">
              <a:defRPr/>
            </a:pPr>
            <a:r>
              <a:rPr lang="en-US" altLang="zh-TW" sz="1800" b="1" dirty="0">
                <a:solidFill>
                  <a:srgbClr val="F68B1E"/>
                </a:solidFill>
              </a:rPr>
              <a:t>Moment</a:t>
            </a:r>
            <a:endParaRPr lang="zh-TW" altLang="en-US" sz="1800" b="1" dirty="0">
              <a:solidFill>
                <a:srgbClr val="F68B1E"/>
              </a:solidFill>
            </a:endParaRPr>
          </a:p>
        </p:txBody>
      </p:sp>
      <p:sp>
        <p:nvSpPr>
          <p:cNvPr id="121" name="文本3">
            <a:extLst>
              <a:ext uri="{FF2B5EF4-FFF2-40B4-BE49-F238E27FC236}">
                <a16:creationId xmlns:a16="http://schemas.microsoft.com/office/drawing/2014/main" id="{9E9EDB26-682A-4589-A18A-5FE3BDFD1085}"/>
              </a:ext>
            </a:extLst>
          </p:cNvPr>
          <p:cNvSpPr/>
          <p:nvPr userDrawn="1"/>
        </p:nvSpPr>
        <p:spPr>
          <a:xfrm rot="18153499">
            <a:off x="376375" y="454927"/>
            <a:ext cx="1213438" cy="1075135"/>
          </a:xfrm>
          <a:prstGeom prst="rect">
            <a:avLst/>
          </a:prstGeom>
          <a:noFill/>
          <a:ln w="25400" cap="flat" cmpd="sng" algn="ctr">
            <a:noFill/>
            <a:prstDash val="solid"/>
          </a:ln>
          <a:effectLst/>
        </p:spPr>
        <p:txBody>
          <a:bodyPr spcFirstLastPara="1" lIns="91430" tIns="45716" rIns="91430" bIns="45716" numCol="1" anchor="ctr">
            <a:prstTxWarp prst="textArchUp">
              <a:avLst>
                <a:gd name="adj" fmla="val 12808063"/>
              </a:avLst>
            </a:prstTxWarp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en-US" altLang="zh-TW" sz="1100" b="1" kern="0" spc="50" dirty="0">
                <a:solidFill>
                  <a:srgbClr val="F9F9F9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Green Engineering</a:t>
            </a:r>
          </a:p>
        </p:txBody>
      </p:sp>
      <p:sp>
        <p:nvSpPr>
          <p:cNvPr id="122" name="文本1">
            <a:extLst>
              <a:ext uri="{FF2B5EF4-FFF2-40B4-BE49-F238E27FC236}">
                <a16:creationId xmlns:a16="http://schemas.microsoft.com/office/drawing/2014/main" id="{45CE7E33-C3AD-4068-B492-DD13ACAA5178}"/>
              </a:ext>
            </a:extLst>
          </p:cNvPr>
          <p:cNvSpPr/>
          <p:nvPr userDrawn="1"/>
        </p:nvSpPr>
        <p:spPr>
          <a:xfrm rot="3741566">
            <a:off x="339897" y="388826"/>
            <a:ext cx="1335747" cy="1420818"/>
          </a:xfrm>
          <a:prstGeom prst="rect">
            <a:avLst/>
          </a:prstGeom>
          <a:noFill/>
          <a:ln w="25400" cap="flat" cmpd="sng" algn="ctr">
            <a:noFill/>
            <a:prstDash val="solid"/>
          </a:ln>
          <a:effectLst/>
        </p:spPr>
        <p:txBody>
          <a:bodyPr spcFirstLastPara="1" lIns="91430" tIns="45716" rIns="91430" bIns="45716" numCol="1" anchor="ctr">
            <a:prstTxWarp prst="textArchUp">
              <a:avLst>
                <a:gd name="adj" fmla="val 13174737"/>
              </a:avLst>
            </a:prstTxWarp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en-US" altLang="zh-TW" sz="1100" b="1" kern="0" spc="50" dirty="0">
                <a:solidFill>
                  <a:srgbClr val="F9F9F9"/>
                </a:solidFill>
                <a:ea typeface="+mj-ea"/>
              </a:rPr>
              <a:t>Smart applications</a:t>
            </a:r>
          </a:p>
        </p:txBody>
      </p:sp>
      <p:sp>
        <p:nvSpPr>
          <p:cNvPr id="123" name="文本2">
            <a:extLst>
              <a:ext uri="{FF2B5EF4-FFF2-40B4-BE49-F238E27FC236}">
                <a16:creationId xmlns:a16="http://schemas.microsoft.com/office/drawing/2014/main" id="{10B86328-7A99-43DE-8848-E201756BCC99}"/>
              </a:ext>
            </a:extLst>
          </p:cNvPr>
          <p:cNvSpPr/>
          <p:nvPr userDrawn="1"/>
        </p:nvSpPr>
        <p:spPr>
          <a:xfrm rot="11005674">
            <a:off x="418523" y="542041"/>
            <a:ext cx="1273771" cy="1163949"/>
          </a:xfrm>
          <a:prstGeom prst="rect">
            <a:avLst/>
          </a:prstGeom>
          <a:noFill/>
          <a:ln w="25400" cap="flat" cmpd="sng" algn="ctr">
            <a:noFill/>
            <a:prstDash val="solid"/>
          </a:ln>
          <a:effectLst/>
        </p:spPr>
        <p:txBody>
          <a:bodyPr spcFirstLastPara="1" lIns="91430" tIns="45716" rIns="91430" bIns="45716" numCol="1" anchor="ctr">
            <a:prstTxWarp prst="textArchUp">
              <a:avLst>
                <a:gd name="adj" fmla="val 12981818"/>
              </a:avLst>
            </a:prstTxWarp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en-US" altLang="zh-TW" sz="1100" b="1" kern="0" spc="50" dirty="0">
                <a:solidFill>
                  <a:srgbClr val="F9F9F9"/>
                </a:solidFill>
                <a:ea typeface="+mj-ea"/>
              </a:rPr>
              <a:t>Circular Economy</a:t>
            </a:r>
          </a:p>
        </p:txBody>
      </p:sp>
    </p:spTree>
    <p:extLst>
      <p:ext uri="{BB962C8B-B14F-4D97-AF65-F5344CB8AC3E}">
        <p14:creationId xmlns:p14="http://schemas.microsoft.com/office/powerpoint/2010/main" val="15827414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71" r:id="rId2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2600" b="1" i="0" kern="1600" spc="0">
          <a:solidFill>
            <a:srgbClr val="FF9B14"/>
          </a:solidFill>
          <a:latin typeface="+mj-ea"/>
          <a:ea typeface="+mj-ea"/>
          <a:cs typeface="+mj-cs"/>
        </a:defRPr>
      </a:lvl1pPr>
    </p:titleStyle>
    <p:bodyStyle>
      <a:lvl1pPr marL="180000" indent="-180000" algn="l" defTabSz="457200" rtl="0" eaLnBrk="1" latinLnBrk="0" hangingPunct="1">
        <a:lnSpc>
          <a:spcPct val="120000"/>
        </a:lnSpc>
        <a:spcBef>
          <a:spcPts val="0"/>
        </a:spcBef>
        <a:spcAft>
          <a:spcPts val="1200"/>
        </a:spcAft>
        <a:buClr>
          <a:srgbClr val="FF9B14"/>
        </a:buClr>
        <a:buSzPct val="100000"/>
        <a:buFont typeface="Arial"/>
        <a:buChar char="•"/>
        <a:defRPr sz="1600" kern="1200">
          <a:solidFill>
            <a:srgbClr val="282828"/>
          </a:solidFill>
          <a:latin typeface="+mn-ea"/>
          <a:ea typeface="+mn-ea"/>
          <a:cs typeface="+mn-cs"/>
        </a:defRPr>
      </a:lvl1pPr>
      <a:lvl2pPr marL="540000" indent="-216000" algn="l" defTabSz="457200" rtl="0" eaLnBrk="1" latinLnBrk="0" hangingPunct="1">
        <a:lnSpc>
          <a:spcPct val="120000"/>
        </a:lnSpc>
        <a:spcBef>
          <a:spcPts val="0"/>
        </a:spcBef>
        <a:spcAft>
          <a:spcPts val="1200"/>
        </a:spcAft>
        <a:buClr>
          <a:srgbClr val="FF9B14"/>
        </a:buClr>
        <a:buFont typeface="Arial"/>
        <a:buChar char="•"/>
        <a:defRPr sz="1600" kern="1200">
          <a:solidFill>
            <a:srgbClr val="282828"/>
          </a:solidFill>
          <a:latin typeface="+mn-ea"/>
          <a:ea typeface="+mn-ea"/>
          <a:cs typeface="+mn-cs"/>
        </a:defRPr>
      </a:lvl2pPr>
      <a:lvl3pPr marL="900000" indent="-180000" algn="l" defTabSz="457200" rtl="0" eaLnBrk="1" latinLnBrk="0" hangingPunct="1">
        <a:lnSpc>
          <a:spcPct val="120000"/>
        </a:lnSpc>
        <a:spcBef>
          <a:spcPts val="0"/>
        </a:spcBef>
        <a:spcAft>
          <a:spcPts val="1200"/>
        </a:spcAft>
        <a:buClr>
          <a:srgbClr val="FF9B14"/>
        </a:buClr>
        <a:buSzPct val="90000"/>
        <a:buFont typeface="Arial"/>
        <a:buChar char="•"/>
        <a:defRPr sz="1600" kern="1200">
          <a:solidFill>
            <a:srgbClr val="282828"/>
          </a:solidFill>
          <a:latin typeface="+mn-ea"/>
          <a:ea typeface="+mn-ea"/>
          <a:cs typeface="+mn-cs"/>
        </a:defRPr>
      </a:lvl3pPr>
      <a:lvl4pPr marL="1260000" indent="-216000" algn="l" defTabSz="457200" rtl="0" eaLnBrk="1" latinLnBrk="0" hangingPunct="1">
        <a:lnSpc>
          <a:spcPct val="120000"/>
        </a:lnSpc>
        <a:spcBef>
          <a:spcPts val="0"/>
        </a:spcBef>
        <a:spcAft>
          <a:spcPts val="1200"/>
        </a:spcAft>
        <a:buClr>
          <a:srgbClr val="FF9B14"/>
        </a:buClr>
        <a:buSzPct val="90000"/>
        <a:buFont typeface="Arial"/>
        <a:buChar char="•"/>
        <a:defRPr sz="1600" kern="1200">
          <a:solidFill>
            <a:srgbClr val="282828"/>
          </a:solidFill>
          <a:latin typeface="+mn-ea"/>
          <a:ea typeface="+mn-ea"/>
          <a:cs typeface="+mn-cs"/>
        </a:defRPr>
      </a:lvl4pPr>
      <a:lvl5pPr marL="1620000" indent="-180000" algn="l" defTabSz="457200" rtl="0" eaLnBrk="1" latinLnBrk="0" hangingPunct="1">
        <a:lnSpc>
          <a:spcPct val="120000"/>
        </a:lnSpc>
        <a:spcBef>
          <a:spcPts val="0"/>
        </a:spcBef>
        <a:spcAft>
          <a:spcPts val="1200"/>
        </a:spcAft>
        <a:buClr>
          <a:srgbClr val="FF9B14"/>
        </a:buClr>
        <a:buSzPct val="90000"/>
        <a:buFont typeface="Arial"/>
        <a:buChar char="•"/>
        <a:defRPr sz="1600" kern="1200">
          <a:solidFill>
            <a:srgbClr val="282828"/>
          </a:solidFill>
          <a:latin typeface="+mn-ea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117">
          <p15:clr>
            <a:srgbClr val="F26B43"/>
          </p15:clr>
        </p15:guide>
        <p15:guide id="2" pos="1391">
          <p15:clr>
            <a:srgbClr val="F26B43"/>
          </p15:clr>
        </p15:guide>
        <p15:guide id="3" orient="horz" pos="709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3">
            <a:extLst>
              <a:ext uri="{FF2B5EF4-FFF2-40B4-BE49-F238E27FC236}">
                <a16:creationId xmlns:a16="http://schemas.microsoft.com/office/drawing/2014/main" id="{54F63527-EE74-12E4-2709-A9A5D093EF55}"/>
              </a:ext>
            </a:extLst>
          </p:cNvPr>
          <p:cNvSpPr txBox="1">
            <a:spLocks/>
          </p:cNvSpPr>
          <p:nvPr/>
        </p:nvSpPr>
        <p:spPr>
          <a:xfrm>
            <a:off x="2091000" y="774000"/>
            <a:ext cx="9903857" cy="685799"/>
          </a:xfrm>
          <a:prstGeom prst="rect">
            <a:avLst/>
          </a:prstGeom>
        </p:spPr>
        <p:txBody>
          <a:bodyPr/>
          <a:lstStyle>
            <a:lvl1pPr algn="l" defTabSz="457200" rtl="0" eaLnBrk="1" latinLnBrk="0" hangingPunct="1">
              <a:spcBef>
                <a:spcPct val="0"/>
              </a:spcBef>
              <a:buNone/>
              <a:defRPr sz="2600" b="1" i="0" kern="1600" spc="0">
                <a:solidFill>
                  <a:srgbClr val="FF9B14"/>
                </a:solidFill>
                <a:latin typeface="+mj-ea"/>
                <a:ea typeface="+mj-ea"/>
                <a:cs typeface="+mj-cs"/>
              </a:defRPr>
            </a:lvl1pPr>
          </a:lstStyle>
          <a:p>
            <a:r>
              <a:rPr lang="en-US" altLang="zh-TW" dirty="0"/>
              <a:t>OpenClaw </a:t>
            </a:r>
            <a:r>
              <a:rPr lang="zh-TW" altLang="zh-TW" dirty="0"/>
              <a:t>介紹</a:t>
            </a:r>
            <a:endParaRPr lang="zh-TW" altLang="en-US" dirty="0"/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D22ECE2-3AFA-FA60-19CE-E1B2E8319D27}"/>
              </a:ext>
            </a:extLst>
          </p:cNvPr>
          <p:cNvSpPr txBox="1"/>
          <p:nvPr/>
        </p:nvSpPr>
        <p:spPr>
          <a:xfrm>
            <a:off x="2091000" y="1543762"/>
            <a:ext cx="912222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1600" b="1" dirty="0"/>
              <a:t>OpenClaw </a:t>
            </a:r>
            <a:r>
              <a:rPr lang="zh-TW" altLang="en-US" sz="1600" dirty="0"/>
              <a:t>是一個開源的自主 AI Agent，可在本機執行任務，並透過 WhatsApp、Slack、Telegram 等通訊工具作為操作介面。</a:t>
            </a: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D3CB5163-FE20-D7F2-D41A-04F5291A057B}"/>
              </a:ext>
            </a:extLst>
          </p:cNvPr>
          <p:cNvSpPr txBox="1"/>
          <p:nvPr/>
        </p:nvSpPr>
        <p:spPr>
          <a:xfrm>
            <a:off x="2044727" y="2195148"/>
            <a:ext cx="9122228" cy="2262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TW" altLang="en-US" sz="1600" b="1" dirty="0"/>
              <a:t>OpenClaw 核心功能：</a:t>
            </a:r>
            <a:endParaRPr lang="zh-TW" altLang="en-US" sz="1600" dirty="0"/>
          </a:p>
          <a:p>
            <a:pPr marL="800100" lvl="1" indent="-342900">
              <a:lnSpc>
                <a:spcPct val="150000"/>
              </a:lnSpc>
              <a:buFont typeface="+mj-lt"/>
              <a:buAutoNum type="arabicPeriod"/>
            </a:pPr>
            <a:r>
              <a:rPr lang="zh-TW" altLang="en-US" sz="1600" b="1" dirty="0"/>
              <a:t>訊息平台整合：</a:t>
            </a:r>
            <a:r>
              <a:rPr lang="zh-TW" altLang="en-US" sz="1600" dirty="0"/>
              <a:t>支援 WhatsApp、Telegram、Slack 等 20+ 主流通訊工具作為操作介面</a:t>
            </a:r>
          </a:p>
          <a:p>
            <a:pPr marL="800100" lvl="1" indent="-342900">
              <a:lnSpc>
                <a:spcPct val="150000"/>
              </a:lnSpc>
              <a:buFont typeface="+mj-lt"/>
              <a:buAutoNum type="arabicPeriod"/>
            </a:pPr>
            <a:r>
              <a:rPr lang="zh-TW" altLang="en-US" sz="1600" b="1" dirty="0"/>
              <a:t>技能生態系統（Skills）：</a:t>
            </a:r>
            <a:r>
              <a:rPr lang="zh-TW" altLang="en-US" sz="1600" dirty="0"/>
              <a:t>內建 100+ 技能，社群提供 13,000+ 擴充技能</a:t>
            </a:r>
          </a:p>
          <a:p>
            <a:pPr marL="800100" lvl="1" indent="-342900">
              <a:lnSpc>
                <a:spcPct val="150000"/>
              </a:lnSpc>
              <a:buFont typeface="+mj-lt"/>
              <a:buAutoNum type="arabicPeriod"/>
            </a:pPr>
            <a:r>
              <a:rPr lang="zh-TW" altLang="en-US" sz="1600" b="1" dirty="0"/>
              <a:t>多模型支援：</a:t>
            </a:r>
            <a:r>
              <a:rPr lang="zh-TW" altLang="en-US" sz="1600" dirty="0"/>
              <a:t>可接入 GPT-4、Claude、Gemini 等主流 LLM，靈活切換</a:t>
            </a:r>
          </a:p>
          <a:p>
            <a:pPr marL="800100" lvl="1" indent="-342900">
              <a:lnSpc>
                <a:spcPct val="150000"/>
              </a:lnSpc>
              <a:buFont typeface="+mj-lt"/>
              <a:buAutoNum type="arabicPeriod"/>
            </a:pPr>
            <a:r>
              <a:rPr lang="zh-TW" altLang="en-US" sz="1600" b="1" dirty="0"/>
              <a:t>本機私有部署：</a:t>
            </a:r>
            <a:r>
              <a:rPr lang="zh-TW" altLang="en-US" sz="1600" dirty="0"/>
              <a:t>完整在本機執行保護隱私，支援 Windows、Mac、Linux</a:t>
            </a: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CD3EF5FA-8CA6-81ED-5C94-1F1B30702426}"/>
              </a:ext>
            </a:extLst>
          </p:cNvPr>
          <p:cNvSpPr txBox="1"/>
          <p:nvPr/>
        </p:nvSpPr>
        <p:spPr>
          <a:xfrm>
            <a:off x="1416000" y="6407390"/>
            <a:ext cx="60960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zh-TW" sz="1100" b="0" i="0" dirty="0">
                <a:effectLst/>
              </a:rPr>
              <a:t>https://openclaw.ai</a:t>
            </a:r>
          </a:p>
        </p:txBody>
      </p:sp>
      <p:sp>
        <p:nvSpPr>
          <p:cNvPr id="2" name="Donut 13">
            <a:extLst>
              <a:ext uri="{FF2B5EF4-FFF2-40B4-BE49-F238E27FC236}">
                <a16:creationId xmlns:a16="http://schemas.microsoft.com/office/drawing/2014/main" id="{B984062B-8AED-9BC4-2414-30C94F3206AB}"/>
              </a:ext>
            </a:extLst>
          </p:cNvPr>
          <p:cNvSpPr/>
          <p:nvPr/>
        </p:nvSpPr>
        <p:spPr>
          <a:xfrm rot="7488651">
            <a:off x="648655" y="947158"/>
            <a:ext cx="818081" cy="1047034"/>
          </a:xfrm>
          <a:custGeom>
            <a:avLst/>
            <a:gdLst/>
            <a:ahLst/>
            <a:cxnLst/>
            <a:rect l="l" t="t" r="r" b="b"/>
            <a:pathLst>
              <a:path w="1911628" h="2446640">
                <a:moveTo>
                  <a:pt x="10805" y="498722"/>
                </a:moveTo>
                <a:lnTo>
                  <a:pt x="237769" y="259080"/>
                </a:lnTo>
                <a:lnTo>
                  <a:pt x="0" y="8030"/>
                </a:lnTo>
                <a:lnTo>
                  <a:pt x="159028" y="0"/>
                </a:lnTo>
                <a:cubicBezTo>
                  <a:pt x="1126962" y="0"/>
                  <a:pt x="1911628" y="784666"/>
                  <a:pt x="1911628" y="1752600"/>
                </a:cubicBezTo>
                <a:cubicBezTo>
                  <a:pt x="1911628" y="1969707"/>
                  <a:pt x="1872152" y="2177593"/>
                  <a:pt x="1797852" y="2368654"/>
                </a:cubicBezTo>
                <a:lnTo>
                  <a:pt x="1478579" y="2446640"/>
                </a:lnTo>
                <a:lnTo>
                  <a:pt x="1371400" y="2092516"/>
                </a:lnTo>
                <a:cubicBezTo>
                  <a:pt x="1406097" y="1985258"/>
                  <a:pt x="1422337" y="1870826"/>
                  <a:pt x="1422337" y="1752600"/>
                </a:cubicBezTo>
                <a:cubicBezTo>
                  <a:pt x="1422337" y="1054894"/>
                  <a:pt x="856734" y="489291"/>
                  <a:pt x="159028" y="489291"/>
                </a:cubicBezTo>
                <a:cubicBezTo>
                  <a:pt x="108852" y="489291"/>
                  <a:pt x="59358" y="492216"/>
                  <a:pt x="10805" y="498722"/>
                </a:cubicBezTo>
                <a:close/>
              </a:path>
            </a:pathLst>
          </a:custGeom>
          <a:solidFill>
            <a:srgbClr val="1568B3"/>
          </a:solidFill>
          <a:ln w="25400" cap="flat" cmpd="sng" algn="ctr">
            <a:noFill/>
            <a:prstDash val="solid"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</a:endParaRPr>
          </a:p>
        </p:txBody>
      </p:sp>
      <p:sp>
        <p:nvSpPr>
          <p:cNvPr id="7" name="橢圓 6">
            <a:extLst>
              <a:ext uri="{FF2B5EF4-FFF2-40B4-BE49-F238E27FC236}">
                <a16:creationId xmlns:a16="http://schemas.microsoft.com/office/drawing/2014/main" id="{EF57E8F6-BAE5-CBF2-DDAC-A56A2B023508}"/>
              </a:ext>
            </a:extLst>
          </p:cNvPr>
          <p:cNvSpPr/>
          <p:nvPr/>
        </p:nvSpPr>
        <p:spPr>
          <a:xfrm>
            <a:off x="278230" y="256526"/>
            <a:ext cx="1591626" cy="1591632"/>
          </a:xfrm>
          <a:prstGeom prst="ellipse">
            <a:avLst/>
          </a:prstGeom>
          <a:solidFill>
            <a:sysClr val="window" lastClr="FFFFFF"/>
          </a:solidFill>
          <a:ln w="384175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8" name="橢圓 7">
            <a:extLst>
              <a:ext uri="{FF2B5EF4-FFF2-40B4-BE49-F238E27FC236}">
                <a16:creationId xmlns:a16="http://schemas.microsoft.com/office/drawing/2014/main" id="{2E818116-1E09-E5CE-B7B1-3855AB69B8D5}"/>
              </a:ext>
            </a:extLst>
          </p:cNvPr>
          <p:cNvSpPr/>
          <p:nvPr/>
        </p:nvSpPr>
        <p:spPr>
          <a:xfrm>
            <a:off x="104141" y="106293"/>
            <a:ext cx="1908000" cy="1908000"/>
          </a:xfrm>
          <a:prstGeom prst="ellipse">
            <a:avLst/>
          </a:prstGeom>
          <a:solidFill>
            <a:srgbClr val="FDB912"/>
          </a:solidFill>
          <a:ln w="384175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9" name="橢圓 8">
            <a:extLst>
              <a:ext uri="{FF2B5EF4-FFF2-40B4-BE49-F238E27FC236}">
                <a16:creationId xmlns:a16="http://schemas.microsoft.com/office/drawing/2014/main" id="{F916DB0C-C5BC-8148-B091-89D763A8FBFB}"/>
              </a:ext>
            </a:extLst>
          </p:cNvPr>
          <p:cNvSpPr/>
          <p:nvPr/>
        </p:nvSpPr>
        <p:spPr>
          <a:xfrm>
            <a:off x="262327" y="264477"/>
            <a:ext cx="1591626" cy="1591632"/>
          </a:xfrm>
          <a:prstGeom prst="ellipse">
            <a:avLst/>
          </a:prstGeom>
          <a:solidFill>
            <a:sysClr val="window" lastClr="FFFFFF"/>
          </a:solidFill>
          <a:ln w="384175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10" name="Donut 13">
            <a:extLst>
              <a:ext uri="{FF2B5EF4-FFF2-40B4-BE49-F238E27FC236}">
                <a16:creationId xmlns:a16="http://schemas.microsoft.com/office/drawing/2014/main" id="{F0A695E6-54FF-D8FC-6CBC-076B9AE2EB6E}"/>
              </a:ext>
            </a:extLst>
          </p:cNvPr>
          <p:cNvSpPr/>
          <p:nvPr/>
        </p:nvSpPr>
        <p:spPr>
          <a:xfrm rot="267487">
            <a:off x="1014670" y="337716"/>
            <a:ext cx="818077" cy="1047779"/>
          </a:xfrm>
          <a:custGeom>
            <a:avLst/>
            <a:gdLst/>
            <a:ahLst/>
            <a:cxnLst/>
            <a:rect l="l" t="t" r="r" b="b"/>
            <a:pathLst>
              <a:path w="1911628" h="2448370">
                <a:moveTo>
                  <a:pt x="159028" y="0"/>
                </a:moveTo>
                <a:cubicBezTo>
                  <a:pt x="1126962" y="0"/>
                  <a:pt x="1911628" y="784666"/>
                  <a:pt x="1911628" y="1752600"/>
                </a:cubicBezTo>
                <a:cubicBezTo>
                  <a:pt x="1911628" y="1971660"/>
                  <a:pt x="1871438" y="2181334"/>
                  <a:pt x="1796069" y="2373897"/>
                </a:cubicBezTo>
                <a:lnTo>
                  <a:pt x="1484520" y="2448370"/>
                </a:lnTo>
                <a:lnTo>
                  <a:pt x="1376590" y="2085315"/>
                </a:lnTo>
                <a:cubicBezTo>
                  <a:pt x="1406890" y="1979599"/>
                  <a:pt x="1422337" y="1867904"/>
                  <a:pt x="1422337" y="1752600"/>
                </a:cubicBezTo>
                <a:cubicBezTo>
                  <a:pt x="1422337" y="1054894"/>
                  <a:pt x="856734" y="489291"/>
                  <a:pt x="159028" y="489291"/>
                </a:cubicBezTo>
                <a:cubicBezTo>
                  <a:pt x="108852" y="489291"/>
                  <a:pt x="59358" y="492216"/>
                  <a:pt x="10805" y="498722"/>
                </a:cubicBezTo>
                <a:lnTo>
                  <a:pt x="237769" y="259080"/>
                </a:lnTo>
                <a:lnTo>
                  <a:pt x="0" y="8030"/>
                </a:lnTo>
                <a:cubicBezTo>
                  <a:pt x="52324" y="2409"/>
                  <a:pt x="105395" y="0"/>
                  <a:pt x="159028" y="0"/>
                </a:cubicBezTo>
                <a:close/>
              </a:path>
            </a:pathLst>
          </a:custGeom>
          <a:solidFill>
            <a:srgbClr val="15A085"/>
          </a:solidFill>
          <a:ln w="25400" cap="flat" cmpd="sng" algn="ctr">
            <a:noFill/>
            <a:prstDash val="solid"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</a:endParaRPr>
          </a:p>
        </p:txBody>
      </p:sp>
      <p:sp>
        <p:nvSpPr>
          <p:cNvPr id="11" name="Donut 13">
            <a:extLst>
              <a:ext uri="{FF2B5EF4-FFF2-40B4-BE49-F238E27FC236}">
                <a16:creationId xmlns:a16="http://schemas.microsoft.com/office/drawing/2014/main" id="{153028CD-40A8-11B1-34A1-32A0E560A368}"/>
              </a:ext>
            </a:extLst>
          </p:cNvPr>
          <p:cNvSpPr/>
          <p:nvPr/>
        </p:nvSpPr>
        <p:spPr>
          <a:xfrm rot="7488651">
            <a:off x="648656" y="947158"/>
            <a:ext cx="818081" cy="1047034"/>
          </a:xfrm>
          <a:custGeom>
            <a:avLst/>
            <a:gdLst/>
            <a:ahLst/>
            <a:cxnLst/>
            <a:rect l="l" t="t" r="r" b="b"/>
            <a:pathLst>
              <a:path w="1911628" h="2446640">
                <a:moveTo>
                  <a:pt x="10805" y="498722"/>
                </a:moveTo>
                <a:lnTo>
                  <a:pt x="237769" y="259080"/>
                </a:lnTo>
                <a:lnTo>
                  <a:pt x="0" y="8030"/>
                </a:lnTo>
                <a:lnTo>
                  <a:pt x="159028" y="0"/>
                </a:lnTo>
                <a:cubicBezTo>
                  <a:pt x="1126962" y="0"/>
                  <a:pt x="1911628" y="784666"/>
                  <a:pt x="1911628" y="1752600"/>
                </a:cubicBezTo>
                <a:cubicBezTo>
                  <a:pt x="1911628" y="1969707"/>
                  <a:pt x="1872152" y="2177593"/>
                  <a:pt x="1797852" y="2368654"/>
                </a:cubicBezTo>
                <a:lnTo>
                  <a:pt x="1478579" y="2446640"/>
                </a:lnTo>
                <a:lnTo>
                  <a:pt x="1371400" y="2092516"/>
                </a:lnTo>
                <a:cubicBezTo>
                  <a:pt x="1406097" y="1985258"/>
                  <a:pt x="1422337" y="1870826"/>
                  <a:pt x="1422337" y="1752600"/>
                </a:cubicBezTo>
                <a:cubicBezTo>
                  <a:pt x="1422337" y="1054894"/>
                  <a:pt x="856734" y="489291"/>
                  <a:pt x="159028" y="489291"/>
                </a:cubicBezTo>
                <a:cubicBezTo>
                  <a:pt x="108852" y="489291"/>
                  <a:pt x="59358" y="492216"/>
                  <a:pt x="10805" y="498722"/>
                </a:cubicBezTo>
                <a:close/>
              </a:path>
            </a:pathLst>
          </a:custGeom>
          <a:solidFill>
            <a:srgbClr val="1568B3"/>
          </a:solidFill>
          <a:ln w="25400" cap="flat" cmpd="sng" algn="ctr">
            <a:noFill/>
            <a:prstDash val="solid"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</a:endParaRPr>
          </a:p>
        </p:txBody>
      </p:sp>
      <p:sp>
        <p:nvSpPr>
          <p:cNvPr id="12" name="Donut 13">
            <a:extLst>
              <a:ext uri="{FF2B5EF4-FFF2-40B4-BE49-F238E27FC236}">
                <a16:creationId xmlns:a16="http://schemas.microsoft.com/office/drawing/2014/main" id="{37FDB057-0E8D-DC1D-B717-8C31CBF0EA55}"/>
              </a:ext>
            </a:extLst>
          </p:cNvPr>
          <p:cNvSpPr/>
          <p:nvPr/>
        </p:nvSpPr>
        <p:spPr>
          <a:xfrm rot="14667487">
            <a:off x="306207" y="328874"/>
            <a:ext cx="818081" cy="1046057"/>
          </a:xfrm>
          <a:custGeom>
            <a:avLst/>
            <a:gdLst/>
            <a:ahLst/>
            <a:cxnLst/>
            <a:rect l="l" t="t" r="r" b="b"/>
            <a:pathLst>
              <a:path w="1911628" h="2444355">
                <a:moveTo>
                  <a:pt x="1797134" y="2370766"/>
                </a:moveTo>
                <a:lnTo>
                  <a:pt x="1489282" y="2444355"/>
                </a:lnTo>
                <a:lnTo>
                  <a:pt x="1379591" y="2075377"/>
                </a:lnTo>
                <a:cubicBezTo>
                  <a:pt x="1407847" y="1972569"/>
                  <a:pt x="1422337" y="1864277"/>
                  <a:pt x="1422337" y="1752600"/>
                </a:cubicBezTo>
                <a:cubicBezTo>
                  <a:pt x="1422337" y="1054894"/>
                  <a:pt x="856734" y="489291"/>
                  <a:pt x="159028" y="489291"/>
                </a:cubicBezTo>
                <a:cubicBezTo>
                  <a:pt x="108852" y="489291"/>
                  <a:pt x="59358" y="492216"/>
                  <a:pt x="10805" y="498722"/>
                </a:cubicBezTo>
                <a:lnTo>
                  <a:pt x="237769" y="259080"/>
                </a:lnTo>
                <a:lnTo>
                  <a:pt x="0" y="8030"/>
                </a:lnTo>
                <a:cubicBezTo>
                  <a:pt x="52324" y="2409"/>
                  <a:pt x="105395" y="0"/>
                  <a:pt x="159028" y="0"/>
                </a:cubicBezTo>
                <a:cubicBezTo>
                  <a:pt x="1126962" y="0"/>
                  <a:pt x="1911628" y="784666"/>
                  <a:pt x="1911628" y="1752600"/>
                </a:cubicBezTo>
                <a:cubicBezTo>
                  <a:pt x="1911628" y="1970493"/>
                  <a:pt x="1871865" y="2179100"/>
                  <a:pt x="1797134" y="2370766"/>
                </a:cubicBezTo>
                <a:close/>
              </a:path>
            </a:pathLst>
          </a:custGeom>
          <a:solidFill>
            <a:srgbClr val="95CB6E"/>
          </a:solidFill>
          <a:ln w="25400" cap="flat" cmpd="sng" algn="ctr">
            <a:noFill/>
            <a:prstDash val="solid"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</a:endParaRPr>
          </a:p>
        </p:txBody>
      </p:sp>
      <p:sp>
        <p:nvSpPr>
          <p:cNvPr id="13" name="文本1">
            <a:extLst>
              <a:ext uri="{FF2B5EF4-FFF2-40B4-BE49-F238E27FC236}">
                <a16:creationId xmlns:a16="http://schemas.microsoft.com/office/drawing/2014/main" id="{8BBD9616-A5CE-A52C-35C6-844794162D0B}"/>
              </a:ext>
            </a:extLst>
          </p:cNvPr>
          <p:cNvSpPr/>
          <p:nvPr/>
        </p:nvSpPr>
        <p:spPr>
          <a:xfrm rot="3594807">
            <a:off x="712619" y="562534"/>
            <a:ext cx="1101435" cy="786987"/>
          </a:xfrm>
          <a:prstGeom prst="rect">
            <a:avLst/>
          </a:prstGeom>
          <a:noFill/>
          <a:ln w="25400" cap="flat" cmpd="sng" algn="ctr">
            <a:noFill/>
            <a:prstDash val="solid"/>
          </a:ln>
          <a:effectLst/>
        </p:spPr>
        <p:txBody>
          <a:bodyPr spcFirstLastPara="1" lIns="91430" tIns="45716" rIns="91430" bIns="45716" numCol="1" anchor="ctr">
            <a:prstTxWarp prst="textArchUp">
              <a:avLst/>
            </a:prstTxWarp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zh-TW" altLang="en-US" sz="1250" b="1" kern="0" spc="50" dirty="0">
                <a:solidFill>
                  <a:srgbClr val="F9F9F9"/>
                </a:solidFill>
                <a:latin typeface="+mj-ea"/>
                <a:ea typeface="+mj-ea"/>
              </a:rPr>
              <a:t>智能應用</a:t>
            </a:r>
            <a:endParaRPr lang="zh-CN" altLang="en-US" sz="1250" b="1" kern="0" spc="50" dirty="0">
              <a:solidFill>
                <a:srgbClr val="F9F9F9"/>
              </a:solidFill>
              <a:latin typeface="+mj-ea"/>
              <a:ea typeface="+mj-ea"/>
            </a:endParaRPr>
          </a:p>
        </p:txBody>
      </p:sp>
      <p:sp>
        <p:nvSpPr>
          <p:cNvPr id="14" name="文本4">
            <a:extLst>
              <a:ext uri="{FF2B5EF4-FFF2-40B4-BE49-F238E27FC236}">
                <a16:creationId xmlns:a16="http://schemas.microsoft.com/office/drawing/2014/main" id="{78D4F5D5-FB34-F55D-6A71-0A542452FEF6}"/>
              </a:ext>
            </a:extLst>
          </p:cNvPr>
          <p:cNvSpPr/>
          <p:nvPr/>
        </p:nvSpPr>
        <p:spPr>
          <a:xfrm>
            <a:off x="542478" y="213828"/>
            <a:ext cx="1020599" cy="786987"/>
          </a:xfrm>
          <a:prstGeom prst="rect">
            <a:avLst/>
          </a:prstGeom>
          <a:noFill/>
          <a:ln w="25400" cap="flat" cmpd="sng" algn="ctr">
            <a:noFill/>
            <a:prstDash val="solid"/>
          </a:ln>
          <a:effectLst/>
        </p:spPr>
        <p:txBody>
          <a:bodyPr spcFirstLastPara="1" lIns="91430" tIns="45716" rIns="91430" bIns="45716" numCol="1" anchor="ctr">
            <a:prstTxWarp prst="textArchUp">
              <a:avLst>
                <a:gd name="adj" fmla="val 14123060"/>
              </a:avLst>
            </a:prstTxWarp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en-US" altLang="zh-TW" sz="1300" b="1" kern="0" spc="50" dirty="0">
                <a:solidFill>
                  <a:srgbClr val="FFFFFF"/>
                </a:solidFill>
                <a:latin typeface="+mj-lt"/>
                <a:ea typeface="微软雅黑" pitchFamily="34" charset="-122"/>
              </a:rPr>
              <a:t>AI</a:t>
            </a:r>
            <a:endParaRPr lang="zh-CN" altLang="en-US" sz="1300" b="1" kern="0" spc="50" dirty="0">
              <a:solidFill>
                <a:srgbClr val="FFFFFF"/>
              </a:solidFill>
              <a:latin typeface="+mj-lt"/>
              <a:ea typeface="微软雅黑" pitchFamily="34" charset="-122"/>
            </a:endParaRPr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7A09AF4E-4844-4B85-27D0-906ACC0D85D6}"/>
              </a:ext>
            </a:extLst>
          </p:cNvPr>
          <p:cNvSpPr txBox="1"/>
          <p:nvPr/>
        </p:nvSpPr>
        <p:spPr>
          <a:xfrm>
            <a:off x="522934" y="760201"/>
            <a:ext cx="106952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 algn="ctr">
              <a:defRPr/>
            </a:pPr>
            <a:r>
              <a:rPr lang="en-US" altLang="zh-TW" sz="1800" b="1" dirty="0">
                <a:solidFill>
                  <a:srgbClr val="F68B1E"/>
                </a:solidFill>
              </a:rPr>
              <a:t>ESG</a:t>
            </a:r>
            <a:r>
              <a:rPr lang="zh-TW" altLang="en-US" sz="1800" b="1" dirty="0">
                <a:solidFill>
                  <a:srgbClr val="F68B1E"/>
                </a:solidFill>
              </a:rPr>
              <a:t>×</a:t>
            </a:r>
            <a:r>
              <a:rPr lang="en-US" altLang="zh-TW" sz="1800" b="1" dirty="0">
                <a:solidFill>
                  <a:srgbClr val="F68B1E"/>
                </a:solidFill>
              </a:rPr>
              <a:t>AI</a:t>
            </a:r>
          </a:p>
          <a:p>
            <a:pPr algn="ctr">
              <a:defRPr/>
            </a:pPr>
            <a:r>
              <a:rPr lang="en-US" altLang="zh-TW" sz="1800" b="1" dirty="0">
                <a:solidFill>
                  <a:srgbClr val="F68B1E"/>
                </a:solidFill>
              </a:rPr>
              <a:t>Moment</a:t>
            </a:r>
            <a:endParaRPr lang="zh-TW" altLang="en-US" sz="1800" b="1" dirty="0">
              <a:solidFill>
                <a:srgbClr val="F68B1E"/>
              </a:solidFill>
            </a:endParaRPr>
          </a:p>
        </p:txBody>
      </p:sp>
      <p:sp>
        <p:nvSpPr>
          <p:cNvPr id="16" name="文本3">
            <a:extLst>
              <a:ext uri="{FF2B5EF4-FFF2-40B4-BE49-F238E27FC236}">
                <a16:creationId xmlns:a16="http://schemas.microsoft.com/office/drawing/2014/main" id="{9A34FA2C-6203-3303-3428-D62BFA1EDFCE}"/>
              </a:ext>
            </a:extLst>
          </p:cNvPr>
          <p:cNvSpPr/>
          <p:nvPr/>
        </p:nvSpPr>
        <p:spPr>
          <a:xfrm rot="18130980">
            <a:off x="307100" y="560858"/>
            <a:ext cx="1119829" cy="786987"/>
          </a:xfrm>
          <a:prstGeom prst="rect">
            <a:avLst/>
          </a:prstGeom>
          <a:noFill/>
          <a:ln w="25400" cap="flat" cmpd="sng" algn="ctr">
            <a:noFill/>
            <a:prstDash val="solid"/>
          </a:ln>
          <a:effectLst/>
        </p:spPr>
        <p:txBody>
          <a:bodyPr spcFirstLastPara="1" lIns="91430" tIns="45716" rIns="91430" bIns="45716" numCol="1" anchor="ctr">
            <a:prstTxWarp prst="textArchUp">
              <a:avLst>
                <a:gd name="adj" fmla="val 13453619"/>
              </a:avLst>
            </a:prstTxWarp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zh-TW" altLang="en-US" sz="1250" b="1" kern="0" spc="50" dirty="0">
                <a:solidFill>
                  <a:srgbClr val="F9F9F9"/>
                </a:solidFill>
                <a:latin typeface="+mj-ea"/>
                <a:ea typeface="+mj-ea"/>
              </a:rPr>
              <a:t>綠色工程</a:t>
            </a:r>
            <a:endParaRPr lang="zh-CN" altLang="en-US" sz="1250" b="1" kern="0" spc="50" dirty="0">
              <a:solidFill>
                <a:srgbClr val="F9F9F9"/>
              </a:solidFill>
              <a:latin typeface="+mj-ea"/>
              <a:ea typeface="+mj-ea"/>
            </a:endParaRPr>
          </a:p>
        </p:txBody>
      </p:sp>
      <p:sp>
        <p:nvSpPr>
          <p:cNvPr id="17" name="文本2">
            <a:extLst>
              <a:ext uri="{FF2B5EF4-FFF2-40B4-BE49-F238E27FC236}">
                <a16:creationId xmlns:a16="http://schemas.microsoft.com/office/drawing/2014/main" id="{74110C53-86C1-B658-B1FC-29F4D23B1EC2}"/>
              </a:ext>
            </a:extLst>
          </p:cNvPr>
          <p:cNvSpPr/>
          <p:nvPr/>
        </p:nvSpPr>
        <p:spPr>
          <a:xfrm rot="21439826">
            <a:off x="531762" y="942840"/>
            <a:ext cx="1055472" cy="786987"/>
          </a:xfrm>
          <a:prstGeom prst="rect">
            <a:avLst/>
          </a:prstGeom>
          <a:noFill/>
          <a:ln w="25400" cap="flat" cmpd="sng" algn="ctr">
            <a:noFill/>
            <a:prstDash val="solid"/>
          </a:ln>
          <a:effectLst/>
        </p:spPr>
        <p:txBody>
          <a:bodyPr spcFirstLastPara="1" lIns="91430" tIns="45716" rIns="91430" bIns="45716" numCol="1" anchor="ctr">
            <a:prstTxWarp prst="textArchDown">
              <a:avLst/>
            </a:prstTxWarp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algn="ctr" defTabSz="457200" rtl="0" eaLnBrk="1" latinLnBrk="0" hangingPunct="1">
              <a:defRPr/>
            </a:pPr>
            <a:r>
              <a:rPr lang="zh-TW" altLang="en-US" sz="1250" b="1" kern="0" spc="200" baseline="0" dirty="0">
                <a:solidFill>
                  <a:srgbClr val="F9F9F9"/>
                </a:solidFill>
                <a:latin typeface="+mj-ea"/>
                <a:ea typeface="+mj-ea"/>
                <a:cs typeface="+mn-cs"/>
              </a:rPr>
              <a:t>循環經濟</a:t>
            </a:r>
            <a:endParaRPr lang="zh-CN" altLang="en-US" sz="1250" b="1" kern="0" spc="200" baseline="0" dirty="0">
              <a:solidFill>
                <a:srgbClr val="F9F9F9"/>
              </a:solidFill>
              <a:latin typeface="+mj-ea"/>
              <a:ea typeface="+mj-ea"/>
              <a:cs typeface="+mn-cs"/>
            </a:endParaRPr>
          </a:p>
        </p:txBody>
      </p:sp>
      <p:sp>
        <p:nvSpPr>
          <p:cNvPr id="22" name="文字方塊 21">
            <a:extLst>
              <a:ext uri="{FF2B5EF4-FFF2-40B4-BE49-F238E27FC236}">
                <a16:creationId xmlns:a16="http://schemas.microsoft.com/office/drawing/2014/main" id="{17D3A872-2CFE-442B-89BF-AC8A606A50D9}"/>
              </a:ext>
            </a:extLst>
          </p:cNvPr>
          <p:cNvSpPr txBox="1"/>
          <p:nvPr/>
        </p:nvSpPr>
        <p:spPr>
          <a:xfrm>
            <a:off x="2080591" y="4692134"/>
            <a:ext cx="9086364" cy="14003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zh-TW" altLang="en-US" sz="1600" b="1" dirty="0"/>
              <a:t>OpenClaw 應用情境：</a:t>
            </a:r>
          </a:p>
          <a:p>
            <a:pPr marL="342900" indent="-342900">
              <a:buFont typeface="+mj-lt"/>
              <a:buAutoNum type="arabicPeriod"/>
            </a:pPr>
            <a:r>
              <a:rPr lang="zh-TW" altLang="en-US" sz="1600" b="1" dirty="0"/>
              <a:t>個人助理自動化：</a:t>
            </a:r>
            <a:r>
              <a:rPr lang="zh-TW" altLang="en-US" sz="1600" dirty="0"/>
              <a:t>透過 WhatsApp 傳訊指令，讓 AI 自動處理郵件、行事曆與文件</a:t>
            </a:r>
          </a:p>
          <a:p>
            <a:pPr marL="342900" indent="-342900">
              <a:buFont typeface="+mj-lt"/>
              <a:buAutoNum type="arabicPeriod"/>
            </a:pPr>
            <a:r>
              <a:rPr lang="zh-TW" altLang="en-US" sz="1600" b="1" dirty="0"/>
              <a:t>跨平台工作流整合：</a:t>
            </a:r>
            <a:r>
              <a:rPr lang="zh-TW" altLang="en-US" sz="1600" dirty="0"/>
              <a:t>串接 GitHub、Gmail、Slack，設定排程自動執行跨服務任務</a:t>
            </a:r>
          </a:p>
        </p:txBody>
      </p:sp>
    </p:spTree>
    <p:extLst>
      <p:ext uri="{BB962C8B-B14F-4D97-AF65-F5344CB8AC3E}">
        <p14:creationId xmlns:p14="http://schemas.microsoft.com/office/powerpoint/2010/main" val="42949243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3">
            <a:extLst>
              <a:ext uri="{FF2B5EF4-FFF2-40B4-BE49-F238E27FC236}">
                <a16:creationId xmlns:a16="http://schemas.microsoft.com/office/drawing/2014/main" id="{54F63527-EE74-12E4-2709-A9A5D093EF55}"/>
              </a:ext>
            </a:extLst>
          </p:cNvPr>
          <p:cNvSpPr txBox="1">
            <a:spLocks/>
          </p:cNvSpPr>
          <p:nvPr/>
        </p:nvSpPr>
        <p:spPr>
          <a:xfrm>
            <a:off x="2091000" y="774000"/>
            <a:ext cx="9903857" cy="685799"/>
          </a:xfrm>
          <a:prstGeom prst="rect">
            <a:avLst/>
          </a:prstGeom>
        </p:spPr>
        <p:txBody>
          <a:bodyPr/>
          <a:lstStyle>
            <a:lvl1pPr algn="l" defTabSz="457200" rtl="0" eaLnBrk="1" latinLnBrk="0" hangingPunct="1">
              <a:spcBef>
                <a:spcPct val="0"/>
              </a:spcBef>
              <a:buNone/>
              <a:defRPr sz="2600" b="1" i="0" kern="1600" spc="0">
                <a:solidFill>
                  <a:srgbClr val="FF9B14"/>
                </a:solidFill>
                <a:latin typeface="+mj-ea"/>
                <a:ea typeface="+mj-ea"/>
                <a:cs typeface="+mj-cs"/>
              </a:defRPr>
            </a:lvl1pPr>
          </a:lstStyle>
          <a:p>
            <a:r>
              <a:rPr lang="en-US" altLang="zh-TW" dirty="0"/>
              <a:t>Introduction of OpenClaw</a:t>
            </a:r>
            <a:endParaRPr lang="zh-TW" altLang="en-US" dirty="0"/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D22ECE2-3AFA-FA60-19CE-E1B2E8319D27}"/>
              </a:ext>
            </a:extLst>
          </p:cNvPr>
          <p:cNvSpPr txBox="1"/>
          <p:nvPr/>
        </p:nvSpPr>
        <p:spPr>
          <a:xfrm>
            <a:off x="2091000" y="1225674"/>
            <a:ext cx="7695000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1600" b="1" dirty="0"/>
              <a:t>OpenClaw </a:t>
            </a:r>
            <a:r>
              <a:rPr lang="en-US" altLang="zh-TW" sz="1600" dirty="0"/>
              <a:t>is an open-source autonomous AI agent running locally, using messaging apps like WhatsApp, Slack, and Telegram as its interface.</a:t>
            </a: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D3CB5163-FE20-D7F2-D41A-04F5291A057B}"/>
              </a:ext>
            </a:extLst>
          </p:cNvPr>
          <p:cNvSpPr txBox="1"/>
          <p:nvPr/>
        </p:nvSpPr>
        <p:spPr>
          <a:xfrm>
            <a:off x="2091000" y="2129371"/>
            <a:ext cx="9231249" cy="22626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TW" sz="1600" b="1" dirty="0"/>
              <a:t>OpenClaw Core Features:</a:t>
            </a:r>
            <a:endParaRPr lang="en-US" altLang="zh-TW" sz="1600" dirty="0"/>
          </a:p>
          <a:p>
            <a:pPr marL="800100" lvl="1" indent="-342900">
              <a:lnSpc>
                <a:spcPct val="120000"/>
              </a:lnSpc>
              <a:buFont typeface="+mj-lt"/>
              <a:buAutoNum type="arabicPeriod"/>
            </a:pPr>
            <a:r>
              <a:rPr lang="en-US" altLang="zh-TW" sz="1600" b="1" dirty="0"/>
              <a:t>Platform Integration: </a:t>
            </a:r>
            <a:r>
              <a:rPr lang="en-US" altLang="zh-TW" sz="1600" dirty="0"/>
              <a:t>Supports WhatsApp, Telegram, Slack and 20+ messaging apps as UI</a:t>
            </a:r>
          </a:p>
          <a:p>
            <a:pPr marL="800100" lvl="1" indent="-342900">
              <a:lnSpc>
                <a:spcPct val="120000"/>
              </a:lnSpc>
              <a:buFont typeface="+mj-lt"/>
              <a:buAutoNum type="arabicPeriod"/>
            </a:pPr>
            <a:r>
              <a:rPr lang="en-US" altLang="zh-TW" sz="1600" b="1" dirty="0"/>
              <a:t>Skills Ecosystem: </a:t>
            </a:r>
            <a:r>
              <a:rPr lang="en-US" altLang="zh-TW" sz="1600" dirty="0"/>
              <a:t>100+ built-in skills and 13,000+ community skills available</a:t>
            </a:r>
          </a:p>
          <a:p>
            <a:pPr marL="800100" lvl="1" indent="-342900">
              <a:lnSpc>
                <a:spcPct val="120000"/>
              </a:lnSpc>
              <a:buFont typeface="+mj-lt"/>
              <a:buAutoNum type="arabicPeriod"/>
            </a:pPr>
            <a:r>
              <a:rPr lang="en-US" altLang="zh-TW" sz="1600" b="1" dirty="0"/>
              <a:t>Multi-Model Support: </a:t>
            </a:r>
            <a:r>
              <a:rPr lang="en-US" altLang="zh-TW" sz="1600" dirty="0"/>
              <a:t>Works with GPT-4, Claude, Gemini and other major LLMs</a:t>
            </a:r>
          </a:p>
          <a:p>
            <a:pPr marL="800100" lvl="1" indent="-342900">
              <a:lnSpc>
                <a:spcPct val="120000"/>
              </a:lnSpc>
              <a:buFont typeface="+mj-lt"/>
              <a:buAutoNum type="arabicPeriod"/>
            </a:pPr>
            <a:r>
              <a:rPr lang="en-US" altLang="zh-TW" sz="1600" b="1" dirty="0"/>
              <a:t>Local Private Deployment: </a:t>
            </a:r>
            <a:r>
              <a:rPr lang="en-US" altLang="zh-TW" sz="1600" dirty="0"/>
              <a:t>Runs entirely on-device for privacy on Windows, Mac, Linux</a:t>
            </a: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CD3EF5FA-8CA6-81ED-5C94-1F1B30702426}"/>
              </a:ext>
            </a:extLst>
          </p:cNvPr>
          <p:cNvSpPr txBox="1"/>
          <p:nvPr/>
        </p:nvSpPr>
        <p:spPr>
          <a:xfrm>
            <a:off x="1416000" y="6392001"/>
            <a:ext cx="6096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zh-TW" sz="1200" b="0" i="0" dirty="0">
                <a:effectLst/>
              </a:rPr>
              <a:t>https://openclaw.ai</a:t>
            </a: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01F130D7-1AF4-4CB5-863A-09D76A958834}"/>
              </a:ext>
            </a:extLst>
          </p:cNvPr>
          <p:cNvSpPr txBox="1"/>
          <p:nvPr/>
        </p:nvSpPr>
        <p:spPr>
          <a:xfrm>
            <a:off x="2121061" y="4454565"/>
            <a:ext cx="9231248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1600" b="1" dirty="0"/>
              <a:t>OpenClaw Application Scenarios:</a:t>
            </a:r>
            <a:endParaRPr lang="en-US" altLang="zh-TW" sz="1600" dirty="0"/>
          </a:p>
          <a:p>
            <a:pPr marL="342900" indent="-342900">
              <a:buFont typeface="+mj-lt"/>
              <a:buAutoNum type="arabicPeriod"/>
            </a:pPr>
            <a:r>
              <a:rPr lang="en-US" altLang="zh-TW" sz="1600" b="1" dirty="0"/>
              <a:t>Personal AI Assistant: </a:t>
            </a:r>
            <a:r>
              <a:rPr lang="en-US" altLang="zh-TW" sz="1600" dirty="0"/>
              <a:t>Send commands via WhatsApp to automate email, calendar and files</a:t>
            </a:r>
          </a:p>
          <a:p>
            <a:pPr marL="342900" indent="-342900">
              <a:buFont typeface="+mj-lt"/>
              <a:buAutoNum type="arabicPeriod"/>
            </a:pPr>
            <a:r>
              <a:rPr lang="en-US" altLang="zh-TW" sz="1600" b="1" dirty="0"/>
              <a:t>Cross-Platform Workflows: </a:t>
            </a:r>
            <a:r>
              <a:rPr lang="en-US" altLang="zh-TW" sz="1600" dirty="0"/>
              <a:t>Connect GitHub, Gmail, Slack for cross-service scheduled tasks</a:t>
            </a:r>
          </a:p>
        </p:txBody>
      </p:sp>
    </p:spTree>
    <p:extLst>
      <p:ext uri="{BB962C8B-B14F-4D97-AF65-F5344CB8AC3E}">
        <p14:creationId xmlns:p14="http://schemas.microsoft.com/office/powerpoint/2010/main" val="1152863252"/>
      </p:ext>
    </p:extLst>
  </p:cSld>
  <p:clrMapOvr>
    <a:masterClrMapping/>
  </p:clrMapOvr>
</p:sld>
</file>

<file path=ppt/theme/theme1.xml><?xml version="1.0" encoding="utf-8"?>
<a:theme xmlns:a="http://schemas.openxmlformats.org/drawingml/2006/main" name="8_CTCI_PPT-Template">
  <a:themeElements>
    <a:clrScheme name="Custom 3">
      <a:dk1>
        <a:srgbClr val="212121"/>
      </a:dk1>
      <a:lt1>
        <a:sysClr val="window" lastClr="FFFFFF"/>
      </a:lt1>
      <a:dk2>
        <a:srgbClr val="414448"/>
      </a:dk2>
      <a:lt2>
        <a:srgbClr val="F8F8F8"/>
      </a:lt2>
      <a:accent1>
        <a:srgbClr val="F58F17"/>
      </a:accent1>
      <a:accent2>
        <a:srgbClr val="FFDD00"/>
      </a:accent2>
      <a:accent3>
        <a:srgbClr val="E55A25"/>
      </a:accent3>
      <a:accent4>
        <a:srgbClr val="D5DF30"/>
      </a:accent4>
      <a:accent5>
        <a:srgbClr val="1B9F84"/>
      </a:accent5>
      <a:accent6>
        <a:srgbClr val="6E4233"/>
      </a:accent6>
      <a:hlink>
        <a:srgbClr val="0A5BC3"/>
      </a:hlink>
      <a:folHlink>
        <a:srgbClr val="601DAF"/>
      </a:folHlink>
    </a:clrScheme>
    <a:fontScheme name="Office 古典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CTCI_PPT-Template" id="{D737F933-4CE4-4BFD-8AFF-C2DE44DF1FF1}" vid="{873E4518-2A1A-456E-8196-F036EA5B895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47677</TotalTime>
  <Words>812</Words>
  <Application>Microsoft Office PowerPoint</Application>
  <PresentationFormat>寬螢幕</PresentationFormat>
  <Paragraphs>54</Paragraphs>
  <Slides>2</Slides>
  <Notes>2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</vt:i4>
      </vt:variant>
    </vt:vector>
  </HeadingPairs>
  <TitlesOfParts>
    <vt:vector size="6" baseType="lpstr">
      <vt:lpstr>微軟正黑體</vt:lpstr>
      <vt:lpstr>Arial</vt:lpstr>
      <vt:lpstr>Calibri</vt:lpstr>
      <vt:lpstr>8_CTCI_PPT-Template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ddg</dc:creator>
  <cp:lastModifiedBy>鎰群 蔡</cp:lastModifiedBy>
  <cp:revision>2182</cp:revision>
  <cp:lastPrinted>2025-05-08T05:57:21Z</cp:lastPrinted>
  <dcterms:created xsi:type="dcterms:W3CDTF">2016-04-15T01:59:57Z</dcterms:created>
  <dcterms:modified xsi:type="dcterms:W3CDTF">2026-03-25T06:27:22Z</dcterms:modified>
</cp:coreProperties>
</file>