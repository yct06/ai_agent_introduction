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9" r:id="rId1"/>
  </p:sldMasterIdLst>
  <p:notesMasterIdLst>
    <p:notesMasterId r:id="rId4"/>
  </p:notesMasterIdLst>
  <p:handoutMasterIdLst>
    <p:handoutMasterId r:id="rId5"/>
  </p:handoutMasterIdLst>
  <p:sldIdLst>
    <p:sldId id="266" r:id="rId2"/>
    <p:sldId id="808" r:id="rId3"/>
  </p:sldIdLst>
  <p:sldSz cx="12192000" cy="6858000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320A71D-06E2-4CA3-9A89-69B3A7FD7D4D}">
          <p14:sldIdLst>
            <p14:sldId id="266"/>
            <p14:sldId id="8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彥 Lin" initials="彥" lastIdx="1" clrIdx="0">
    <p:extLst>
      <p:ext uri="{19B8F6BF-5375-455C-9EA6-DF929625EA0E}">
        <p15:presenceInfo xmlns:p15="http://schemas.microsoft.com/office/powerpoint/2012/main" userId="0670ca2f1b37ee7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B0F0"/>
    <a:srgbClr val="F58F17"/>
    <a:srgbClr val="66FFFF"/>
    <a:srgbClr val="E2F0D9"/>
    <a:srgbClr val="E6FCDC"/>
    <a:srgbClr val="FFFFFF"/>
    <a:srgbClr val="CC9900"/>
    <a:srgbClr val="CCFFCC"/>
    <a:srgbClr val="FFB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80485" autoAdjust="0"/>
  </p:normalViewPr>
  <p:slideViewPr>
    <p:cSldViewPr snapToObjects="1">
      <p:cViewPr varScale="1">
        <p:scale>
          <a:sx n="77" d="100"/>
          <a:sy n="77" d="100"/>
        </p:scale>
        <p:origin x="140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47" d="100"/>
          <a:sy n="47" d="100"/>
        </p:scale>
        <p:origin x="-2652" y="-76"/>
      </p:cViewPr>
      <p:guideLst>
        <p:guide orient="horz" pos="3131"/>
        <p:guide pos="2144"/>
      </p:guideLst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D9A13432-9FC4-4847-B369-E5C0DDD918E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6DA8EFFE-14FE-124F-B2CE-32BD85ED3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024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97A39107-8806-4BBD-94FE-73E6724A9D6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696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1548752F-E1F0-9041-9BBB-203AF400B1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8234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Dify 是一個開源的 LLM 應用開發平台，由 LangGenius 團隊開發，讓開發者與非技術人員都能快速建立 AI 應用程式，無需深厚的程式設計背景。</a:t>
            </a:r>
          </a:p>
          <a:p>
            <a:endParaRPr lang="zh-TW" altLang="en-US" dirty="0"/>
          </a:p>
          <a:p>
            <a:r>
              <a:rPr lang="zh-TW" altLang="en-US" dirty="0"/>
              <a:t>Dify 的四大核心功能：</a:t>
            </a:r>
          </a:p>
          <a:p>
            <a:r>
              <a:rPr lang="zh-TW" altLang="en-US" dirty="0"/>
              <a:t>1. 視覺化工作流（Workflow）：以拖放介面設計複雜 AI 流程，整合多個模型與工具節點。</a:t>
            </a:r>
          </a:p>
          <a:p>
            <a:r>
              <a:rPr lang="zh-TW" altLang="en-US" dirty="0"/>
              <a:t>2. 知識庫（RAG）：上傳公司文件建立企業知識庫，實現精準的文件問答功能。</a:t>
            </a:r>
          </a:p>
          <a:p>
            <a:r>
              <a:rPr lang="zh-TW" altLang="en-US" dirty="0"/>
              <a:t>3. 多模型支援：支援 OpenAI、Claude、Llama 等主流大型語言模型，可靈活切換。</a:t>
            </a:r>
          </a:p>
          <a:p>
            <a:r>
              <a:rPr lang="zh-TW" altLang="en-US" dirty="0"/>
              <a:t>4. 一鍵 API 部署：快速生成後端 API 端點，輕鬆整合至現有業務系統。</a:t>
            </a:r>
          </a:p>
          <a:p>
            <a:endParaRPr lang="zh-TW" altLang="en-US" dirty="0"/>
          </a:p>
          <a:p>
            <a:r>
              <a:rPr lang="zh-TW" altLang="en-US" dirty="0"/>
              <a:t>應用情境：企業可利用 Dify 建立內部知識問答助理，提升資訊查詢效率；或設計包含文件分析、資料摘要、自動回覆等多步驟 AI 自動化工作流程。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7A39107-8806-4BBD-94FE-73E6724A9D6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48752F-E1F0-9041-9BBB-203AF400B13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07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Dify is an open-source LLM application development platform developed by LangGenius, enabling developers and non-technical users to quickly build AI applications.</a:t>
            </a:r>
          </a:p>
          <a:p>
            <a:endParaRPr lang="en-US" altLang="zh-TW" dirty="0"/>
          </a:p>
          <a:p>
            <a:r>
              <a:rPr lang="en-US" altLang="zh-TW" dirty="0"/>
              <a:t>Four core features:</a:t>
            </a:r>
          </a:p>
          <a:p>
            <a:r>
              <a:rPr lang="en-US" altLang="zh-TW" dirty="0"/>
              <a:t>1. Visual Workflow Builder: Drag-and-drop interface for designing complex AI pipelines with multiple models and tools.</a:t>
            </a:r>
          </a:p>
          <a:p>
            <a:r>
              <a:rPr lang="en-US" altLang="zh-TW" dirty="0"/>
              <a:t>2. Knowledge Base (RAG): Upload company documents to build enterprise knowledge bases for precise Q&amp;A.</a:t>
            </a:r>
          </a:p>
          <a:p>
            <a:r>
              <a:rPr lang="en-US" altLang="zh-TW" dirty="0"/>
              <a:t>3. Multi-Model Support: Integrates OpenAI, Claude, Llama, and other major LLMs with flexible switching.</a:t>
            </a:r>
          </a:p>
          <a:p>
            <a:r>
              <a:rPr lang="en-US" altLang="zh-TW" dirty="0"/>
              <a:t>4. One-Click API Deployment: Quickly generate backend API endpoints for seamless system integration.</a:t>
            </a:r>
          </a:p>
          <a:p>
            <a:endParaRPr lang="en-US" altLang="zh-TW" dirty="0"/>
          </a:p>
          <a:p>
            <a:r>
              <a:rPr lang="en-US" altLang="zh-TW" dirty="0"/>
              <a:t>Use cases: Building enterprise knowledge Q&amp;A assistants to improve information retrieval, or designing multi-step AI automation workflows for document analysis, summarization, and auto-reply.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7A39107-8806-4BBD-94FE-73E6724A9D6B}" type="datetime1">
              <a:rPr lang="zh-TW" altLang="en-US" smtClean="0"/>
              <a:t>2026/3/25</a:t>
            </a:fld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48752F-E1F0-9041-9BBB-203AF400B13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25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rot="10800000" flipV="1">
            <a:off x="335361" y="6111446"/>
            <a:ext cx="4076700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*Reference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2210070" y="1695934"/>
            <a:ext cx="9019365" cy="4303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48A641F-6B40-4CAC-BBE9-8CA1DD0C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69" y="633198"/>
            <a:ext cx="9237133" cy="6857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23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rot="10800000" flipV="1">
            <a:off x="335360" y="6381328"/>
            <a:ext cx="4076700" cy="30777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altLang="zh-TW" sz="14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*Reference</a:t>
            </a:r>
            <a:r>
              <a:rPr lang="zh-TW" altLang="en-US" sz="14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：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2241951" y="1773238"/>
            <a:ext cx="8641357" cy="410403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5659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7568" y="654969"/>
            <a:ext cx="9237133" cy="6857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7568" y="1773238"/>
            <a:ext cx="9205152" cy="4295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pic>
        <p:nvPicPr>
          <p:cNvPr id="46" name="圖片 45">
            <a:extLst>
              <a:ext uri="{FF2B5EF4-FFF2-40B4-BE49-F238E27FC236}">
                <a16:creationId xmlns:a16="http://schemas.microsoft.com/office/drawing/2014/main" id="{65700FA4-6B5A-4344-93B4-EF9B2B2464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4368" y="6150903"/>
            <a:ext cx="1411939" cy="685799"/>
          </a:xfrm>
          <a:prstGeom prst="rect">
            <a:avLst/>
          </a:prstGeom>
        </p:spPr>
      </p:pic>
      <p:sp>
        <p:nvSpPr>
          <p:cNvPr id="109" name="Donut 13">
            <a:extLst>
              <a:ext uri="{FF2B5EF4-FFF2-40B4-BE49-F238E27FC236}">
                <a16:creationId xmlns:a16="http://schemas.microsoft.com/office/drawing/2014/main" id="{E92A82C1-90BC-43D5-AA61-AA2730C1A030}"/>
              </a:ext>
            </a:extLst>
          </p:cNvPr>
          <p:cNvSpPr/>
          <p:nvPr userDrawn="1"/>
        </p:nvSpPr>
        <p:spPr>
          <a:xfrm rot="7488651">
            <a:off x="648655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0CEB6239-B178-43C1-B5AF-34A10090C37C}"/>
              </a:ext>
            </a:extLst>
          </p:cNvPr>
          <p:cNvSpPr/>
          <p:nvPr userDrawn="1"/>
        </p:nvSpPr>
        <p:spPr>
          <a:xfrm>
            <a:off x="278230" y="256526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5EF831DA-7834-4C6F-9874-5D77997FEE51}"/>
              </a:ext>
            </a:extLst>
          </p:cNvPr>
          <p:cNvSpPr/>
          <p:nvPr userDrawn="1"/>
        </p:nvSpPr>
        <p:spPr>
          <a:xfrm>
            <a:off x="104141" y="106293"/>
            <a:ext cx="1908000" cy="1908000"/>
          </a:xfrm>
          <a:prstGeom prst="ellipse">
            <a:avLst/>
          </a:prstGeom>
          <a:solidFill>
            <a:srgbClr val="FDB912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DD54DB3C-F0ED-4314-8860-3E25BDB060C6}"/>
              </a:ext>
            </a:extLst>
          </p:cNvPr>
          <p:cNvSpPr/>
          <p:nvPr userDrawn="1"/>
        </p:nvSpPr>
        <p:spPr>
          <a:xfrm>
            <a:off x="262327" y="264477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3" name="Donut 13">
            <a:extLst>
              <a:ext uri="{FF2B5EF4-FFF2-40B4-BE49-F238E27FC236}">
                <a16:creationId xmlns:a16="http://schemas.microsoft.com/office/drawing/2014/main" id="{B40AC9B7-6D87-470B-BB8A-C1434F8D1A70}"/>
              </a:ext>
            </a:extLst>
          </p:cNvPr>
          <p:cNvSpPr/>
          <p:nvPr userDrawn="1"/>
        </p:nvSpPr>
        <p:spPr>
          <a:xfrm rot="267487">
            <a:off x="1014670" y="337716"/>
            <a:ext cx="818077" cy="1047779"/>
          </a:xfrm>
          <a:custGeom>
            <a:avLst/>
            <a:gdLst/>
            <a:ahLst/>
            <a:cxnLst/>
            <a:rect l="l" t="t" r="r" b="b"/>
            <a:pathLst>
              <a:path w="1911628" h="2448370">
                <a:moveTo>
                  <a:pt x="159028" y="0"/>
                </a:move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1660"/>
                  <a:pt x="1871438" y="2181334"/>
                  <a:pt x="1796069" y="2373897"/>
                </a:cubicBezTo>
                <a:lnTo>
                  <a:pt x="1484520" y="2448370"/>
                </a:lnTo>
                <a:lnTo>
                  <a:pt x="1376590" y="2085315"/>
                </a:lnTo>
                <a:cubicBezTo>
                  <a:pt x="1406890" y="1979599"/>
                  <a:pt x="1422337" y="1867904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lose/>
              </a:path>
            </a:pathLst>
          </a:custGeom>
          <a:solidFill>
            <a:srgbClr val="15A085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4" name="Donut 13">
            <a:extLst>
              <a:ext uri="{FF2B5EF4-FFF2-40B4-BE49-F238E27FC236}">
                <a16:creationId xmlns:a16="http://schemas.microsoft.com/office/drawing/2014/main" id="{46B1BA03-0289-4E43-96A7-AC24CD4B1D7C}"/>
              </a:ext>
            </a:extLst>
          </p:cNvPr>
          <p:cNvSpPr/>
          <p:nvPr userDrawn="1"/>
        </p:nvSpPr>
        <p:spPr>
          <a:xfrm rot="7488651">
            <a:off x="648656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5" name="Donut 13">
            <a:extLst>
              <a:ext uri="{FF2B5EF4-FFF2-40B4-BE49-F238E27FC236}">
                <a16:creationId xmlns:a16="http://schemas.microsoft.com/office/drawing/2014/main" id="{3F09961C-7BBD-48A7-8384-EE7BAC8FF8BD}"/>
              </a:ext>
            </a:extLst>
          </p:cNvPr>
          <p:cNvSpPr/>
          <p:nvPr userDrawn="1"/>
        </p:nvSpPr>
        <p:spPr>
          <a:xfrm rot="14667487">
            <a:off x="306207" y="328874"/>
            <a:ext cx="818081" cy="1046057"/>
          </a:xfrm>
          <a:custGeom>
            <a:avLst/>
            <a:gdLst/>
            <a:ahLst/>
            <a:cxnLst/>
            <a:rect l="l" t="t" r="r" b="b"/>
            <a:pathLst>
              <a:path w="1911628" h="2444355">
                <a:moveTo>
                  <a:pt x="1797134" y="2370766"/>
                </a:moveTo>
                <a:lnTo>
                  <a:pt x="1489282" y="2444355"/>
                </a:lnTo>
                <a:lnTo>
                  <a:pt x="1379591" y="2075377"/>
                </a:lnTo>
                <a:cubicBezTo>
                  <a:pt x="1407847" y="1972569"/>
                  <a:pt x="1422337" y="1864277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0493"/>
                  <a:pt x="1871865" y="2179100"/>
                  <a:pt x="1797134" y="2370766"/>
                </a:cubicBezTo>
                <a:close/>
              </a:path>
            </a:pathLst>
          </a:custGeom>
          <a:solidFill>
            <a:srgbClr val="95CB6E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7" name="文本4">
            <a:extLst>
              <a:ext uri="{FF2B5EF4-FFF2-40B4-BE49-F238E27FC236}">
                <a16:creationId xmlns:a16="http://schemas.microsoft.com/office/drawing/2014/main" id="{CCB6C943-DEEC-49E0-95B1-F8863118261A}"/>
              </a:ext>
            </a:extLst>
          </p:cNvPr>
          <p:cNvSpPr/>
          <p:nvPr userDrawn="1"/>
        </p:nvSpPr>
        <p:spPr>
          <a:xfrm>
            <a:off x="542478" y="213828"/>
            <a:ext cx="1020599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4123060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300" b="1" kern="0" spc="50" dirty="0">
                <a:solidFill>
                  <a:srgbClr val="FFFFFF"/>
                </a:solidFill>
                <a:latin typeface="+mj-lt"/>
                <a:ea typeface="微软雅黑" pitchFamily="34" charset="-122"/>
              </a:rPr>
              <a:t>AI</a:t>
            </a:r>
            <a:endParaRPr lang="zh-CN" altLang="en-US" sz="1300" b="1" kern="0" spc="50" dirty="0">
              <a:solidFill>
                <a:srgbClr val="FFFFFF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4B1F5FAD-0D72-4D58-9A05-3672AFB54416}"/>
              </a:ext>
            </a:extLst>
          </p:cNvPr>
          <p:cNvSpPr txBox="1"/>
          <p:nvPr userDrawn="1"/>
        </p:nvSpPr>
        <p:spPr>
          <a:xfrm>
            <a:off x="522934" y="760201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ESG</a:t>
            </a:r>
            <a:r>
              <a:rPr lang="zh-TW" altLang="en-US" sz="1800" b="1" dirty="0">
                <a:solidFill>
                  <a:srgbClr val="F68B1E"/>
                </a:solidFill>
              </a:rPr>
              <a:t>×</a:t>
            </a:r>
            <a:r>
              <a:rPr lang="en-US" altLang="zh-TW" sz="1800" b="1" dirty="0">
                <a:solidFill>
                  <a:srgbClr val="F68B1E"/>
                </a:solidFill>
              </a:rPr>
              <a:t>AI</a:t>
            </a:r>
          </a:p>
          <a:p>
            <a:pPr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Moment</a:t>
            </a:r>
            <a:endParaRPr lang="zh-TW" altLang="en-US" sz="1800" b="1" dirty="0">
              <a:solidFill>
                <a:srgbClr val="F68B1E"/>
              </a:solidFill>
            </a:endParaRPr>
          </a:p>
        </p:txBody>
      </p:sp>
      <p:sp>
        <p:nvSpPr>
          <p:cNvPr id="121" name="文本3">
            <a:extLst>
              <a:ext uri="{FF2B5EF4-FFF2-40B4-BE49-F238E27FC236}">
                <a16:creationId xmlns:a16="http://schemas.microsoft.com/office/drawing/2014/main" id="{9E9EDB26-682A-4589-A18A-5FE3BDFD1085}"/>
              </a:ext>
            </a:extLst>
          </p:cNvPr>
          <p:cNvSpPr/>
          <p:nvPr userDrawn="1"/>
        </p:nvSpPr>
        <p:spPr>
          <a:xfrm rot="18153499">
            <a:off x="376375" y="454927"/>
            <a:ext cx="1213438" cy="107513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2808063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100" b="1" kern="0" spc="50" dirty="0">
                <a:solidFill>
                  <a:srgbClr val="F9F9F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Green Engineering</a:t>
            </a:r>
          </a:p>
        </p:txBody>
      </p:sp>
      <p:sp>
        <p:nvSpPr>
          <p:cNvPr id="122" name="文本1">
            <a:extLst>
              <a:ext uri="{FF2B5EF4-FFF2-40B4-BE49-F238E27FC236}">
                <a16:creationId xmlns:a16="http://schemas.microsoft.com/office/drawing/2014/main" id="{45CE7E33-C3AD-4068-B492-DD13ACAA5178}"/>
              </a:ext>
            </a:extLst>
          </p:cNvPr>
          <p:cNvSpPr/>
          <p:nvPr userDrawn="1"/>
        </p:nvSpPr>
        <p:spPr>
          <a:xfrm rot="3741566">
            <a:off x="339897" y="388826"/>
            <a:ext cx="1335747" cy="142081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3174737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100" b="1" kern="0" spc="50" dirty="0">
                <a:solidFill>
                  <a:srgbClr val="F9F9F9"/>
                </a:solidFill>
                <a:ea typeface="+mj-ea"/>
              </a:rPr>
              <a:t>Smart applications</a:t>
            </a:r>
          </a:p>
        </p:txBody>
      </p:sp>
      <p:sp>
        <p:nvSpPr>
          <p:cNvPr id="123" name="文本2">
            <a:extLst>
              <a:ext uri="{FF2B5EF4-FFF2-40B4-BE49-F238E27FC236}">
                <a16:creationId xmlns:a16="http://schemas.microsoft.com/office/drawing/2014/main" id="{10B86328-7A99-43DE-8848-E201756BCC99}"/>
              </a:ext>
            </a:extLst>
          </p:cNvPr>
          <p:cNvSpPr/>
          <p:nvPr userDrawn="1"/>
        </p:nvSpPr>
        <p:spPr>
          <a:xfrm rot="11005674">
            <a:off x="418523" y="542041"/>
            <a:ext cx="1273771" cy="116394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2981818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100" b="1" kern="0" spc="50" dirty="0">
                <a:solidFill>
                  <a:srgbClr val="F9F9F9"/>
                </a:solidFill>
                <a:ea typeface="+mj-ea"/>
              </a:rPr>
              <a:t>Circular Economy</a:t>
            </a:r>
          </a:p>
        </p:txBody>
      </p:sp>
    </p:spTree>
    <p:extLst>
      <p:ext uri="{BB962C8B-B14F-4D97-AF65-F5344CB8AC3E}">
        <p14:creationId xmlns:p14="http://schemas.microsoft.com/office/powerpoint/2010/main" val="158274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600" b="1" i="0" kern="1600" spc="0">
          <a:solidFill>
            <a:srgbClr val="FF9B14"/>
          </a:solidFill>
          <a:latin typeface="+mj-ea"/>
          <a:ea typeface="+mj-ea"/>
          <a:cs typeface="+mj-cs"/>
        </a:defRPr>
      </a:lvl1pPr>
    </p:titleStyle>
    <p:bodyStyle>
      <a:lvl1pPr marL="180000" indent="-180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10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1pPr>
      <a:lvl2pPr marL="540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2pPr>
      <a:lvl3pPr marL="900000" indent="-180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9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3pPr>
      <a:lvl4pPr marL="1260000" indent="-216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9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4pPr>
      <a:lvl5pPr marL="1620000" indent="-180000" algn="l" defTabSz="4572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FF9B14"/>
        </a:buClr>
        <a:buSzPct val="90000"/>
        <a:buFont typeface="Arial"/>
        <a:buChar char="•"/>
        <a:defRPr sz="1600" kern="1200">
          <a:solidFill>
            <a:srgbClr val="282828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1391">
          <p15:clr>
            <a:srgbClr val="F26B43"/>
          </p15:clr>
        </p15:guide>
        <p15:guide id="3" orient="horz" pos="7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>
            <a:extLst>
              <a:ext uri="{FF2B5EF4-FFF2-40B4-BE49-F238E27FC236}">
                <a16:creationId xmlns:a16="http://schemas.microsoft.com/office/drawing/2014/main" id="{54F63527-EE74-12E4-2709-A9A5D093EF55}"/>
              </a:ext>
            </a:extLst>
          </p:cNvPr>
          <p:cNvSpPr txBox="1">
            <a:spLocks/>
          </p:cNvSpPr>
          <p:nvPr/>
        </p:nvSpPr>
        <p:spPr>
          <a:xfrm>
            <a:off x="2091000" y="774000"/>
            <a:ext cx="9903857" cy="68579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600" spc="0">
                <a:solidFill>
                  <a:srgbClr val="FF9B14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TW" dirty="0"/>
              <a:t>Dify </a:t>
            </a:r>
            <a:r>
              <a:rPr lang="zh-TW" altLang="zh-TW" dirty="0"/>
              <a:t>介紹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22ECE2-3AFA-FA60-19CE-E1B2E8319D27}"/>
              </a:ext>
            </a:extLst>
          </p:cNvPr>
          <p:cNvSpPr txBox="1"/>
          <p:nvPr/>
        </p:nvSpPr>
        <p:spPr>
          <a:xfrm>
            <a:off x="2091000" y="1543762"/>
            <a:ext cx="91222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Dify </a:t>
            </a:r>
            <a:r>
              <a:rPr lang="zh-TW" altLang="en-US" sz="1600" dirty="0"/>
              <a:t>是一個開源的 LLM 應用開發平台，讓開發者與非技術人員都能快速建立 AI 應用程式，無需深厚的程式設計背景。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3CB5163-FE20-D7F2-D41A-04F5291A057B}"/>
              </a:ext>
            </a:extLst>
          </p:cNvPr>
          <p:cNvSpPr txBox="1"/>
          <p:nvPr/>
        </p:nvSpPr>
        <p:spPr>
          <a:xfrm>
            <a:off x="2044727" y="2195148"/>
            <a:ext cx="9122228" cy="2262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/>
              <a:t>Dify 核心功能：</a:t>
            </a:r>
            <a:endParaRPr lang="zh-TW" altLang="en-US" sz="160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視覺化工作流（Workflow）：</a:t>
            </a:r>
            <a:r>
              <a:rPr lang="zh-TW" altLang="en-US" sz="1600" dirty="0"/>
              <a:t>以拖放介面設計複雜 AI 流程，整合多個模型與工具節點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知識庫（RAG）：</a:t>
            </a:r>
            <a:r>
              <a:rPr lang="zh-TW" altLang="en-US" sz="1600" dirty="0"/>
              <a:t>上傳文件建立企業知識庫，實現精準的文件問答功能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多模型支援：</a:t>
            </a:r>
            <a:r>
              <a:rPr lang="zh-TW" altLang="en-US" sz="1600" dirty="0"/>
              <a:t>支援 OpenAI、Claude、Llama 等主流大型語言模型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b="1" dirty="0"/>
              <a:t>一鍵 API 部署：</a:t>
            </a:r>
            <a:r>
              <a:rPr lang="zh-TW" altLang="en-US" sz="1600" dirty="0"/>
              <a:t>快速生成後端 API 端點，輕鬆整合至現有業務系統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3EF5FA-8CA6-81ED-5C94-1F1B30702426}"/>
              </a:ext>
            </a:extLst>
          </p:cNvPr>
          <p:cNvSpPr txBox="1"/>
          <p:nvPr/>
        </p:nvSpPr>
        <p:spPr>
          <a:xfrm>
            <a:off x="1416000" y="6392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1200" b="0" i="0" dirty="0">
                <a:effectLst/>
              </a:rPr>
              <a:t>https://dify.ai</a:t>
            </a:r>
          </a:p>
        </p:txBody>
      </p:sp>
      <p:sp>
        <p:nvSpPr>
          <p:cNvPr id="2" name="Donut 13">
            <a:extLst>
              <a:ext uri="{FF2B5EF4-FFF2-40B4-BE49-F238E27FC236}">
                <a16:creationId xmlns:a16="http://schemas.microsoft.com/office/drawing/2014/main" id="{B984062B-8AED-9BC4-2414-30C94F3206AB}"/>
              </a:ext>
            </a:extLst>
          </p:cNvPr>
          <p:cNvSpPr/>
          <p:nvPr/>
        </p:nvSpPr>
        <p:spPr>
          <a:xfrm rot="7488651">
            <a:off x="648655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F57E8F6-BAE5-CBF2-DDAC-A56A2B023508}"/>
              </a:ext>
            </a:extLst>
          </p:cNvPr>
          <p:cNvSpPr/>
          <p:nvPr/>
        </p:nvSpPr>
        <p:spPr>
          <a:xfrm>
            <a:off x="278230" y="256526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E818116-1E09-E5CE-B7B1-3855AB69B8D5}"/>
              </a:ext>
            </a:extLst>
          </p:cNvPr>
          <p:cNvSpPr/>
          <p:nvPr/>
        </p:nvSpPr>
        <p:spPr>
          <a:xfrm>
            <a:off x="104141" y="106293"/>
            <a:ext cx="1908000" cy="1908000"/>
          </a:xfrm>
          <a:prstGeom prst="ellipse">
            <a:avLst/>
          </a:prstGeom>
          <a:solidFill>
            <a:srgbClr val="FDB912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F916DB0C-C5BC-8148-B091-89D763A8FBFB}"/>
              </a:ext>
            </a:extLst>
          </p:cNvPr>
          <p:cNvSpPr/>
          <p:nvPr/>
        </p:nvSpPr>
        <p:spPr>
          <a:xfrm>
            <a:off x="262327" y="264477"/>
            <a:ext cx="1591626" cy="1591632"/>
          </a:xfrm>
          <a:prstGeom prst="ellipse">
            <a:avLst/>
          </a:prstGeom>
          <a:solidFill>
            <a:sysClr val="window" lastClr="FFFFFF"/>
          </a:solidFill>
          <a:ln w="384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Donut 13">
            <a:extLst>
              <a:ext uri="{FF2B5EF4-FFF2-40B4-BE49-F238E27FC236}">
                <a16:creationId xmlns:a16="http://schemas.microsoft.com/office/drawing/2014/main" id="{F0A695E6-54FF-D8FC-6CBC-076B9AE2EB6E}"/>
              </a:ext>
            </a:extLst>
          </p:cNvPr>
          <p:cNvSpPr/>
          <p:nvPr/>
        </p:nvSpPr>
        <p:spPr>
          <a:xfrm rot="267487">
            <a:off x="1014670" y="337716"/>
            <a:ext cx="818077" cy="1047779"/>
          </a:xfrm>
          <a:custGeom>
            <a:avLst/>
            <a:gdLst/>
            <a:ahLst/>
            <a:cxnLst/>
            <a:rect l="l" t="t" r="r" b="b"/>
            <a:pathLst>
              <a:path w="1911628" h="2448370">
                <a:moveTo>
                  <a:pt x="159028" y="0"/>
                </a:move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1660"/>
                  <a:pt x="1871438" y="2181334"/>
                  <a:pt x="1796069" y="2373897"/>
                </a:cubicBezTo>
                <a:lnTo>
                  <a:pt x="1484520" y="2448370"/>
                </a:lnTo>
                <a:lnTo>
                  <a:pt x="1376590" y="2085315"/>
                </a:lnTo>
                <a:cubicBezTo>
                  <a:pt x="1406890" y="1979599"/>
                  <a:pt x="1422337" y="1867904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lose/>
              </a:path>
            </a:pathLst>
          </a:custGeom>
          <a:solidFill>
            <a:srgbClr val="15A085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" name="Donut 13">
            <a:extLst>
              <a:ext uri="{FF2B5EF4-FFF2-40B4-BE49-F238E27FC236}">
                <a16:creationId xmlns:a16="http://schemas.microsoft.com/office/drawing/2014/main" id="{153028CD-40A8-11B1-34A1-32A0E560A368}"/>
              </a:ext>
            </a:extLst>
          </p:cNvPr>
          <p:cNvSpPr/>
          <p:nvPr/>
        </p:nvSpPr>
        <p:spPr>
          <a:xfrm rot="7488651">
            <a:off x="648656" y="947158"/>
            <a:ext cx="818081" cy="1047034"/>
          </a:xfrm>
          <a:custGeom>
            <a:avLst/>
            <a:gdLst/>
            <a:ahLst/>
            <a:cxnLst/>
            <a:rect l="l" t="t" r="r" b="b"/>
            <a:pathLst>
              <a:path w="1911628" h="2446640">
                <a:moveTo>
                  <a:pt x="10805" y="498722"/>
                </a:moveTo>
                <a:lnTo>
                  <a:pt x="237769" y="259080"/>
                </a:lnTo>
                <a:lnTo>
                  <a:pt x="0" y="8030"/>
                </a:lnTo>
                <a:lnTo>
                  <a:pt x="159028" y="0"/>
                </a:ln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69707"/>
                  <a:pt x="1872152" y="2177593"/>
                  <a:pt x="1797852" y="2368654"/>
                </a:cubicBezTo>
                <a:lnTo>
                  <a:pt x="1478579" y="2446640"/>
                </a:lnTo>
                <a:lnTo>
                  <a:pt x="1371400" y="2092516"/>
                </a:lnTo>
                <a:cubicBezTo>
                  <a:pt x="1406097" y="1985258"/>
                  <a:pt x="1422337" y="1870826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close/>
              </a:path>
            </a:pathLst>
          </a:custGeom>
          <a:solidFill>
            <a:srgbClr val="1568B3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" name="Donut 13">
            <a:extLst>
              <a:ext uri="{FF2B5EF4-FFF2-40B4-BE49-F238E27FC236}">
                <a16:creationId xmlns:a16="http://schemas.microsoft.com/office/drawing/2014/main" id="{37FDB057-0E8D-DC1D-B717-8C31CBF0EA55}"/>
              </a:ext>
            </a:extLst>
          </p:cNvPr>
          <p:cNvSpPr/>
          <p:nvPr/>
        </p:nvSpPr>
        <p:spPr>
          <a:xfrm rot="14667487">
            <a:off x="306207" y="328874"/>
            <a:ext cx="818081" cy="1046057"/>
          </a:xfrm>
          <a:custGeom>
            <a:avLst/>
            <a:gdLst/>
            <a:ahLst/>
            <a:cxnLst/>
            <a:rect l="l" t="t" r="r" b="b"/>
            <a:pathLst>
              <a:path w="1911628" h="2444355">
                <a:moveTo>
                  <a:pt x="1797134" y="2370766"/>
                </a:moveTo>
                <a:lnTo>
                  <a:pt x="1489282" y="2444355"/>
                </a:lnTo>
                <a:lnTo>
                  <a:pt x="1379591" y="2075377"/>
                </a:lnTo>
                <a:cubicBezTo>
                  <a:pt x="1407847" y="1972569"/>
                  <a:pt x="1422337" y="1864277"/>
                  <a:pt x="1422337" y="1752600"/>
                </a:cubicBezTo>
                <a:cubicBezTo>
                  <a:pt x="1422337" y="1054894"/>
                  <a:pt x="856734" y="489291"/>
                  <a:pt x="159028" y="489291"/>
                </a:cubicBezTo>
                <a:cubicBezTo>
                  <a:pt x="108852" y="489291"/>
                  <a:pt x="59358" y="492216"/>
                  <a:pt x="10805" y="498722"/>
                </a:cubicBezTo>
                <a:lnTo>
                  <a:pt x="237769" y="259080"/>
                </a:lnTo>
                <a:lnTo>
                  <a:pt x="0" y="8030"/>
                </a:lnTo>
                <a:cubicBezTo>
                  <a:pt x="52324" y="2409"/>
                  <a:pt x="105395" y="0"/>
                  <a:pt x="159028" y="0"/>
                </a:cubicBezTo>
                <a:cubicBezTo>
                  <a:pt x="1126962" y="0"/>
                  <a:pt x="1911628" y="784666"/>
                  <a:pt x="1911628" y="1752600"/>
                </a:cubicBezTo>
                <a:cubicBezTo>
                  <a:pt x="1911628" y="1970493"/>
                  <a:pt x="1871865" y="2179100"/>
                  <a:pt x="1797134" y="2370766"/>
                </a:cubicBezTo>
                <a:close/>
              </a:path>
            </a:pathLst>
          </a:custGeom>
          <a:solidFill>
            <a:srgbClr val="95CB6E"/>
          </a:solidFill>
          <a:ln w="2540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" name="文本1">
            <a:extLst>
              <a:ext uri="{FF2B5EF4-FFF2-40B4-BE49-F238E27FC236}">
                <a16:creationId xmlns:a16="http://schemas.microsoft.com/office/drawing/2014/main" id="{8BBD9616-A5CE-A52C-35C6-844794162D0B}"/>
              </a:ext>
            </a:extLst>
          </p:cNvPr>
          <p:cNvSpPr/>
          <p:nvPr/>
        </p:nvSpPr>
        <p:spPr>
          <a:xfrm rot="3594807">
            <a:off x="712619" y="562534"/>
            <a:ext cx="1101435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TW" altLang="en-US" sz="1250" b="1" kern="0" spc="50" dirty="0">
                <a:solidFill>
                  <a:srgbClr val="F9F9F9"/>
                </a:solidFill>
                <a:latin typeface="+mj-ea"/>
                <a:ea typeface="+mj-ea"/>
              </a:rPr>
              <a:t>智能應用</a:t>
            </a:r>
            <a:endParaRPr lang="zh-CN" altLang="en-US" sz="1250" b="1" kern="0" spc="50" dirty="0">
              <a:solidFill>
                <a:srgbClr val="F9F9F9"/>
              </a:solidFill>
              <a:latin typeface="+mj-ea"/>
              <a:ea typeface="+mj-ea"/>
            </a:endParaRPr>
          </a:p>
        </p:txBody>
      </p:sp>
      <p:sp>
        <p:nvSpPr>
          <p:cNvPr id="14" name="文本4">
            <a:extLst>
              <a:ext uri="{FF2B5EF4-FFF2-40B4-BE49-F238E27FC236}">
                <a16:creationId xmlns:a16="http://schemas.microsoft.com/office/drawing/2014/main" id="{78D4F5D5-FB34-F55D-6A71-0A542452FEF6}"/>
              </a:ext>
            </a:extLst>
          </p:cNvPr>
          <p:cNvSpPr/>
          <p:nvPr/>
        </p:nvSpPr>
        <p:spPr>
          <a:xfrm>
            <a:off x="542478" y="213828"/>
            <a:ext cx="1020599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4123060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TW" sz="1300" b="1" kern="0" spc="50" dirty="0">
                <a:solidFill>
                  <a:srgbClr val="FFFFFF"/>
                </a:solidFill>
                <a:latin typeface="+mj-lt"/>
                <a:ea typeface="微软雅黑" pitchFamily="34" charset="-122"/>
              </a:rPr>
              <a:t>AI</a:t>
            </a:r>
            <a:endParaRPr lang="zh-CN" altLang="en-US" sz="1300" b="1" kern="0" spc="50" dirty="0">
              <a:solidFill>
                <a:srgbClr val="FFFFFF"/>
              </a:solidFill>
              <a:latin typeface="+mj-lt"/>
              <a:ea typeface="微软雅黑" pitchFamily="34" charset="-122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A09AF4E-4844-4B85-27D0-906ACC0D85D6}"/>
              </a:ext>
            </a:extLst>
          </p:cNvPr>
          <p:cNvSpPr txBox="1"/>
          <p:nvPr/>
        </p:nvSpPr>
        <p:spPr>
          <a:xfrm>
            <a:off x="522934" y="760201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ESG</a:t>
            </a:r>
            <a:r>
              <a:rPr lang="zh-TW" altLang="en-US" sz="1800" b="1" dirty="0">
                <a:solidFill>
                  <a:srgbClr val="F68B1E"/>
                </a:solidFill>
              </a:rPr>
              <a:t>×</a:t>
            </a:r>
            <a:r>
              <a:rPr lang="en-US" altLang="zh-TW" sz="1800" b="1" dirty="0">
                <a:solidFill>
                  <a:srgbClr val="F68B1E"/>
                </a:solidFill>
              </a:rPr>
              <a:t>AI</a:t>
            </a:r>
          </a:p>
          <a:p>
            <a:pPr algn="ctr">
              <a:defRPr/>
            </a:pPr>
            <a:r>
              <a:rPr lang="en-US" altLang="zh-TW" sz="1800" b="1" dirty="0">
                <a:solidFill>
                  <a:srgbClr val="F68B1E"/>
                </a:solidFill>
              </a:rPr>
              <a:t>Moment</a:t>
            </a:r>
            <a:endParaRPr lang="zh-TW" altLang="en-US" sz="1800" b="1" dirty="0">
              <a:solidFill>
                <a:srgbClr val="F68B1E"/>
              </a:solidFill>
            </a:endParaRPr>
          </a:p>
        </p:txBody>
      </p:sp>
      <p:sp>
        <p:nvSpPr>
          <p:cNvPr id="16" name="文本3">
            <a:extLst>
              <a:ext uri="{FF2B5EF4-FFF2-40B4-BE49-F238E27FC236}">
                <a16:creationId xmlns:a16="http://schemas.microsoft.com/office/drawing/2014/main" id="{9A34FA2C-6203-3303-3428-D62BFA1EDFCE}"/>
              </a:ext>
            </a:extLst>
          </p:cNvPr>
          <p:cNvSpPr/>
          <p:nvPr/>
        </p:nvSpPr>
        <p:spPr>
          <a:xfrm rot="18130980">
            <a:off x="307100" y="560858"/>
            <a:ext cx="1119829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Up">
              <a:avLst>
                <a:gd name="adj" fmla="val 13453619"/>
              </a:avLst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TW" altLang="en-US" sz="1250" b="1" kern="0" spc="50" dirty="0">
                <a:solidFill>
                  <a:srgbClr val="F9F9F9"/>
                </a:solidFill>
                <a:latin typeface="+mj-ea"/>
                <a:ea typeface="+mj-ea"/>
              </a:rPr>
              <a:t>綠色工程</a:t>
            </a:r>
            <a:endParaRPr lang="zh-CN" altLang="en-US" sz="1250" b="1" kern="0" spc="50" dirty="0">
              <a:solidFill>
                <a:srgbClr val="F9F9F9"/>
              </a:solidFill>
              <a:latin typeface="+mj-ea"/>
              <a:ea typeface="+mj-ea"/>
            </a:endParaRPr>
          </a:p>
        </p:txBody>
      </p:sp>
      <p:sp>
        <p:nvSpPr>
          <p:cNvPr id="17" name="文本2">
            <a:extLst>
              <a:ext uri="{FF2B5EF4-FFF2-40B4-BE49-F238E27FC236}">
                <a16:creationId xmlns:a16="http://schemas.microsoft.com/office/drawing/2014/main" id="{74110C53-86C1-B658-B1FC-29F4D23B1EC2}"/>
              </a:ext>
            </a:extLst>
          </p:cNvPr>
          <p:cNvSpPr/>
          <p:nvPr/>
        </p:nvSpPr>
        <p:spPr>
          <a:xfrm rot="21439826">
            <a:off x="531762" y="942840"/>
            <a:ext cx="1055472" cy="78698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spcFirstLastPara="1" lIns="91430" tIns="45716" rIns="91430" bIns="45716" numCol="1" anchor="ctr">
            <a:prstTxWarp prst="textArchDown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457200" rtl="0" eaLnBrk="1" latinLnBrk="0" hangingPunct="1">
              <a:defRPr/>
            </a:pPr>
            <a:r>
              <a:rPr lang="zh-TW" altLang="en-US" sz="1250" b="1" kern="0" spc="200" baseline="0" dirty="0">
                <a:solidFill>
                  <a:srgbClr val="F9F9F9"/>
                </a:solidFill>
                <a:latin typeface="+mj-ea"/>
                <a:ea typeface="+mj-ea"/>
                <a:cs typeface="+mn-cs"/>
              </a:rPr>
              <a:t>循環經濟</a:t>
            </a:r>
            <a:endParaRPr lang="zh-CN" altLang="en-US" sz="1250" b="1" kern="0" spc="200" baseline="0" dirty="0">
              <a:solidFill>
                <a:srgbClr val="F9F9F9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7D3A872-2CFE-442B-89BF-AC8A606A50D9}"/>
              </a:ext>
            </a:extLst>
          </p:cNvPr>
          <p:cNvSpPr txBox="1"/>
          <p:nvPr/>
        </p:nvSpPr>
        <p:spPr>
          <a:xfrm>
            <a:off x="2080591" y="4692134"/>
            <a:ext cx="908636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600" b="1" dirty="0"/>
              <a:t>Dify 應用情境：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600" b="1" dirty="0"/>
              <a:t>企業知識問答：</a:t>
            </a:r>
            <a:r>
              <a:rPr lang="zh-TW" altLang="en-US" sz="1600" dirty="0"/>
              <a:t>將公司文件與規章建立智慧問答助理，大幅提升資訊查詢效率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600" b="1" dirty="0"/>
              <a:t>自動化工作流：</a:t>
            </a:r>
            <a:r>
              <a:rPr lang="zh-TW" altLang="en-US" sz="1600" dirty="0"/>
              <a:t>設計包含文件分析、資料摘要、自動回覆等多步驟 AI 自動化流程</a:t>
            </a:r>
          </a:p>
        </p:txBody>
      </p:sp>
    </p:spTree>
    <p:extLst>
      <p:ext uri="{BB962C8B-B14F-4D97-AF65-F5344CB8AC3E}">
        <p14:creationId xmlns:p14="http://schemas.microsoft.com/office/powerpoint/2010/main" val="429492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>
            <a:extLst>
              <a:ext uri="{FF2B5EF4-FFF2-40B4-BE49-F238E27FC236}">
                <a16:creationId xmlns:a16="http://schemas.microsoft.com/office/drawing/2014/main" id="{54F63527-EE74-12E4-2709-A9A5D093EF55}"/>
              </a:ext>
            </a:extLst>
          </p:cNvPr>
          <p:cNvSpPr txBox="1">
            <a:spLocks/>
          </p:cNvSpPr>
          <p:nvPr/>
        </p:nvSpPr>
        <p:spPr>
          <a:xfrm>
            <a:off x="2091000" y="774000"/>
            <a:ext cx="9903857" cy="68579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600" spc="0">
                <a:solidFill>
                  <a:srgbClr val="FF9B14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TW" dirty="0"/>
              <a:t>Introduction of Dify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22ECE2-3AFA-FA60-19CE-E1B2E8319D27}"/>
              </a:ext>
            </a:extLst>
          </p:cNvPr>
          <p:cNvSpPr txBox="1"/>
          <p:nvPr/>
        </p:nvSpPr>
        <p:spPr>
          <a:xfrm>
            <a:off x="2091000" y="1225674"/>
            <a:ext cx="7695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Dify </a:t>
            </a:r>
            <a:r>
              <a:rPr lang="en-US" altLang="zh-TW" sz="1600" dirty="0"/>
              <a:t>is an open-source LLM platform for building AI applications without deep programming expertise.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3CB5163-FE20-D7F2-D41A-04F5291A057B}"/>
              </a:ext>
            </a:extLst>
          </p:cNvPr>
          <p:cNvSpPr txBox="1"/>
          <p:nvPr/>
        </p:nvSpPr>
        <p:spPr>
          <a:xfrm>
            <a:off x="2091000" y="2129371"/>
            <a:ext cx="9231249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1600" b="1" dirty="0"/>
              <a:t>Dify Core Features:</a:t>
            </a:r>
            <a:endParaRPr lang="en-US" altLang="zh-TW" sz="1600" dirty="0"/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Visual Workflow Builder: </a:t>
            </a:r>
            <a:r>
              <a:rPr lang="en-US" altLang="zh-TW" sz="1600" dirty="0"/>
              <a:t>No-code drag-and-drop design for complex AI pipelines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Knowledge Base (RAG): </a:t>
            </a:r>
            <a:r>
              <a:rPr lang="en-US" altLang="zh-TW" sz="1600" dirty="0"/>
              <a:t>Upload documents for enterprise knowledge Q&amp;A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Multi-Model Support: </a:t>
            </a:r>
            <a:r>
              <a:rPr lang="en-US" altLang="zh-TW" sz="1600" dirty="0"/>
              <a:t>Integrates OpenAI, Claude, Llama and other major LLMs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1600" b="1" dirty="0"/>
              <a:t>One-Click API Deployment: </a:t>
            </a:r>
            <a:r>
              <a:rPr lang="en-US" altLang="zh-TW" sz="1600" dirty="0"/>
              <a:t>Generate API endpoints for seamless system integration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3EF5FA-8CA6-81ED-5C94-1F1B30702426}"/>
              </a:ext>
            </a:extLst>
          </p:cNvPr>
          <p:cNvSpPr txBox="1"/>
          <p:nvPr/>
        </p:nvSpPr>
        <p:spPr>
          <a:xfrm>
            <a:off x="1416000" y="639200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1200" b="0" i="0" dirty="0">
                <a:effectLst/>
              </a:rPr>
              <a:t>https://dify.ai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1F130D7-1AF4-4CB5-863A-09D76A958834}"/>
              </a:ext>
            </a:extLst>
          </p:cNvPr>
          <p:cNvSpPr txBox="1"/>
          <p:nvPr/>
        </p:nvSpPr>
        <p:spPr>
          <a:xfrm>
            <a:off x="2121061" y="4454565"/>
            <a:ext cx="92312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Dify Application Scenarios:</a:t>
            </a:r>
            <a:endParaRPr lang="en-US" altLang="zh-TW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sz="1600" b="1" dirty="0"/>
              <a:t>Enterprise Knowledge Q&amp;A: </a:t>
            </a:r>
            <a:r>
              <a:rPr lang="en-US" altLang="zh-TW" sz="1600" dirty="0"/>
              <a:t>Build intelligent document assistants from company files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1600" b="1" dirty="0"/>
              <a:t>Automated Workflows: </a:t>
            </a:r>
            <a:r>
              <a:rPr lang="en-US" altLang="zh-TW" sz="1600" dirty="0"/>
              <a:t>Multi-step AI flows for analysis, summarization and auto-reply</a:t>
            </a:r>
          </a:p>
        </p:txBody>
      </p:sp>
    </p:spTree>
    <p:extLst>
      <p:ext uri="{BB962C8B-B14F-4D97-AF65-F5344CB8AC3E}">
        <p14:creationId xmlns:p14="http://schemas.microsoft.com/office/powerpoint/2010/main" val="1152863252"/>
      </p:ext>
    </p:extLst>
  </p:cSld>
  <p:clrMapOvr>
    <a:masterClrMapping/>
  </p:clrMapOvr>
</p:sld>
</file>

<file path=ppt/theme/theme1.xml><?xml version="1.0" encoding="utf-8"?>
<a:theme xmlns:a="http://schemas.openxmlformats.org/drawingml/2006/main" name="8_CTCI_PPT-Template">
  <a:themeElements>
    <a:clrScheme name="Custom 3">
      <a:dk1>
        <a:srgbClr val="212121"/>
      </a:dk1>
      <a:lt1>
        <a:sysClr val="window" lastClr="FFFFFF"/>
      </a:lt1>
      <a:dk2>
        <a:srgbClr val="414448"/>
      </a:dk2>
      <a:lt2>
        <a:srgbClr val="F8F8F8"/>
      </a:lt2>
      <a:accent1>
        <a:srgbClr val="F58F17"/>
      </a:accent1>
      <a:accent2>
        <a:srgbClr val="FFDD00"/>
      </a:accent2>
      <a:accent3>
        <a:srgbClr val="E55A25"/>
      </a:accent3>
      <a:accent4>
        <a:srgbClr val="D5DF30"/>
      </a:accent4>
      <a:accent5>
        <a:srgbClr val="1B9F84"/>
      </a:accent5>
      <a:accent6>
        <a:srgbClr val="6E4233"/>
      </a:accent6>
      <a:hlink>
        <a:srgbClr val="0A5BC3"/>
      </a:hlink>
      <a:folHlink>
        <a:srgbClr val="601DAF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TCI_PPT-Template" id="{D737F933-4CE4-4BFD-8AFF-C2DE44DF1FF1}" vid="{873E4518-2A1A-456E-8196-F036EA5B89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47677</TotalTime>
  <Words>614</Words>
  <Application>Microsoft Office PowerPoint</Application>
  <PresentationFormat>寬螢幕</PresentationFormat>
  <Paragraphs>50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微軟正黑體</vt:lpstr>
      <vt:lpstr>Arial</vt:lpstr>
      <vt:lpstr>Calibri</vt:lpstr>
      <vt:lpstr>8_CTCI_PPT-Template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ddg</dc:creator>
  <cp:lastModifiedBy>鎰群 蔡</cp:lastModifiedBy>
  <cp:revision>2182</cp:revision>
  <cp:lastPrinted>2025-05-08T05:57:21Z</cp:lastPrinted>
  <dcterms:created xsi:type="dcterms:W3CDTF">2016-04-15T01:59:57Z</dcterms:created>
  <dcterms:modified xsi:type="dcterms:W3CDTF">2026-03-25T06:27:51Z</dcterms:modified>
</cp:coreProperties>
</file>