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9" r:id="rId1"/>
  </p:sldMasterIdLst>
  <p:notesMasterIdLst>
    <p:notesMasterId r:id="rId4"/>
  </p:notesMasterIdLst>
  <p:handoutMasterIdLst>
    <p:handoutMasterId r:id="rId5"/>
  </p:handoutMasterIdLst>
  <p:sldIdLst>
    <p:sldId id="266" r:id="rId2"/>
    <p:sldId id="808" r:id="rId3"/>
  </p:sldIdLst>
  <p:sldSz cx="12192000" cy="6858000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7320A71D-06E2-4CA3-9A89-69B3A7FD7D4D}">
          <p14:sldIdLst>
            <p14:sldId id="266"/>
            <p14:sldId id="8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彥 Lin" initials="彥" lastIdx="1" clrIdx="0">
    <p:extLst>
      <p:ext uri="{19B8F6BF-5375-455C-9EA6-DF929625EA0E}">
        <p15:presenceInfo xmlns:p15="http://schemas.microsoft.com/office/powerpoint/2012/main" userId="0670ca2f1b37ee7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00B0F0"/>
    <a:srgbClr val="F58F17"/>
    <a:srgbClr val="66FFFF"/>
    <a:srgbClr val="E2F0D9"/>
    <a:srgbClr val="E6FCDC"/>
    <a:srgbClr val="FFFFFF"/>
    <a:srgbClr val="CC9900"/>
    <a:srgbClr val="CCFFCC"/>
    <a:srgbClr val="FFB0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中等深淺樣式 3 - 輔色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深色樣式 2 - 輔色 5/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 autoAdjust="0"/>
    <p:restoredTop sz="80485" autoAdjust="0"/>
  </p:normalViewPr>
  <p:slideViewPr>
    <p:cSldViewPr snapToObjects="1">
      <p:cViewPr varScale="1">
        <p:scale>
          <a:sx n="77" d="100"/>
          <a:sy n="77" d="100"/>
        </p:scale>
        <p:origin x="1404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Objects="1">
      <p:cViewPr varScale="1">
        <p:scale>
          <a:sx n="47" d="100"/>
          <a:sy n="47" d="100"/>
        </p:scale>
        <p:origin x="-2652" y="-76"/>
      </p:cViewPr>
      <p:guideLst>
        <p:guide orient="horz" pos="3131"/>
        <p:guide pos="2144"/>
      </p:guideLst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787" cy="496967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5838" y="1"/>
            <a:ext cx="2949787" cy="496967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D9A13432-9FC4-4847-B369-E5C0DDD918EB}" type="datetime1">
              <a:rPr lang="zh-TW" altLang="en-US" smtClean="0"/>
              <a:t>2026/3/25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6967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6967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6DA8EFFE-14FE-124F-B2CE-32BD85ED39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2024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787" cy="496967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8" y="1"/>
            <a:ext cx="2949787" cy="496967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97A39107-8806-4BBD-94FE-73E6724A9D6B}" type="datetime1">
              <a:rPr lang="zh-TW" altLang="en-US" smtClean="0"/>
              <a:t>2026/3/25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5" rIns="91431" bIns="4571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31" tIns="45715" rIns="91431" bIns="4571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6967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6967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1548752F-E1F0-9041-9BBB-203AF400B1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58234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Claude Cowork 是 Anthropic Claude 桌面應用程式的功能，讓非技術背景的使用者也能透過 AI 輕鬆自動化日常工作，無需任何程式設計知識。</a:t>
            </a:r>
          </a:p>
          <a:p>
            <a:endParaRPr lang="zh-TW" altLang="en-US" dirty="0"/>
          </a:p>
          <a:p>
            <a:r>
              <a:rPr lang="zh-TW" altLang="en-US" dirty="0"/>
              <a:t>四大核心功能：</a:t>
            </a:r>
          </a:p>
          <a:p>
            <a:r>
              <a:rPr lang="zh-TW" altLang="en-US" dirty="0"/>
              <a:t>1. 檔案存取與操作：Claude 可直接存取使用者指定的資料夾，讀取、建立及編輯各類文件。</a:t>
            </a:r>
          </a:p>
          <a:p>
            <a:r>
              <a:rPr lang="zh-TW" altLang="en-US" dirty="0"/>
              <a:t>2. 任務排程（Scheduled Tasks）：設定排程讓 Claude 定時自動執行任務，無需人工介入。</a:t>
            </a:r>
          </a:p>
          <a:p>
            <a:r>
              <a:rPr lang="zh-TW" altLang="en-US" dirty="0"/>
              <a:t>3. 瀏覽器自動化（Claude in Chrome）：透過 Chrome 擴充套件讓 Claude 自動操作網頁，完成各類線上任務。</a:t>
            </a:r>
          </a:p>
          <a:p>
            <a:r>
              <a:rPr lang="zh-TW" altLang="en-US" dirty="0"/>
              <a:t>4. 技能套件（Skills）：安裝專業技能包擴充 Claude 能力，支援製作 PPTX、Word、PDF 等文件。</a:t>
            </a:r>
          </a:p>
          <a:p>
            <a:endParaRPr lang="zh-TW" altLang="en-US" dirty="0"/>
          </a:p>
          <a:p>
            <a:r>
              <a:rPr lang="zh-TW" altLang="en-US" dirty="0"/>
              <a:t>應用情境：根據資料夾內的資料自動生成 Word、Excel 或 PowerPoint 報告；設定每日排程自動整理下載資料夾、摘要最新資訊等。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7A39107-8806-4BBD-94FE-73E6724A9D6B}" type="datetime1">
              <a:rPr lang="zh-TW" altLang="en-US" smtClean="0"/>
              <a:t>2026/3/25</a:t>
            </a:fld>
            <a:endParaRPr 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48752F-E1F0-9041-9BBB-203AF400B139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07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Claude Cowork is a feature of the Claude desktop application that empowers non-developers to automate local file management, scheduled tasks, and browser operations using AI—no programming knowledge required.</a:t>
            </a:r>
          </a:p>
          <a:p>
            <a:endParaRPr lang="en-US" altLang="zh-TW" dirty="0"/>
          </a:p>
          <a:p>
            <a:r>
              <a:rPr lang="en-US" altLang="zh-TW" dirty="0"/>
              <a:t>Four core features:</a:t>
            </a:r>
          </a:p>
          <a:p>
            <a:r>
              <a:rPr lang="en-US" altLang="zh-TW" dirty="0"/>
              <a:t>1. File Access &amp; Operations: Claude accesses user-designated folders to read, create, and edit documents.</a:t>
            </a:r>
          </a:p>
          <a:p>
            <a:r>
              <a:rPr lang="en-US" altLang="zh-TW" dirty="0"/>
              <a:t>2. Scheduled Tasks: Set up schedules to have Claude automatically execute tasks at set intervals without manual input.</a:t>
            </a:r>
          </a:p>
          <a:p>
            <a:r>
              <a:rPr lang="en-US" altLang="zh-TW" dirty="0"/>
              <a:t>3. Browser Automation (Claude in Chrome): Use the Chrome extension to let Claude automatically interact with web pages.</a:t>
            </a:r>
          </a:p>
          <a:p>
            <a:r>
              <a:rPr lang="en-US" altLang="zh-TW" dirty="0"/>
              <a:t>4. Skills Packages: Install specialized skill packages to expand Claude's capabilities for PPTX, Word, and PDF creation.</a:t>
            </a:r>
          </a:p>
          <a:p>
            <a:endParaRPr lang="en-US" altLang="zh-TW" dirty="0"/>
          </a:p>
          <a:p>
            <a:r>
              <a:rPr lang="en-US" altLang="zh-TW" dirty="0"/>
              <a:t>Use cases: Automatically generate Word, Excel, or PowerPoint reports from data in a designated folder; set daily schedules to organize download folders and summarize the latest information.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7A39107-8806-4BBD-94FE-73E6724A9D6B}" type="datetime1">
              <a:rPr lang="zh-TW" altLang="en-US" smtClean="0"/>
              <a:t>2026/3/25</a:t>
            </a:fld>
            <a:endParaRPr 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48752F-E1F0-9041-9BBB-203AF400B13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925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 rot="10800000" flipV="1">
            <a:off x="335361" y="6111446"/>
            <a:ext cx="4076700" cy="30777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*Reference</a:t>
            </a: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2210070" y="1695934"/>
            <a:ext cx="9019365" cy="4303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48A641F-6B40-4CAC-BBE9-8CA1DD0C4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5269" y="633198"/>
            <a:ext cx="9237133" cy="68579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239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 rot="10800000" flipV="1">
            <a:off x="335360" y="6381328"/>
            <a:ext cx="4076700" cy="30777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-US" altLang="zh-TW" sz="1400" dirty="0">
                <a:solidFill>
                  <a:srgbClr val="212121">
                    <a:lumMod val="75000"/>
                    <a:lumOff val="25000"/>
                  </a:srgbClr>
                </a:solidFill>
              </a:rPr>
              <a:t>*Reference</a:t>
            </a:r>
            <a:r>
              <a:rPr lang="zh-TW" altLang="en-US" sz="1400" dirty="0">
                <a:solidFill>
                  <a:srgbClr val="212121">
                    <a:lumMod val="75000"/>
                    <a:lumOff val="25000"/>
                  </a:srgbClr>
                </a:solidFill>
              </a:rPr>
              <a:t>：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0"/>
          </p:nvPr>
        </p:nvSpPr>
        <p:spPr>
          <a:xfrm>
            <a:off x="2241951" y="1773238"/>
            <a:ext cx="8641357" cy="410403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756594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7568" y="654969"/>
            <a:ext cx="9237133" cy="68579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7568" y="1773238"/>
            <a:ext cx="9205152" cy="42953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pic>
        <p:nvPicPr>
          <p:cNvPr id="46" name="圖片 45">
            <a:extLst>
              <a:ext uri="{FF2B5EF4-FFF2-40B4-BE49-F238E27FC236}">
                <a16:creationId xmlns:a16="http://schemas.microsoft.com/office/drawing/2014/main" id="{65700FA4-6B5A-4344-93B4-EF9B2B2464B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368" y="6150903"/>
            <a:ext cx="1411939" cy="685799"/>
          </a:xfrm>
          <a:prstGeom prst="rect">
            <a:avLst/>
          </a:prstGeom>
        </p:spPr>
      </p:pic>
      <p:sp>
        <p:nvSpPr>
          <p:cNvPr id="109" name="Donut 13">
            <a:extLst>
              <a:ext uri="{FF2B5EF4-FFF2-40B4-BE49-F238E27FC236}">
                <a16:creationId xmlns:a16="http://schemas.microsoft.com/office/drawing/2014/main" id="{E92A82C1-90BC-43D5-AA61-AA2730C1A030}"/>
              </a:ext>
            </a:extLst>
          </p:cNvPr>
          <p:cNvSpPr/>
          <p:nvPr userDrawn="1"/>
        </p:nvSpPr>
        <p:spPr>
          <a:xfrm rot="7488651">
            <a:off x="648655" y="947158"/>
            <a:ext cx="818081" cy="1047034"/>
          </a:xfrm>
          <a:custGeom>
            <a:avLst/>
            <a:gdLst/>
            <a:ahLst/>
            <a:cxnLst/>
            <a:rect l="l" t="t" r="r" b="b"/>
            <a:pathLst>
              <a:path w="1911628" h="2446640">
                <a:moveTo>
                  <a:pt x="10805" y="498722"/>
                </a:moveTo>
                <a:lnTo>
                  <a:pt x="237769" y="259080"/>
                </a:lnTo>
                <a:lnTo>
                  <a:pt x="0" y="8030"/>
                </a:lnTo>
                <a:lnTo>
                  <a:pt x="159028" y="0"/>
                </a:lnTo>
                <a:cubicBezTo>
                  <a:pt x="1126962" y="0"/>
                  <a:pt x="1911628" y="784666"/>
                  <a:pt x="1911628" y="1752600"/>
                </a:cubicBezTo>
                <a:cubicBezTo>
                  <a:pt x="1911628" y="1969707"/>
                  <a:pt x="1872152" y="2177593"/>
                  <a:pt x="1797852" y="2368654"/>
                </a:cubicBezTo>
                <a:lnTo>
                  <a:pt x="1478579" y="2446640"/>
                </a:lnTo>
                <a:lnTo>
                  <a:pt x="1371400" y="2092516"/>
                </a:lnTo>
                <a:cubicBezTo>
                  <a:pt x="1406097" y="1985258"/>
                  <a:pt x="1422337" y="1870826"/>
                  <a:pt x="1422337" y="1752600"/>
                </a:cubicBezTo>
                <a:cubicBezTo>
                  <a:pt x="1422337" y="1054894"/>
                  <a:pt x="856734" y="489291"/>
                  <a:pt x="159028" y="489291"/>
                </a:cubicBezTo>
                <a:cubicBezTo>
                  <a:pt x="108852" y="489291"/>
                  <a:pt x="59358" y="492216"/>
                  <a:pt x="10805" y="498722"/>
                </a:cubicBezTo>
                <a:close/>
              </a:path>
            </a:pathLst>
          </a:custGeom>
          <a:solidFill>
            <a:srgbClr val="1568B3"/>
          </a:solidFill>
          <a:ln w="2540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10" name="橢圓 109">
            <a:extLst>
              <a:ext uri="{FF2B5EF4-FFF2-40B4-BE49-F238E27FC236}">
                <a16:creationId xmlns:a16="http://schemas.microsoft.com/office/drawing/2014/main" id="{0CEB6239-B178-43C1-B5AF-34A10090C37C}"/>
              </a:ext>
            </a:extLst>
          </p:cNvPr>
          <p:cNvSpPr/>
          <p:nvPr userDrawn="1"/>
        </p:nvSpPr>
        <p:spPr>
          <a:xfrm>
            <a:off x="278230" y="256526"/>
            <a:ext cx="1591626" cy="1591632"/>
          </a:xfrm>
          <a:prstGeom prst="ellipse">
            <a:avLst/>
          </a:prstGeom>
          <a:solidFill>
            <a:sysClr val="window" lastClr="FFFFFF"/>
          </a:solidFill>
          <a:ln w="384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1" name="橢圓 110">
            <a:extLst>
              <a:ext uri="{FF2B5EF4-FFF2-40B4-BE49-F238E27FC236}">
                <a16:creationId xmlns:a16="http://schemas.microsoft.com/office/drawing/2014/main" id="{5EF831DA-7834-4C6F-9874-5D77997FEE51}"/>
              </a:ext>
            </a:extLst>
          </p:cNvPr>
          <p:cNvSpPr/>
          <p:nvPr userDrawn="1"/>
        </p:nvSpPr>
        <p:spPr>
          <a:xfrm>
            <a:off x="104141" y="106293"/>
            <a:ext cx="1908000" cy="1908000"/>
          </a:xfrm>
          <a:prstGeom prst="ellipse">
            <a:avLst/>
          </a:prstGeom>
          <a:solidFill>
            <a:srgbClr val="FDB912"/>
          </a:solidFill>
          <a:ln w="384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2" name="橢圓 111">
            <a:extLst>
              <a:ext uri="{FF2B5EF4-FFF2-40B4-BE49-F238E27FC236}">
                <a16:creationId xmlns:a16="http://schemas.microsoft.com/office/drawing/2014/main" id="{DD54DB3C-F0ED-4314-8860-3E25BDB060C6}"/>
              </a:ext>
            </a:extLst>
          </p:cNvPr>
          <p:cNvSpPr/>
          <p:nvPr userDrawn="1"/>
        </p:nvSpPr>
        <p:spPr>
          <a:xfrm>
            <a:off x="262327" y="264477"/>
            <a:ext cx="1591626" cy="1591632"/>
          </a:xfrm>
          <a:prstGeom prst="ellipse">
            <a:avLst/>
          </a:prstGeom>
          <a:solidFill>
            <a:sysClr val="window" lastClr="FFFFFF"/>
          </a:solidFill>
          <a:ln w="384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3" name="Donut 13">
            <a:extLst>
              <a:ext uri="{FF2B5EF4-FFF2-40B4-BE49-F238E27FC236}">
                <a16:creationId xmlns:a16="http://schemas.microsoft.com/office/drawing/2014/main" id="{B40AC9B7-6D87-470B-BB8A-C1434F8D1A70}"/>
              </a:ext>
            </a:extLst>
          </p:cNvPr>
          <p:cNvSpPr/>
          <p:nvPr userDrawn="1"/>
        </p:nvSpPr>
        <p:spPr>
          <a:xfrm rot="267487">
            <a:off x="1014670" y="337716"/>
            <a:ext cx="818077" cy="1047779"/>
          </a:xfrm>
          <a:custGeom>
            <a:avLst/>
            <a:gdLst/>
            <a:ahLst/>
            <a:cxnLst/>
            <a:rect l="l" t="t" r="r" b="b"/>
            <a:pathLst>
              <a:path w="1911628" h="2448370">
                <a:moveTo>
                  <a:pt x="159028" y="0"/>
                </a:moveTo>
                <a:cubicBezTo>
                  <a:pt x="1126962" y="0"/>
                  <a:pt x="1911628" y="784666"/>
                  <a:pt x="1911628" y="1752600"/>
                </a:cubicBezTo>
                <a:cubicBezTo>
                  <a:pt x="1911628" y="1971660"/>
                  <a:pt x="1871438" y="2181334"/>
                  <a:pt x="1796069" y="2373897"/>
                </a:cubicBezTo>
                <a:lnTo>
                  <a:pt x="1484520" y="2448370"/>
                </a:lnTo>
                <a:lnTo>
                  <a:pt x="1376590" y="2085315"/>
                </a:lnTo>
                <a:cubicBezTo>
                  <a:pt x="1406890" y="1979599"/>
                  <a:pt x="1422337" y="1867904"/>
                  <a:pt x="1422337" y="1752600"/>
                </a:cubicBezTo>
                <a:cubicBezTo>
                  <a:pt x="1422337" y="1054894"/>
                  <a:pt x="856734" y="489291"/>
                  <a:pt x="159028" y="489291"/>
                </a:cubicBezTo>
                <a:cubicBezTo>
                  <a:pt x="108852" y="489291"/>
                  <a:pt x="59358" y="492216"/>
                  <a:pt x="10805" y="498722"/>
                </a:cubicBezTo>
                <a:lnTo>
                  <a:pt x="237769" y="259080"/>
                </a:lnTo>
                <a:lnTo>
                  <a:pt x="0" y="8030"/>
                </a:lnTo>
                <a:cubicBezTo>
                  <a:pt x="52324" y="2409"/>
                  <a:pt x="105395" y="0"/>
                  <a:pt x="159028" y="0"/>
                </a:cubicBezTo>
                <a:close/>
              </a:path>
            </a:pathLst>
          </a:custGeom>
          <a:solidFill>
            <a:srgbClr val="15A085"/>
          </a:solidFill>
          <a:ln w="2540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14" name="Donut 13">
            <a:extLst>
              <a:ext uri="{FF2B5EF4-FFF2-40B4-BE49-F238E27FC236}">
                <a16:creationId xmlns:a16="http://schemas.microsoft.com/office/drawing/2014/main" id="{46B1BA03-0289-4E43-96A7-AC24CD4B1D7C}"/>
              </a:ext>
            </a:extLst>
          </p:cNvPr>
          <p:cNvSpPr/>
          <p:nvPr userDrawn="1"/>
        </p:nvSpPr>
        <p:spPr>
          <a:xfrm rot="7488651">
            <a:off x="648656" y="947158"/>
            <a:ext cx="818081" cy="1047034"/>
          </a:xfrm>
          <a:custGeom>
            <a:avLst/>
            <a:gdLst/>
            <a:ahLst/>
            <a:cxnLst/>
            <a:rect l="l" t="t" r="r" b="b"/>
            <a:pathLst>
              <a:path w="1911628" h="2446640">
                <a:moveTo>
                  <a:pt x="10805" y="498722"/>
                </a:moveTo>
                <a:lnTo>
                  <a:pt x="237769" y="259080"/>
                </a:lnTo>
                <a:lnTo>
                  <a:pt x="0" y="8030"/>
                </a:lnTo>
                <a:lnTo>
                  <a:pt x="159028" y="0"/>
                </a:lnTo>
                <a:cubicBezTo>
                  <a:pt x="1126962" y="0"/>
                  <a:pt x="1911628" y="784666"/>
                  <a:pt x="1911628" y="1752600"/>
                </a:cubicBezTo>
                <a:cubicBezTo>
                  <a:pt x="1911628" y="1969707"/>
                  <a:pt x="1872152" y="2177593"/>
                  <a:pt x="1797852" y="2368654"/>
                </a:cubicBezTo>
                <a:lnTo>
                  <a:pt x="1478579" y="2446640"/>
                </a:lnTo>
                <a:lnTo>
                  <a:pt x="1371400" y="2092516"/>
                </a:lnTo>
                <a:cubicBezTo>
                  <a:pt x="1406097" y="1985258"/>
                  <a:pt x="1422337" y="1870826"/>
                  <a:pt x="1422337" y="1752600"/>
                </a:cubicBezTo>
                <a:cubicBezTo>
                  <a:pt x="1422337" y="1054894"/>
                  <a:pt x="856734" y="489291"/>
                  <a:pt x="159028" y="489291"/>
                </a:cubicBezTo>
                <a:cubicBezTo>
                  <a:pt x="108852" y="489291"/>
                  <a:pt x="59358" y="492216"/>
                  <a:pt x="10805" y="498722"/>
                </a:cubicBezTo>
                <a:close/>
              </a:path>
            </a:pathLst>
          </a:custGeom>
          <a:solidFill>
            <a:srgbClr val="1568B3"/>
          </a:solidFill>
          <a:ln w="2540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15" name="Donut 13">
            <a:extLst>
              <a:ext uri="{FF2B5EF4-FFF2-40B4-BE49-F238E27FC236}">
                <a16:creationId xmlns:a16="http://schemas.microsoft.com/office/drawing/2014/main" id="{3F09961C-7BBD-48A7-8384-EE7BAC8FF8BD}"/>
              </a:ext>
            </a:extLst>
          </p:cNvPr>
          <p:cNvSpPr/>
          <p:nvPr userDrawn="1"/>
        </p:nvSpPr>
        <p:spPr>
          <a:xfrm rot="14667487">
            <a:off x="306207" y="328874"/>
            <a:ext cx="818081" cy="1046057"/>
          </a:xfrm>
          <a:custGeom>
            <a:avLst/>
            <a:gdLst/>
            <a:ahLst/>
            <a:cxnLst/>
            <a:rect l="l" t="t" r="r" b="b"/>
            <a:pathLst>
              <a:path w="1911628" h="2444355">
                <a:moveTo>
                  <a:pt x="1797134" y="2370766"/>
                </a:moveTo>
                <a:lnTo>
                  <a:pt x="1489282" y="2444355"/>
                </a:lnTo>
                <a:lnTo>
                  <a:pt x="1379591" y="2075377"/>
                </a:lnTo>
                <a:cubicBezTo>
                  <a:pt x="1407847" y="1972569"/>
                  <a:pt x="1422337" y="1864277"/>
                  <a:pt x="1422337" y="1752600"/>
                </a:cubicBezTo>
                <a:cubicBezTo>
                  <a:pt x="1422337" y="1054894"/>
                  <a:pt x="856734" y="489291"/>
                  <a:pt x="159028" y="489291"/>
                </a:cubicBezTo>
                <a:cubicBezTo>
                  <a:pt x="108852" y="489291"/>
                  <a:pt x="59358" y="492216"/>
                  <a:pt x="10805" y="498722"/>
                </a:cubicBezTo>
                <a:lnTo>
                  <a:pt x="237769" y="259080"/>
                </a:lnTo>
                <a:lnTo>
                  <a:pt x="0" y="8030"/>
                </a:lnTo>
                <a:cubicBezTo>
                  <a:pt x="52324" y="2409"/>
                  <a:pt x="105395" y="0"/>
                  <a:pt x="159028" y="0"/>
                </a:cubicBezTo>
                <a:cubicBezTo>
                  <a:pt x="1126962" y="0"/>
                  <a:pt x="1911628" y="784666"/>
                  <a:pt x="1911628" y="1752600"/>
                </a:cubicBezTo>
                <a:cubicBezTo>
                  <a:pt x="1911628" y="1970493"/>
                  <a:pt x="1871865" y="2179100"/>
                  <a:pt x="1797134" y="2370766"/>
                </a:cubicBezTo>
                <a:close/>
              </a:path>
            </a:pathLst>
          </a:custGeom>
          <a:solidFill>
            <a:srgbClr val="95CB6E"/>
          </a:solidFill>
          <a:ln w="2540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17" name="文本4">
            <a:extLst>
              <a:ext uri="{FF2B5EF4-FFF2-40B4-BE49-F238E27FC236}">
                <a16:creationId xmlns:a16="http://schemas.microsoft.com/office/drawing/2014/main" id="{CCB6C943-DEEC-49E0-95B1-F8863118261A}"/>
              </a:ext>
            </a:extLst>
          </p:cNvPr>
          <p:cNvSpPr/>
          <p:nvPr userDrawn="1"/>
        </p:nvSpPr>
        <p:spPr>
          <a:xfrm>
            <a:off x="542478" y="213828"/>
            <a:ext cx="1020599" cy="78698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spcFirstLastPara="1" lIns="91430" tIns="45716" rIns="91430" bIns="45716" numCol="1" anchor="ctr">
            <a:prstTxWarp prst="textArchUp">
              <a:avLst>
                <a:gd name="adj" fmla="val 14123060"/>
              </a:avLst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TW" sz="1300" b="1" kern="0" spc="50" dirty="0">
                <a:solidFill>
                  <a:srgbClr val="FFFFFF"/>
                </a:solidFill>
                <a:latin typeface="+mj-lt"/>
                <a:ea typeface="微软雅黑" pitchFamily="34" charset="-122"/>
              </a:rPr>
              <a:t>AI</a:t>
            </a:r>
            <a:endParaRPr lang="zh-CN" altLang="en-US" sz="1300" b="1" kern="0" spc="50" dirty="0">
              <a:solidFill>
                <a:srgbClr val="FFFFFF"/>
              </a:solidFill>
              <a:latin typeface="+mj-lt"/>
              <a:ea typeface="微软雅黑" pitchFamily="34" charset="-122"/>
            </a:endParaRPr>
          </a:p>
        </p:txBody>
      </p:sp>
      <p:sp>
        <p:nvSpPr>
          <p:cNvPr id="118" name="文字方塊 117">
            <a:extLst>
              <a:ext uri="{FF2B5EF4-FFF2-40B4-BE49-F238E27FC236}">
                <a16:creationId xmlns:a16="http://schemas.microsoft.com/office/drawing/2014/main" id="{4B1F5FAD-0D72-4D58-9A05-3672AFB54416}"/>
              </a:ext>
            </a:extLst>
          </p:cNvPr>
          <p:cNvSpPr txBox="1"/>
          <p:nvPr userDrawn="1"/>
        </p:nvSpPr>
        <p:spPr>
          <a:xfrm>
            <a:off x="522934" y="760201"/>
            <a:ext cx="1069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defRPr/>
            </a:pPr>
            <a:r>
              <a:rPr lang="en-US" altLang="zh-TW" sz="1800" b="1" dirty="0">
                <a:solidFill>
                  <a:srgbClr val="F68B1E"/>
                </a:solidFill>
              </a:rPr>
              <a:t>ESG</a:t>
            </a:r>
            <a:r>
              <a:rPr lang="zh-TW" altLang="en-US" sz="1800" b="1" dirty="0">
                <a:solidFill>
                  <a:srgbClr val="F68B1E"/>
                </a:solidFill>
              </a:rPr>
              <a:t>×</a:t>
            </a:r>
            <a:r>
              <a:rPr lang="en-US" altLang="zh-TW" sz="1800" b="1" dirty="0">
                <a:solidFill>
                  <a:srgbClr val="F68B1E"/>
                </a:solidFill>
              </a:rPr>
              <a:t>AI</a:t>
            </a:r>
          </a:p>
          <a:p>
            <a:pPr algn="ctr">
              <a:defRPr/>
            </a:pPr>
            <a:r>
              <a:rPr lang="en-US" altLang="zh-TW" sz="1800" b="1" dirty="0">
                <a:solidFill>
                  <a:srgbClr val="F68B1E"/>
                </a:solidFill>
              </a:rPr>
              <a:t>Moment</a:t>
            </a:r>
            <a:endParaRPr lang="zh-TW" altLang="en-US" sz="1800" b="1" dirty="0">
              <a:solidFill>
                <a:srgbClr val="F68B1E"/>
              </a:solidFill>
            </a:endParaRPr>
          </a:p>
        </p:txBody>
      </p:sp>
      <p:sp>
        <p:nvSpPr>
          <p:cNvPr id="121" name="文本3">
            <a:extLst>
              <a:ext uri="{FF2B5EF4-FFF2-40B4-BE49-F238E27FC236}">
                <a16:creationId xmlns:a16="http://schemas.microsoft.com/office/drawing/2014/main" id="{9E9EDB26-682A-4589-A18A-5FE3BDFD1085}"/>
              </a:ext>
            </a:extLst>
          </p:cNvPr>
          <p:cNvSpPr/>
          <p:nvPr userDrawn="1"/>
        </p:nvSpPr>
        <p:spPr>
          <a:xfrm rot="18153499">
            <a:off x="376375" y="454927"/>
            <a:ext cx="1213438" cy="1075135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spcFirstLastPara="1" lIns="91430" tIns="45716" rIns="91430" bIns="45716" numCol="1" anchor="ctr">
            <a:prstTxWarp prst="textArchUp">
              <a:avLst>
                <a:gd name="adj" fmla="val 12808063"/>
              </a:avLst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TW" sz="1100" b="1" kern="0" spc="50" dirty="0">
                <a:solidFill>
                  <a:srgbClr val="F9F9F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Green Engineering</a:t>
            </a:r>
          </a:p>
        </p:txBody>
      </p:sp>
      <p:sp>
        <p:nvSpPr>
          <p:cNvPr id="122" name="文本1">
            <a:extLst>
              <a:ext uri="{FF2B5EF4-FFF2-40B4-BE49-F238E27FC236}">
                <a16:creationId xmlns:a16="http://schemas.microsoft.com/office/drawing/2014/main" id="{45CE7E33-C3AD-4068-B492-DD13ACAA5178}"/>
              </a:ext>
            </a:extLst>
          </p:cNvPr>
          <p:cNvSpPr/>
          <p:nvPr userDrawn="1"/>
        </p:nvSpPr>
        <p:spPr>
          <a:xfrm rot="3741566">
            <a:off x="339897" y="388826"/>
            <a:ext cx="1335747" cy="142081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spcFirstLastPara="1" lIns="91430" tIns="45716" rIns="91430" bIns="45716" numCol="1" anchor="ctr">
            <a:prstTxWarp prst="textArchUp">
              <a:avLst>
                <a:gd name="adj" fmla="val 13174737"/>
              </a:avLst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TW" sz="1100" b="1" kern="0" spc="50" dirty="0">
                <a:solidFill>
                  <a:srgbClr val="F9F9F9"/>
                </a:solidFill>
                <a:ea typeface="+mj-ea"/>
              </a:rPr>
              <a:t>Smart applications</a:t>
            </a:r>
          </a:p>
        </p:txBody>
      </p:sp>
      <p:sp>
        <p:nvSpPr>
          <p:cNvPr id="123" name="文本2">
            <a:extLst>
              <a:ext uri="{FF2B5EF4-FFF2-40B4-BE49-F238E27FC236}">
                <a16:creationId xmlns:a16="http://schemas.microsoft.com/office/drawing/2014/main" id="{10B86328-7A99-43DE-8848-E201756BCC99}"/>
              </a:ext>
            </a:extLst>
          </p:cNvPr>
          <p:cNvSpPr/>
          <p:nvPr userDrawn="1"/>
        </p:nvSpPr>
        <p:spPr>
          <a:xfrm rot="11005674">
            <a:off x="418523" y="542041"/>
            <a:ext cx="1273771" cy="1163949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spcFirstLastPara="1" lIns="91430" tIns="45716" rIns="91430" bIns="45716" numCol="1" anchor="ctr">
            <a:prstTxWarp prst="textArchUp">
              <a:avLst>
                <a:gd name="adj" fmla="val 12981818"/>
              </a:avLst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TW" sz="1100" b="1" kern="0" spc="50" dirty="0">
                <a:solidFill>
                  <a:srgbClr val="F9F9F9"/>
                </a:solidFill>
                <a:ea typeface="+mj-ea"/>
              </a:rPr>
              <a:t>Circular Economy</a:t>
            </a:r>
          </a:p>
        </p:txBody>
      </p:sp>
    </p:spTree>
    <p:extLst>
      <p:ext uri="{BB962C8B-B14F-4D97-AF65-F5344CB8AC3E}">
        <p14:creationId xmlns:p14="http://schemas.microsoft.com/office/powerpoint/2010/main" val="1582741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600" b="1" i="0" kern="1600" spc="0">
          <a:solidFill>
            <a:srgbClr val="FF9B14"/>
          </a:solidFill>
          <a:latin typeface="+mj-ea"/>
          <a:ea typeface="+mj-ea"/>
          <a:cs typeface="+mj-cs"/>
        </a:defRPr>
      </a:lvl1pPr>
    </p:titleStyle>
    <p:bodyStyle>
      <a:lvl1pPr marL="180000" indent="-180000" algn="l" defTabSz="4572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Clr>
          <a:srgbClr val="FF9B14"/>
        </a:buClr>
        <a:buSzPct val="100000"/>
        <a:buFont typeface="Arial"/>
        <a:buChar char="•"/>
        <a:defRPr sz="1600" kern="1200">
          <a:solidFill>
            <a:srgbClr val="282828"/>
          </a:solidFill>
          <a:latin typeface="+mn-ea"/>
          <a:ea typeface="+mn-ea"/>
          <a:cs typeface="+mn-cs"/>
        </a:defRPr>
      </a:lvl1pPr>
      <a:lvl2pPr marL="540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Clr>
          <a:srgbClr val="FF9B14"/>
        </a:buClr>
        <a:buFont typeface="Arial"/>
        <a:buChar char="•"/>
        <a:defRPr sz="1600" kern="1200">
          <a:solidFill>
            <a:srgbClr val="282828"/>
          </a:solidFill>
          <a:latin typeface="+mn-ea"/>
          <a:ea typeface="+mn-ea"/>
          <a:cs typeface="+mn-cs"/>
        </a:defRPr>
      </a:lvl2pPr>
      <a:lvl3pPr marL="900000" indent="-180000" algn="l" defTabSz="4572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Clr>
          <a:srgbClr val="FF9B14"/>
        </a:buClr>
        <a:buSzPct val="90000"/>
        <a:buFont typeface="Arial"/>
        <a:buChar char="•"/>
        <a:defRPr sz="1600" kern="1200">
          <a:solidFill>
            <a:srgbClr val="282828"/>
          </a:solidFill>
          <a:latin typeface="+mn-ea"/>
          <a:ea typeface="+mn-ea"/>
          <a:cs typeface="+mn-cs"/>
        </a:defRPr>
      </a:lvl3pPr>
      <a:lvl4pPr marL="1260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Clr>
          <a:srgbClr val="FF9B14"/>
        </a:buClr>
        <a:buSzPct val="90000"/>
        <a:buFont typeface="Arial"/>
        <a:buChar char="•"/>
        <a:defRPr sz="1600" kern="1200">
          <a:solidFill>
            <a:srgbClr val="282828"/>
          </a:solidFill>
          <a:latin typeface="+mn-ea"/>
          <a:ea typeface="+mn-ea"/>
          <a:cs typeface="+mn-cs"/>
        </a:defRPr>
      </a:lvl4pPr>
      <a:lvl5pPr marL="1620000" indent="-180000" algn="l" defTabSz="4572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Clr>
          <a:srgbClr val="FF9B14"/>
        </a:buClr>
        <a:buSzPct val="90000"/>
        <a:buFont typeface="Arial"/>
        <a:buChar char="•"/>
        <a:defRPr sz="1600" kern="1200">
          <a:solidFill>
            <a:srgbClr val="282828"/>
          </a:solidFill>
          <a:latin typeface="+mn-ea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17">
          <p15:clr>
            <a:srgbClr val="F26B43"/>
          </p15:clr>
        </p15:guide>
        <p15:guide id="2" pos="1391">
          <p15:clr>
            <a:srgbClr val="F26B43"/>
          </p15:clr>
        </p15:guide>
        <p15:guide id="3" orient="horz" pos="70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3">
            <a:extLst>
              <a:ext uri="{FF2B5EF4-FFF2-40B4-BE49-F238E27FC236}">
                <a16:creationId xmlns:a16="http://schemas.microsoft.com/office/drawing/2014/main" id="{54F63527-EE74-12E4-2709-A9A5D093EF55}"/>
              </a:ext>
            </a:extLst>
          </p:cNvPr>
          <p:cNvSpPr txBox="1">
            <a:spLocks/>
          </p:cNvSpPr>
          <p:nvPr/>
        </p:nvSpPr>
        <p:spPr>
          <a:xfrm>
            <a:off x="2091000" y="774000"/>
            <a:ext cx="9903857" cy="68579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2600" b="1" i="0" kern="1600" spc="0">
                <a:solidFill>
                  <a:srgbClr val="FF9B14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zh-TW" dirty="0"/>
              <a:t>Claude Cowork </a:t>
            </a:r>
            <a:r>
              <a:rPr lang="zh-TW" altLang="zh-TW" dirty="0"/>
              <a:t>介紹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D22ECE2-3AFA-FA60-19CE-E1B2E8319D27}"/>
              </a:ext>
            </a:extLst>
          </p:cNvPr>
          <p:cNvSpPr txBox="1"/>
          <p:nvPr/>
        </p:nvSpPr>
        <p:spPr>
          <a:xfrm>
            <a:off x="2091000" y="1543762"/>
            <a:ext cx="91222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/>
              <a:t>Claude Cowork </a:t>
            </a:r>
            <a:r>
              <a:rPr lang="zh-TW" altLang="en-US" sz="1600" dirty="0"/>
              <a:t>是 Claude 桌面應用程式的功能，讓非開發者也能透過 AI 自動化處理本機檔案管理、排程任務與瀏覽器操作。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3CB5163-FE20-D7F2-D41A-04F5291A057B}"/>
              </a:ext>
            </a:extLst>
          </p:cNvPr>
          <p:cNvSpPr txBox="1"/>
          <p:nvPr/>
        </p:nvSpPr>
        <p:spPr>
          <a:xfrm>
            <a:off x="2044727" y="2195148"/>
            <a:ext cx="9122228" cy="2262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dirty="0"/>
              <a:t>Cowork 核心功能：</a:t>
            </a:r>
            <a:endParaRPr lang="zh-TW" altLang="en-US" sz="1600" dirty="0"/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600" b="1" dirty="0"/>
              <a:t>檔案存取與操作：</a:t>
            </a:r>
            <a:r>
              <a:rPr lang="zh-TW" altLang="en-US" sz="1600" dirty="0"/>
              <a:t>Claude 直接存取指定資料夾，讀取、建立及編輯各類文件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600" b="1" dirty="0"/>
              <a:t>任務排程（Scheduled Tasks）：</a:t>
            </a:r>
            <a:r>
              <a:rPr lang="zh-TW" altLang="en-US" sz="1600" dirty="0"/>
              <a:t>設定排程讓 Claude 定時自動執行任務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600" b="1" dirty="0"/>
              <a:t>瀏覽器自動化（Claude in Chrome）：</a:t>
            </a:r>
            <a:r>
              <a:rPr lang="zh-TW" altLang="en-US" sz="1600" dirty="0"/>
              <a:t>透過 Chrome 擴充套件讓 Claude 自動操作網頁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600" b="1" dirty="0"/>
              <a:t>技能套件（Skills）：</a:t>
            </a:r>
            <a:r>
              <a:rPr lang="zh-TW" altLang="en-US" sz="1600" dirty="0"/>
              <a:t>安裝專業技能包，支援製作 PPTX、Word、PDF 等文件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D3EF5FA-8CA6-81ED-5C94-1F1B30702426}"/>
              </a:ext>
            </a:extLst>
          </p:cNvPr>
          <p:cNvSpPr txBox="1"/>
          <p:nvPr/>
        </p:nvSpPr>
        <p:spPr>
          <a:xfrm>
            <a:off x="1416000" y="639200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1200" b="0" i="0" dirty="0">
                <a:effectLst/>
              </a:rPr>
              <a:t>https://claude.ai</a:t>
            </a:r>
          </a:p>
        </p:txBody>
      </p:sp>
      <p:sp>
        <p:nvSpPr>
          <p:cNvPr id="2" name="Donut 13">
            <a:extLst>
              <a:ext uri="{FF2B5EF4-FFF2-40B4-BE49-F238E27FC236}">
                <a16:creationId xmlns:a16="http://schemas.microsoft.com/office/drawing/2014/main" id="{B984062B-8AED-9BC4-2414-30C94F3206AB}"/>
              </a:ext>
            </a:extLst>
          </p:cNvPr>
          <p:cNvSpPr/>
          <p:nvPr/>
        </p:nvSpPr>
        <p:spPr>
          <a:xfrm rot="7488651">
            <a:off x="648655" y="947158"/>
            <a:ext cx="818081" cy="1047034"/>
          </a:xfrm>
          <a:custGeom>
            <a:avLst/>
            <a:gdLst/>
            <a:ahLst/>
            <a:cxnLst/>
            <a:rect l="l" t="t" r="r" b="b"/>
            <a:pathLst>
              <a:path w="1911628" h="2446640">
                <a:moveTo>
                  <a:pt x="10805" y="498722"/>
                </a:moveTo>
                <a:lnTo>
                  <a:pt x="237769" y="259080"/>
                </a:lnTo>
                <a:lnTo>
                  <a:pt x="0" y="8030"/>
                </a:lnTo>
                <a:lnTo>
                  <a:pt x="159028" y="0"/>
                </a:lnTo>
                <a:cubicBezTo>
                  <a:pt x="1126962" y="0"/>
                  <a:pt x="1911628" y="784666"/>
                  <a:pt x="1911628" y="1752600"/>
                </a:cubicBezTo>
                <a:cubicBezTo>
                  <a:pt x="1911628" y="1969707"/>
                  <a:pt x="1872152" y="2177593"/>
                  <a:pt x="1797852" y="2368654"/>
                </a:cubicBezTo>
                <a:lnTo>
                  <a:pt x="1478579" y="2446640"/>
                </a:lnTo>
                <a:lnTo>
                  <a:pt x="1371400" y="2092516"/>
                </a:lnTo>
                <a:cubicBezTo>
                  <a:pt x="1406097" y="1985258"/>
                  <a:pt x="1422337" y="1870826"/>
                  <a:pt x="1422337" y="1752600"/>
                </a:cubicBezTo>
                <a:cubicBezTo>
                  <a:pt x="1422337" y="1054894"/>
                  <a:pt x="856734" y="489291"/>
                  <a:pt x="159028" y="489291"/>
                </a:cubicBezTo>
                <a:cubicBezTo>
                  <a:pt x="108852" y="489291"/>
                  <a:pt x="59358" y="492216"/>
                  <a:pt x="10805" y="498722"/>
                </a:cubicBezTo>
                <a:close/>
              </a:path>
            </a:pathLst>
          </a:custGeom>
          <a:solidFill>
            <a:srgbClr val="1568B3"/>
          </a:solidFill>
          <a:ln w="2540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EF57E8F6-BAE5-CBF2-DDAC-A56A2B023508}"/>
              </a:ext>
            </a:extLst>
          </p:cNvPr>
          <p:cNvSpPr/>
          <p:nvPr/>
        </p:nvSpPr>
        <p:spPr>
          <a:xfrm>
            <a:off x="278230" y="256526"/>
            <a:ext cx="1591626" cy="1591632"/>
          </a:xfrm>
          <a:prstGeom prst="ellipse">
            <a:avLst/>
          </a:prstGeom>
          <a:solidFill>
            <a:sysClr val="window" lastClr="FFFFFF"/>
          </a:solidFill>
          <a:ln w="384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2E818116-1E09-E5CE-B7B1-3855AB69B8D5}"/>
              </a:ext>
            </a:extLst>
          </p:cNvPr>
          <p:cNvSpPr/>
          <p:nvPr/>
        </p:nvSpPr>
        <p:spPr>
          <a:xfrm>
            <a:off x="104141" y="106293"/>
            <a:ext cx="1908000" cy="1908000"/>
          </a:xfrm>
          <a:prstGeom prst="ellipse">
            <a:avLst/>
          </a:prstGeom>
          <a:solidFill>
            <a:srgbClr val="FDB912"/>
          </a:solidFill>
          <a:ln w="384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F916DB0C-C5BC-8148-B091-89D763A8FBFB}"/>
              </a:ext>
            </a:extLst>
          </p:cNvPr>
          <p:cNvSpPr/>
          <p:nvPr/>
        </p:nvSpPr>
        <p:spPr>
          <a:xfrm>
            <a:off x="262327" y="264477"/>
            <a:ext cx="1591626" cy="1591632"/>
          </a:xfrm>
          <a:prstGeom prst="ellipse">
            <a:avLst/>
          </a:prstGeom>
          <a:solidFill>
            <a:sysClr val="window" lastClr="FFFFFF"/>
          </a:solidFill>
          <a:ln w="384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0" name="Donut 13">
            <a:extLst>
              <a:ext uri="{FF2B5EF4-FFF2-40B4-BE49-F238E27FC236}">
                <a16:creationId xmlns:a16="http://schemas.microsoft.com/office/drawing/2014/main" id="{F0A695E6-54FF-D8FC-6CBC-076B9AE2EB6E}"/>
              </a:ext>
            </a:extLst>
          </p:cNvPr>
          <p:cNvSpPr/>
          <p:nvPr/>
        </p:nvSpPr>
        <p:spPr>
          <a:xfrm rot="267487">
            <a:off x="1014670" y="337716"/>
            <a:ext cx="818077" cy="1047779"/>
          </a:xfrm>
          <a:custGeom>
            <a:avLst/>
            <a:gdLst/>
            <a:ahLst/>
            <a:cxnLst/>
            <a:rect l="l" t="t" r="r" b="b"/>
            <a:pathLst>
              <a:path w="1911628" h="2448370">
                <a:moveTo>
                  <a:pt x="159028" y="0"/>
                </a:moveTo>
                <a:cubicBezTo>
                  <a:pt x="1126962" y="0"/>
                  <a:pt x="1911628" y="784666"/>
                  <a:pt x="1911628" y="1752600"/>
                </a:cubicBezTo>
                <a:cubicBezTo>
                  <a:pt x="1911628" y="1971660"/>
                  <a:pt x="1871438" y="2181334"/>
                  <a:pt x="1796069" y="2373897"/>
                </a:cubicBezTo>
                <a:lnTo>
                  <a:pt x="1484520" y="2448370"/>
                </a:lnTo>
                <a:lnTo>
                  <a:pt x="1376590" y="2085315"/>
                </a:lnTo>
                <a:cubicBezTo>
                  <a:pt x="1406890" y="1979599"/>
                  <a:pt x="1422337" y="1867904"/>
                  <a:pt x="1422337" y="1752600"/>
                </a:cubicBezTo>
                <a:cubicBezTo>
                  <a:pt x="1422337" y="1054894"/>
                  <a:pt x="856734" y="489291"/>
                  <a:pt x="159028" y="489291"/>
                </a:cubicBezTo>
                <a:cubicBezTo>
                  <a:pt x="108852" y="489291"/>
                  <a:pt x="59358" y="492216"/>
                  <a:pt x="10805" y="498722"/>
                </a:cubicBezTo>
                <a:lnTo>
                  <a:pt x="237769" y="259080"/>
                </a:lnTo>
                <a:lnTo>
                  <a:pt x="0" y="8030"/>
                </a:lnTo>
                <a:cubicBezTo>
                  <a:pt x="52324" y="2409"/>
                  <a:pt x="105395" y="0"/>
                  <a:pt x="159028" y="0"/>
                </a:cubicBezTo>
                <a:close/>
              </a:path>
            </a:pathLst>
          </a:custGeom>
          <a:solidFill>
            <a:srgbClr val="15A085"/>
          </a:solidFill>
          <a:ln w="2540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1" name="Donut 13">
            <a:extLst>
              <a:ext uri="{FF2B5EF4-FFF2-40B4-BE49-F238E27FC236}">
                <a16:creationId xmlns:a16="http://schemas.microsoft.com/office/drawing/2014/main" id="{153028CD-40A8-11B1-34A1-32A0E560A368}"/>
              </a:ext>
            </a:extLst>
          </p:cNvPr>
          <p:cNvSpPr/>
          <p:nvPr/>
        </p:nvSpPr>
        <p:spPr>
          <a:xfrm rot="7488651">
            <a:off x="648656" y="947158"/>
            <a:ext cx="818081" cy="1047034"/>
          </a:xfrm>
          <a:custGeom>
            <a:avLst/>
            <a:gdLst/>
            <a:ahLst/>
            <a:cxnLst/>
            <a:rect l="l" t="t" r="r" b="b"/>
            <a:pathLst>
              <a:path w="1911628" h="2446640">
                <a:moveTo>
                  <a:pt x="10805" y="498722"/>
                </a:moveTo>
                <a:lnTo>
                  <a:pt x="237769" y="259080"/>
                </a:lnTo>
                <a:lnTo>
                  <a:pt x="0" y="8030"/>
                </a:lnTo>
                <a:lnTo>
                  <a:pt x="159028" y="0"/>
                </a:lnTo>
                <a:cubicBezTo>
                  <a:pt x="1126962" y="0"/>
                  <a:pt x="1911628" y="784666"/>
                  <a:pt x="1911628" y="1752600"/>
                </a:cubicBezTo>
                <a:cubicBezTo>
                  <a:pt x="1911628" y="1969707"/>
                  <a:pt x="1872152" y="2177593"/>
                  <a:pt x="1797852" y="2368654"/>
                </a:cubicBezTo>
                <a:lnTo>
                  <a:pt x="1478579" y="2446640"/>
                </a:lnTo>
                <a:lnTo>
                  <a:pt x="1371400" y="2092516"/>
                </a:lnTo>
                <a:cubicBezTo>
                  <a:pt x="1406097" y="1985258"/>
                  <a:pt x="1422337" y="1870826"/>
                  <a:pt x="1422337" y="1752600"/>
                </a:cubicBezTo>
                <a:cubicBezTo>
                  <a:pt x="1422337" y="1054894"/>
                  <a:pt x="856734" y="489291"/>
                  <a:pt x="159028" y="489291"/>
                </a:cubicBezTo>
                <a:cubicBezTo>
                  <a:pt x="108852" y="489291"/>
                  <a:pt x="59358" y="492216"/>
                  <a:pt x="10805" y="498722"/>
                </a:cubicBezTo>
                <a:close/>
              </a:path>
            </a:pathLst>
          </a:custGeom>
          <a:solidFill>
            <a:srgbClr val="1568B3"/>
          </a:solidFill>
          <a:ln w="2540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2" name="Donut 13">
            <a:extLst>
              <a:ext uri="{FF2B5EF4-FFF2-40B4-BE49-F238E27FC236}">
                <a16:creationId xmlns:a16="http://schemas.microsoft.com/office/drawing/2014/main" id="{37FDB057-0E8D-DC1D-B717-8C31CBF0EA55}"/>
              </a:ext>
            </a:extLst>
          </p:cNvPr>
          <p:cNvSpPr/>
          <p:nvPr/>
        </p:nvSpPr>
        <p:spPr>
          <a:xfrm rot="14667487">
            <a:off x="306207" y="328874"/>
            <a:ext cx="818081" cy="1046057"/>
          </a:xfrm>
          <a:custGeom>
            <a:avLst/>
            <a:gdLst/>
            <a:ahLst/>
            <a:cxnLst/>
            <a:rect l="l" t="t" r="r" b="b"/>
            <a:pathLst>
              <a:path w="1911628" h="2444355">
                <a:moveTo>
                  <a:pt x="1797134" y="2370766"/>
                </a:moveTo>
                <a:lnTo>
                  <a:pt x="1489282" y="2444355"/>
                </a:lnTo>
                <a:lnTo>
                  <a:pt x="1379591" y="2075377"/>
                </a:lnTo>
                <a:cubicBezTo>
                  <a:pt x="1407847" y="1972569"/>
                  <a:pt x="1422337" y="1864277"/>
                  <a:pt x="1422337" y="1752600"/>
                </a:cubicBezTo>
                <a:cubicBezTo>
                  <a:pt x="1422337" y="1054894"/>
                  <a:pt x="856734" y="489291"/>
                  <a:pt x="159028" y="489291"/>
                </a:cubicBezTo>
                <a:cubicBezTo>
                  <a:pt x="108852" y="489291"/>
                  <a:pt x="59358" y="492216"/>
                  <a:pt x="10805" y="498722"/>
                </a:cubicBezTo>
                <a:lnTo>
                  <a:pt x="237769" y="259080"/>
                </a:lnTo>
                <a:lnTo>
                  <a:pt x="0" y="8030"/>
                </a:lnTo>
                <a:cubicBezTo>
                  <a:pt x="52324" y="2409"/>
                  <a:pt x="105395" y="0"/>
                  <a:pt x="159028" y="0"/>
                </a:cubicBezTo>
                <a:cubicBezTo>
                  <a:pt x="1126962" y="0"/>
                  <a:pt x="1911628" y="784666"/>
                  <a:pt x="1911628" y="1752600"/>
                </a:cubicBezTo>
                <a:cubicBezTo>
                  <a:pt x="1911628" y="1970493"/>
                  <a:pt x="1871865" y="2179100"/>
                  <a:pt x="1797134" y="2370766"/>
                </a:cubicBezTo>
                <a:close/>
              </a:path>
            </a:pathLst>
          </a:custGeom>
          <a:solidFill>
            <a:srgbClr val="95CB6E"/>
          </a:solidFill>
          <a:ln w="2540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3" name="文本1">
            <a:extLst>
              <a:ext uri="{FF2B5EF4-FFF2-40B4-BE49-F238E27FC236}">
                <a16:creationId xmlns:a16="http://schemas.microsoft.com/office/drawing/2014/main" id="{8BBD9616-A5CE-A52C-35C6-844794162D0B}"/>
              </a:ext>
            </a:extLst>
          </p:cNvPr>
          <p:cNvSpPr/>
          <p:nvPr/>
        </p:nvSpPr>
        <p:spPr>
          <a:xfrm rot="3594807">
            <a:off x="712619" y="562534"/>
            <a:ext cx="1101435" cy="78698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spcFirstLastPara="1" lIns="91430" tIns="45716" rIns="91430" bIns="45716" numCol="1" anchor="ctr">
            <a:prstTxWarp prst="textArchUp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zh-TW" altLang="en-US" sz="1250" b="1" kern="0" spc="50" dirty="0">
                <a:solidFill>
                  <a:srgbClr val="F9F9F9"/>
                </a:solidFill>
                <a:latin typeface="+mj-ea"/>
                <a:ea typeface="+mj-ea"/>
              </a:rPr>
              <a:t>智能應用</a:t>
            </a:r>
            <a:endParaRPr lang="zh-CN" altLang="en-US" sz="1250" b="1" kern="0" spc="50" dirty="0">
              <a:solidFill>
                <a:srgbClr val="F9F9F9"/>
              </a:solidFill>
              <a:latin typeface="+mj-ea"/>
              <a:ea typeface="+mj-ea"/>
            </a:endParaRPr>
          </a:p>
        </p:txBody>
      </p:sp>
      <p:sp>
        <p:nvSpPr>
          <p:cNvPr id="14" name="文本4">
            <a:extLst>
              <a:ext uri="{FF2B5EF4-FFF2-40B4-BE49-F238E27FC236}">
                <a16:creationId xmlns:a16="http://schemas.microsoft.com/office/drawing/2014/main" id="{78D4F5D5-FB34-F55D-6A71-0A542452FEF6}"/>
              </a:ext>
            </a:extLst>
          </p:cNvPr>
          <p:cNvSpPr/>
          <p:nvPr/>
        </p:nvSpPr>
        <p:spPr>
          <a:xfrm>
            <a:off x="542478" y="213828"/>
            <a:ext cx="1020599" cy="78698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spcFirstLastPara="1" lIns="91430" tIns="45716" rIns="91430" bIns="45716" numCol="1" anchor="ctr">
            <a:prstTxWarp prst="textArchUp">
              <a:avLst>
                <a:gd name="adj" fmla="val 14123060"/>
              </a:avLst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TW" sz="1300" b="1" kern="0" spc="50" dirty="0">
                <a:solidFill>
                  <a:srgbClr val="FFFFFF"/>
                </a:solidFill>
                <a:latin typeface="+mj-lt"/>
                <a:ea typeface="微软雅黑" pitchFamily="34" charset="-122"/>
              </a:rPr>
              <a:t>AI</a:t>
            </a:r>
            <a:endParaRPr lang="zh-CN" altLang="en-US" sz="1300" b="1" kern="0" spc="50" dirty="0">
              <a:solidFill>
                <a:srgbClr val="FFFFFF"/>
              </a:solidFill>
              <a:latin typeface="+mj-lt"/>
              <a:ea typeface="微软雅黑" pitchFamily="34" charset="-122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A09AF4E-4844-4B85-27D0-906ACC0D85D6}"/>
              </a:ext>
            </a:extLst>
          </p:cNvPr>
          <p:cNvSpPr txBox="1"/>
          <p:nvPr/>
        </p:nvSpPr>
        <p:spPr>
          <a:xfrm>
            <a:off x="522934" y="760201"/>
            <a:ext cx="1069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defRPr/>
            </a:pPr>
            <a:r>
              <a:rPr lang="en-US" altLang="zh-TW" sz="1800" b="1" dirty="0">
                <a:solidFill>
                  <a:srgbClr val="F68B1E"/>
                </a:solidFill>
              </a:rPr>
              <a:t>ESG</a:t>
            </a:r>
            <a:r>
              <a:rPr lang="zh-TW" altLang="en-US" sz="1800" b="1" dirty="0">
                <a:solidFill>
                  <a:srgbClr val="F68B1E"/>
                </a:solidFill>
              </a:rPr>
              <a:t>×</a:t>
            </a:r>
            <a:r>
              <a:rPr lang="en-US" altLang="zh-TW" sz="1800" b="1" dirty="0">
                <a:solidFill>
                  <a:srgbClr val="F68B1E"/>
                </a:solidFill>
              </a:rPr>
              <a:t>AI</a:t>
            </a:r>
          </a:p>
          <a:p>
            <a:pPr algn="ctr">
              <a:defRPr/>
            </a:pPr>
            <a:r>
              <a:rPr lang="en-US" altLang="zh-TW" sz="1800" b="1" dirty="0">
                <a:solidFill>
                  <a:srgbClr val="F68B1E"/>
                </a:solidFill>
              </a:rPr>
              <a:t>Moment</a:t>
            </a:r>
            <a:endParaRPr lang="zh-TW" altLang="en-US" sz="1800" b="1" dirty="0">
              <a:solidFill>
                <a:srgbClr val="F68B1E"/>
              </a:solidFill>
            </a:endParaRPr>
          </a:p>
        </p:txBody>
      </p:sp>
      <p:sp>
        <p:nvSpPr>
          <p:cNvPr id="16" name="文本3">
            <a:extLst>
              <a:ext uri="{FF2B5EF4-FFF2-40B4-BE49-F238E27FC236}">
                <a16:creationId xmlns:a16="http://schemas.microsoft.com/office/drawing/2014/main" id="{9A34FA2C-6203-3303-3428-D62BFA1EDFCE}"/>
              </a:ext>
            </a:extLst>
          </p:cNvPr>
          <p:cNvSpPr/>
          <p:nvPr/>
        </p:nvSpPr>
        <p:spPr>
          <a:xfrm rot="18130980">
            <a:off x="307100" y="560858"/>
            <a:ext cx="1119829" cy="78698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spcFirstLastPara="1" lIns="91430" tIns="45716" rIns="91430" bIns="45716" numCol="1" anchor="ctr">
            <a:prstTxWarp prst="textArchUp">
              <a:avLst>
                <a:gd name="adj" fmla="val 13453619"/>
              </a:avLst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zh-TW" altLang="en-US" sz="1250" b="1" kern="0" spc="50" dirty="0">
                <a:solidFill>
                  <a:srgbClr val="F9F9F9"/>
                </a:solidFill>
                <a:latin typeface="+mj-ea"/>
                <a:ea typeface="+mj-ea"/>
              </a:rPr>
              <a:t>綠色工程</a:t>
            </a:r>
            <a:endParaRPr lang="zh-CN" altLang="en-US" sz="1250" b="1" kern="0" spc="50" dirty="0">
              <a:solidFill>
                <a:srgbClr val="F9F9F9"/>
              </a:solidFill>
              <a:latin typeface="+mj-ea"/>
              <a:ea typeface="+mj-ea"/>
            </a:endParaRPr>
          </a:p>
        </p:txBody>
      </p:sp>
      <p:sp>
        <p:nvSpPr>
          <p:cNvPr id="17" name="文本2">
            <a:extLst>
              <a:ext uri="{FF2B5EF4-FFF2-40B4-BE49-F238E27FC236}">
                <a16:creationId xmlns:a16="http://schemas.microsoft.com/office/drawing/2014/main" id="{74110C53-86C1-B658-B1FC-29F4D23B1EC2}"/>
              </a:ext>
            </a:extLst>
          </p:cNvPr>
          <p:cNvSpPr/>
          <p:nvPr/>
        </p:nvSpPr>
        <p:spPr>
          <a:xfrm rot="21439826">
            <a:off x="531762" y="942840"/>
            <a:ext cx="1055472" cy="78698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spcFirstLastPara="1" lIns="91430" tIns="45716" rIns="91430" bIns="45716" numCol="1" anchor="ctr">
            <a:prstTxWarp prst="textArchDown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457200" rtl="0" eaLnBrk="1" latinLnBrk="0" hangingPunct="1">
              <a:defRPr/>
            </a:pPr>
            <a:r>
              <a:rPr lang="zh-TW" altLang="en-US" sz="1250" b="1" kern="0" spc="200" baseline="0" dirty="0">
                <a:solidFill>
                  <a:srgbClr val="F9F9F9"/>
                </a:solidFill>
                <a:latin typeface="+mj-ea"/>
                <a:ea typeface="+mj-ea"/>
                <a:cs typeface="+mn-cs"/>
              </a:rPr>
              <a:t>循環經濟</a:t>
            </a:r>
            <a:endParaRPr lang="zh-CN" altLang="en-US" sz="1250" b="1" kern="0" spc="200" baseline="0" dirty="0">
              <a:solidFill>
                <a:srgbClr val="F9F9F9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7D3A872-2CFE-442B-89BF-AC8A606A50D9}"/>
              </a:ext>
            </a:extLst>
          </p:cNvPr>
          <p:cNvSpPr txBox="1"/>
          <p:nvPr/>
        </p:nvSpPr>
        <p:spPr>
          <a:xfrm>
            <a:off x="2080591" y="4692134"/>
            <a:ext cx="9086364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b="1" dirty="0"/>
              <a:t>Cowork 應用情境：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sz="1600" b="1" dirty="0"/>
              <a:t>自動文件生成：</a:t>
            </a:r>
            <a:r>
              <a:rPr lang="zh-TW" altLang="en-US" sz="1600" dirty="0"/>
              <a:t>根據資料夾內的資料，自動生成 Word、Excel 或 PowerPoint 報告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sz="1600" b="1" dirty="0"/>
              <a:t>定時任務處理：</a:t>
            </a:r>
            <a:r>
              <a:rPr lang="zh-TW" altLang="en-US" sz="1600" dirty="0"/>
              <a:t>設定每日排程，自動整理下載資料夾、摘要最新資訊等</a:t>
            </a:r>
          </a:p>
        </p:txBody>
      </p:sp>
    </p:spTree>
    <p:extLst>
      <p:ext uri="{BB962C8B-B14F-4D97-AF65-F5344CB8AC3E}">
        <p14:creationId xmlns:p14="http://schemas.microsoft.com/office/powerpoint/2010/main" val="429492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3">
            <a:extLst>
              <a:ext uri="{FF2B5EF4-FFF2-40B4-BE49-F238E27FC236}">
                <a16:creationId xmlns:a16="http://schemas.microsoft.com/office/drawing/2014/main" id="{54F63527-EE74-12E4-2709-A9A5D093EF55}"/>
              </a:ext>
            </a:extLst>
          </p:cNvPr>
          <p:cNvSpPr txBox="1">
            <a:spLocks/>
          </p:cNvSpPr>
          <p:nvPr/>
        </p:nvSpPr>
        <p:spPr>
          <a:xfrm>
            <a:off x="2091000" y="774000"/>
            <a:ext cx="9903857" cy="68579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2600" b="1" i="0" kern="1600" spc="0">
                <a:solidFill>
                  <a:srgbClr val="FF9B14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zh-TW" dirty="0"/>
              <a:t>Introduction of Claude Cowork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D22ECE2-3AFA-FA60-19CE-E1B2E8319D27}"/>
              </a:ext>
            </a:extLst>
          </p:cNvPr>
          <p:cNvSpPr txBox="1"/>
          <p:nvPr/>
        </p:nvSpPr>
        <p:spPr>
          <a:xfrm>
            <a:off x="2091000" y="1225674"/>
            <a:ext cx="7695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/>
              <a:t>Claude Cowork </a:t>
            </a:r>
            <a:r>
              <a:rPr lang="en-US" altLang="zh-TW" sz="1600" dirty="0"/>
              <a:t>is a Claude desktop feature enabling non-developers to automate file management, scheduled tasks, and browser operations with AI.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3CB5163-FE20-D7F2-D41A-04F5291A057B}"/>
              </a:ext>
            </a:extLst>
          </p:cNvPr>
          <p:cNvSpPr txBox="1"/>
          <p:nvPr/>
        </p:nvSpPr>
        <p:spPr>
          <a:xfrm>
            <a:off x="2091000" y="2129371"/>
            <a:ext cx="9231249" cy="2262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TW" sz="1600" b="1" dirty="0"/>
              <a:t>Cowork Core Features:</a:t>
            </a:r>
            <a:endParaRPr lang="en-US" altLang="zh-TW" sz="1600" dirty="0"/>
          </a:p>
          <a:p>
            <a:pPr marL="800100" lvl="1" indent="-342900">
              <a:lnSpc>
                <a:spcPct val="120000"/>
              </a:lnSpc>
              <a:buFont typeface="+mj-lt"/>
              <a:buAutoNum type="arabicPeriod"/>
            </a:pPr>
            <a:r>
              <a:rPr lang="en-US" altLang="zh-TW" sz="1600" b="1" dirty="0"/>
              <a:t>File Access &amp; Operations: </a:t>
            </a:r>
            <a:r>
              <a:rPr lang="en-US" altLang="zh-TW" sz="1600" dirty="0"/>
              <a:t>Read, create, and edit documents in user-designated folders</a:t>
            </a:r>
          </a:p>
          <a:p>
            <a:pPr marL="800100" lvl="1" indent="-342900">
              <a:lnSpc>
                <a:spcPct val="120000"/>
              </a:lnSpc>
              <a:buFont typeface="+mj-lt"/>
              <a:buAutoNum type="arabicPeriod"/>
            </a:pPr>
            <a:r>
              <a:rPr lang="en-US" altLang="zh-TW" sz="1600" b="1" dirty="0"/>
              <a:t>Scheduled Tasks: </a:t>
            </a:r>
            <a:r>
              <a:rPr lang="en-US" altLang="zh-TW" sz="1600" dirty="0"/>
              <a:t>Automatic task execution on a timed schedule without manual input</a:t>
            </a:r>
          </a:p>
          <a:p>
            <a:pPr marL="800100" lvl="1" indent="-342900">
              <a:lnSpc>
                <a:spcPct val="120000"/>
              </a:lnSpc>
              <a:buFont typeface="+mj-lt"/>
              <a:buAutoNum type="arabicPeriod"/>
            </a:pPr>
            <a:r>
              <a:rPr lang="en-US" altLang="zh-TW" sz="1600" b="1" dirty="0"/>
              <a:t>Browser Automation (Claude in Chrome): </a:t>
            </a:r>
            <a:r>
              <a:rPr lang="en-US" altLang="zh-TW" sz="1600" dirty="0"/>
              <a:t>Automate web interactions via Chrome extension</a:t>
            </a:r>
          </a:p>
          <a:p>
            <a:pPr marL="800100" lvl="1" indent="-342900">
              <a:lnSpc>
                <a:spcPct val="120000"/>
              </a:lnSpc>
              <a:buFont typeface="+mj-lt"/>
              <a:buAutoNum type="arabicPeriod"/>
            </a:pPr>
            <a:r>
              <a:rPr lang="en-US" altLang="zh-TW" sz="1600" b="1" dirty="0"/>
              <a:t>Skills Packages: </a:t>
            </a:r>
            <a:r>
              <a:rPr lang="en-US" altLang="zh-TW" sz="1600" dirty="0"/>
              <a:t>Install skills for PPTX, Word, PDF creation and more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D3EF5FA-8CA6-81ED-5C94-1F1B30702426}"/>
              </a:ext>
            </a:extLst>
          </p:cNvPr>
          <p:cNvSpPr txBox="1"/>
          <p:nvPr/>
        </p:nvSpPr>
        <p:spPr>
          <a:xfrm>
            <a:off x="1416000" y="639200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1200" b="0" i="0" dirty="0">
                <a:effectLst/>
              </a:rPr>
              <a:t>https://claude.ai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1F130D7-1AF4-4CB5-863A-09D76A958834}"/>
              </a:ext>
            </a:extLst>
          </p:cNvPr>
          <p:cNvSpPr txBox="1"/>
          <p:nvPr/>
        </p:nvSpPr>
        <p:spPr>
          <a:xfrm>
            <a:off x="2121061" y="4454565"/>
            <a:ext cx="923124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/>
              <a:t>Cowork Application Scenarios:</a:t>
            </a:r>
            <a:endParaRPr lang="en-US" altLang="zh-TW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zh-TW" sz="1600" b="1" dirty="0"/>
              <a:t>Automated Document Generation: </a:t>
            </a:r>
            <a:r>
              <a:rPr lang="en-US" altLang="zh-TW" sz="1600" dirty="0"/>
              <a:t>Auto-create reports from data files in a designated folder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sz="1600" b="1" dirty="0"/>
              <a:t>Scheduled Task Processing: </a:t>
            </a:r>
            <a:r>
              <a:rPr lang="en-US" altLang="zh-TW" sz="1600" dirty="0"/>
              <a:t>Organize folders and summarize information on a set schedule</a:t>
            </a:r>
          </a:p>
        </p:txBody>
      </p:sp>
    </p:spTree>
    <p:extLst>
      <p:ext uri="{BB962C8B-B14F-4D97-AF65-F5344CB8AC3E}">
        <p14:creationId xmlns:p14="http://schemas.microsoft.com/office/powerpoint/2010/main" val="1152863252"/>
      </p:ext>
    </p:extLst>
  </p:cSld>
  <p:clrMapOvr>
    <a:masterClrMapping/>
  </p:clrMapOvr>
</p:sld>
</file>

<file path=ppt/theme/theme1.xml><?xml version="1.0" encoding="utf-8"?>
<a:theme xmlns:a="http://schemas.openxmlformats.org/drawingml/2006/main" name="8_CTCI_PPT-Template">
  <a:themeElements>
    <a:clrScheme name="Custom 3">
      <a:dk1>
        <a:srgbClr val="212121"/>
      </a:dk1>
      <a:lt1>
        <a:sysClr val="window" lastClr="FFFFFF"/>
      </a:lt1>
      <a:dk2>
        <a:srgbClr val="414448"/>
      </a:dk2>
      <a:lt2>
        <a:srgbClr val="F8F8F8"/>
      </a:lt2>
      <a:accent1>
        <a:srgbClr val="F58F17"/>
      </a:accent1>
      <a:accent2>
        <a:srgbClr val="FFDD00"/>
      </a:accent2>
      <a:accent3>
        <a:srgbClr val="E55A25"/>
      </a:accent3>
      <a:accent4>
        <a:srgbClr val="D5DF30"/>
      </a:accent4>
      <a:accent5>
        <a:srgbClr val="1B9F84"/>
      </a:accent5>
      <a:accent6>
        <a:srgbClr val="6E4233"/>
      </a:accent6>
      <a:hlink>
        <a:srgbClr val="0A5BC3"/>
      </a:hlink>
      <a:folHlink>
        <a:srgbClr val="601DAF"/>
      </a:folHlink>
    </a:clrScheme>
    <a:fontScheme name="Office 古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TCI_PPT-Template" id="{D737F933-4CE4-4BFD-8AFF-C2DE44DF1FF1}" vid="{873E4518-2A1A-456E-8196-F036EA5B895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47677</TotalTime>
  <Words>672</Words>
  <Application>Microsoft Office PowerPoint</Application>
  <PresentationFormat>寬螢幕</PresentationFormat>
  <Paragraphs>50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微軟正黑體</vt:lpstr>
      <vt:lpstr>Arial</vt:lpstr>
      <vt:lpstr>Calibri</vt:lpstr>
      <vt:lpstr>8_CTCI_PPT-Template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ddg</dc:creator>
  <cp:lastModifiedBy>鎰群 蔡</cp:lastModifiedBy>
  <cp:revision>2182</cp:revision>
  <cp:lastPrinted>2025-05-08T05:57:21Z</cp:lastPrinted>
  <dcterms:created xsi:type="dcterms:W3CDTF">2016-04-15T01:59:57Z</dcterms:created>
  <dcterms:modified xsi:type="dcterms:W3CDTF">2026-03-25T06:28:17Z</dcterms:modified>
</cp:coreProperties>
</file>