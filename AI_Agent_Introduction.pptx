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4864"/>
          </a:xfrm>
          <a:prstGeom prst="rect">
            <a:avLst/>
          </a:prstGeom>
          <a:solidFill>
            <a:srgbClr val="33B5E5"/>
          </a:solidFill>
          <a:ln w="12700">
            <a:solidFill>
              <a:srgbClr val="33B5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1097280" cy="54864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0" y="274320"/>
            <a:ext cx="3474720" cy="3474720"/>
          </a:xfrm>
          <a:prstGeom prst="ellipse">
            <a:avLst/>
          </a:prstGeom>
          <a:solidFill>
            <a:srgbClr val="1E3355"/>
          </a:solidFill>
          <a:ln w="12700">
            <a:solidFill>
              <a:srgbClr val="1E33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640080"/>
            <a:ext cx="2560320" cy="2560320"/>
          </a:xfrm>
          <a:prstGeom prst="ellipse">
            <a:avLst/>
          </a:prstGeom>
          <a:solidFill>
            <a:srgbClr val="27446E"/>
          </a:solidFill>
          <a:ln w="12700">
            <a:solidFill>
              <a:srgbClr val="2744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1828800" cy="347472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71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技術簡介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5943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B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從問答工具到自主代理的 AI 演進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3200400" cy="2743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9319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了解 AI 如何從「回答問題」進化到「主動完成任務」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0" y="4663440"/>
            <a:ext cx="109728" cy="109728"/>
          </a:xfrm>
          <a:prstGeom prst="ellipse">
            <a:avLst/>
          </a:prstGeom>
          <a:solidFill>
            <a:srgbClr val="33B5E5"/>
          </a:solidFill>
          <a:ln w="12700">
            <a:solidFill>
              <a:srgbClr val="33B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28432" y="4663440"/>
            <a:ext cx="109728" cy="109728"/>
          </a:xfrm>
          <a:prstGeom prst="ellipse">
            <a:avLst/>
          </a:prstGeom>
          <a:solidFill>
            <a:srgbClr val="33B5E5"/>
          </a:solidFill>
          <a:ln w="12700">
            <a:solidFill>
              <a:srgbClr val="33B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84464" y="4663440"/>
            <a:ext cx="109728" cy="109728"/>
          </a:xfrm>
          <a:prstGeom prst="ellipse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40496" y="4663440"/>
            <a:ext cx="109728" cy="109728"/>
          </a:xfrm>
          <a:prstGeom prst="ellipse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96528" y="4663440"/>
            <a:ext cx="109728" cy="109728"/>
          </a:xfrm>
          <a:prstGeom prst="ellipse">
            <a:avLst/>
          </a:prstGeom>
          <a:solidFill>
            <a:srgbClr val="2A4060"/>
          </a:solidFill>
          <a:ln w="12700">
            <a:solidFill>
              <a:srgbClr val="2A406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33B5E5"/>
          </a:solidFill>
          <a:ln w="12700">
            <a:solidFill>
              <a:srgbClr val="33B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4572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2E5FCC"/>
                </a:solidFill>
              </a:rPr>
              <a:t>"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你叫 AI 幫你安排下週的出差行程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它不只是給你建議——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1920240" cy="822960"/>
          </a:xfrm>
          <a:prstGeom prst="rect">
            <a:avLst/>
          </a:prstGeom>
          <a:solidFill>
            <a:srgbClr val="1E2F4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</a:t>
            </a:r>
            <a:pPr algn="ctr" indent="0" marL="0">
              <a:buNone/>
            </a:pPr>
            <a:r>
              <a:rPr lang="en-US" sz="1400" dirty="0">
                <a:solidFill>
                  <a:srgbClr val="C7DCF9"/>
                </a:solidFill>
              </a:rPr>
              <a:t>查了你的行事曆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697480" y="2331720"/>
            <a:ext cx="1920240" cy="822960"/>
          </a:xfrm>
          <a:prstGeom prst="rect">
            <a:avLst/>
          </a:prstGeom>
          <a:solidFill>
            <a:srgbClr val="1E2F4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</a:t>
            </a:r>
            <a:pPr algn="ctr" indent="0" marL="0">
              <a:buNone/>
            </a:pPr>
            <a:r>
              <a:rPr lang="en-US" sz="1400" dirty="0">
                <a:solidFill>
                  <a:srgbClr val="C7DCF9"/>
                </a:solidFill>
              </a:rPr>
              <a:t>比價並訂好機票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00600" y="2331720"/>
            <a:ext cx="1920240" cy="822960"/>
          </a:xfrm>
          <a:prstGeom prst="rect">
            <a:avLst/>
          </a:prstGeom>
          <a:solidFill>
            <a:srgbClr val="1E2F4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</a:t>
            </a:r>
            <a:pPr algn="ctr" indent="0" marL="0">
              <a:buNone/>
            </a:pPr>
            <a:r>
              <a:rPr lang="en-US" sz="1400" dirty="0">
                <a:solidFill>
                  <a:srgbClr val="C7DCF9"/>
                </a:solidFill>
              </a:rPr>
              <a:t>預訂了餐廳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03720" y="2331720"/>
            <a:ext cx="1920240" cy="822960"/>
          </a:xfrm>
          <a:prstGeom prst="rect">
            <a:avLst/>
          </a:prstGeom>
          <a:solidFill>
            <a:srgbClr val="1E2F4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2331720"/>
            <a:ext cx="1920240" cy="82296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  </a:t>
            </a:r>
            <a:pPr algn="ctr" indent="0" marL="0">
              <a:buNone/>
            </a:pPr>
            <a:r>
              <a:rPr lang="en-US" sz="1400" dirty="0">
                <a:solidFill>
                  <a:srgbClr val="C7DCF9"/>
                </a:solidFill>
              </a:rPr>
              <a:t>通知所有與會者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383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這就是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194560" y="3401568"/>
            <a:ext cx="2926080" cy="502920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94560" y="34015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Agent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0080" y="4114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目標告訴它，剩下交給它。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的演進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74904" y="777240"/>
            <a:ext cx="2743200" cy="397764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71323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713232"/>
            <a:ext cx="2743200" cy="50292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7132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1353312"/>
            <a:ext cx="2468880" cy="274320"/>
          </a:xfrm>
          <a:prstGeom prst="rect">
            <a:avLst/>
          </a:prstGeom>
          <a:solidFill>
            <a:srgbClr val="F0F0F0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53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ChatGPT 時代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你問、它答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回覆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文件起草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企業問答 Bot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429000"/>
            <a:ext cx="246888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人類下指令 → AI 回應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00984" y="777240"/>
            <a:ext cx="2743200" cy="397764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71323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713232"/>
            <a:ext cx="2743200" cy="502920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7132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助手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3383280" y="1353312"/>
            <a:ext cx="2468880" cy="274320"/>
          </a:xfrm>
          <a:prstGeom prst="rect">
            <a:avLst/>
          </a:prstGeom>
          <a:solidFill>
            <a:srgbClr val="E6FAF8"/>
          </a:solidFill>
          <a:ln w="6350">
            <a:solidFill>
              <a:srgbClr val="0FA8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353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現在主流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83280" y="1783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交代任務、它幫你完成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2900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自動整理會議紀錄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生成週報草稿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多輪對話處理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83280" y="3429000"/>
            <a:ext cx="2468880" cy="502920"/>
          </a:xfrm>
          <a:prstGeom prst="rect">
            <a:avLst/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人類指定任務 → AI 執行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27064" y="777240"/>
            <a:ext cx="2743200" cy="3977640"/>
          </a:xfrm>
          <a:prstGeom prst="rect">
            <a:avLst/>
          </a:prstGeom>
          <a:solidFill>
            <a:srgbClr val="CCCCCC">
              <a:alpha val="40000"/>
            </a:srgbClr>
          </a:solidFill>
          <a:ln w="12700">
            <a:solidFill>
              <a:srgbClr val="CCCCCC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0" y="713232"/>
            <a:ext cx="27432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72200" y="713232"/>
            <a:ext cx="2743200" cy="502920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7132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代理 (Agent)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309360" y="1353312"/>
            <a:ext cx="2468880" cy="274320"/>
          </a:xfrm>
          <a:prstGeom prst="rect">
            <a:avLst/>
          </a:prstGeom>
          <a:solidFill>
            <a:srgbClr val="EEE8FF"/>
          </a:solidFill>
          <a:ln w="6350">
            <a:solidFill>
              <a:srgbClr val="6C4F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3533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1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時代（進行中）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309360" y="17830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給它目標，自己規劃執行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355080" y="23774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自主規劃步驟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呼叫外部工具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反覆修正、回報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3429000"/>
            <a:ext cx="2468880" cy="502920"/>
          </a:xfrm>
          <a:prstGeom prst="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429000"/>
            <a:ext cx="24688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1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人類設定目標 → AI 自主完成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081528" y="2743200"/>
            <a:ext cx="475488" cy="0"/>
          </a:xfrm>
          <a:prstGeom prst="line">
            <a:avLst/>
          </a:prstGeom>
          <a:noFill/>
          <a:ln w="31750">
            <a:solidFill>
              <a:srgbClr val="2E5FCC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007608" y="2743200"/>
            <a:ext cx="475488" cy="0"/>
          </a:xfrm>
          <a:prstGeom prst="line">
            <a:avLst/>
          </a:prstGeom>
          <a:noFill/>
          <a:ln w="31750">
            <a:solidFill>
              <a:srgbClr val="2E5FCC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AI Agent 是什麼？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8229600" cy="1234440"/>
          </a:xfrm>
          <a:prstGeom prst="rect">
            <a:avLst/>
          </a:prstGeom>
          <a:solidFill>
            <a:srgbClr val="EDF3FF"/>
          </a:solidFill>
          <a:ln w="19050">
            <a:solidFill>
              <a:srgbClr val="2E5F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85800"/>
            <a:ext cx="182880" cy="1234440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685800"/>
            <a:ext cx="77724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代替使用者或系統，自主規劃、判斷、並執行達成目標所需任務的 AI 程式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48840"/>
            <a:ext cx="1920240" cy="64008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5FC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914400" y="2852928"/>
            <a:ext cx="1005840" cy="27432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理解目標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解析使用者的最終意圖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42032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42032" y="2148840"/>
            <a:ext cx="1920240" cy="64008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A8A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2999232" y="2852928"/>
            <a:ext cx="1005840" cy="27432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42032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規劃步驟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33472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自行決定執行方式與順序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26864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26864" y="2148840"/>
            <a:ext cx="1920240" cy="64008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26864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C4FF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22" name="Shape 20"/>
          <p:cNvSpPr/>
          <p:nvPr/>
        </p:nvSpPr>
        <p:spPr>
          <a:xfrm>
            <a:off x="5084064" y="2852928"/>
            <a:ext cx="1005840" cy="27432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26864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呼叫工具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18304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使用外部 API 或搜尋引擎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11696" y="2148840"/>
            <a:ext cx="19202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11696" y="2148840"/>
            <a:ext cx="1920240" cy="64008"/>
          </a:xfrm>
          <a:prstGeom prst="rect">
            <a:avLst/>
          </a:prstGeom>
          <a:solidFill>
            <a:srgbClr val="E8750A"/>
          </a:solidFill>
          <a:ln w="12700">
            <a:solidFill>
              <a:srgbClr val="E875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11696" y="22860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8750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7168896" y="2852928"/>
            <a:ext cx="1005840" cy="27432"/>
          </a:xfrm>
          <a:prstGeom prst="rect">
            <a:avLst/>
          </a:prstGeom>
          <a:solidFill>
            <a:srgbClr val="E8750A"/>
          </a:solidFill>
          <a:ln w="12700">
            <a:solidFill>
              <a:srgbClr val="E875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11696" y="29260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反思修正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03136" y="338328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根據結果調整下一步行動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這四個能力形成「Think → Act → Reflect」循環，反覆執行直到目標達成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Think → Act → Reflect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560320" y="685800"/>
            <a:ext cx="4023360" cy="59436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0" y="6858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[目標]  目標：找本週最便宜的台北 → 東京機票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606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63040"/>
            <a:ext cx="2606040" cy="502920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2103120"/>
            <a:ext cx="2240280" cy="320040"/>
          </a:xfrm>
          <a:prstGeom prst="rect">
            <a:avLst/>
          </a:prstGeom>
          <a:solidFill>
            <a:srgbClr val="EEE8FF"/>
          </a:solidFill>
          <a:ln w="12700">
            <a:solidFill>
              <a:srgbClr val="EEE8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1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分析需求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我需要搜尋航班資訊，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並比較不同日期的票價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44952" y="2670048"/>
            <a:ext cx="201168" cy="0"/>
          </a:xfrm>
          <a:prstGeom prst="line">
            <a:avLst/>
          </a:prstGeom>
          <a:noFill/>
          <a:ln w="25400">
            <a:solidFill>
              <a:srgbClr val="2E5FC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46120" y="1463040"/>
            <a:ext cx="2606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463040"/>
            <a:ext cx="2606040" cy="502920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429000" y="2103120"/>
            <a:ext cx="2240280" cy="320040"/>
          </a:xfrm>
          <a:prstGeom prst="rect">
            <a:avLst/>
          </a:prstGeom>
          <a:solidFill>
            <a:srgbClr val="E6FAF8"/>
          </a:solidFill>
          <a:ln w="12700">
            <a:solidFill>
              <a:srgbClr val="E6FA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呼叫工具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5603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呼叫航班查詢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搜尋7天內的可用航班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79592" y="2670048"/>
            <a:ext cx="201168" cy="0"/>
          </a:xfrm>
          <a:prstGeom prst="line">
            <a:avLst/>
          </a:prstGeom>
          <a:noFill/>
          <a:ln w="25400">
            <a:solidFill>
              <a:srgbClr val="2E5FCC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080760" y="1463040"/>
            <a:ext cx="26060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1463040"/>
            <a:ext cx="2606040" cy="502920"/>
          </a:xfrm>
          <a:prstGeom prst="rect">
            <a:avLst/>
          </a:prstGeom>
          <a:solidFill>
            <a:srgbClr val="E8750A"/>
          </a:solidFill>
          <a:ln w="12700">
            <a:solidFill>
              <a:srgbClr val="E875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4630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Reflect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263640" y="2103120"/>
            <a:ext cx="2240280" cy="3200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210312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4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評估結果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2560320"/>
            <a:ext cx="2331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週五最便宜 NT$12,800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是否符合需求？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" y="4114800"/>
            <a:ext cx="8321040" cy="640080"/>
          </a:xfrm>
          <a:prstGeom prst="rect">
            <a:avLst/>
          </a:prstGeom>
          <a:solidFill>
            <a:srgbClr val="EDF3FF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114800"/>
            <a:ext cx="8321040" cy="64008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</a:rPr>
              <a:t>[回報]  回報結果：</a:t>
            </a:r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</a:rPr>
              <a:t>週五 NT$12,800，是否確認訂票？</a:t>
            </a:r>
            <a:pPr indent="0" marL="0">
              <a:buNone/>
            </a:pPr>
            <a:r>
              <a:rPr lang="en-US" sz="1300" i="1" dirty="0">
                <a:solidFill>
                  <a:srgbClr val="8899AA"/>
                </a:solidFill>
              </a:rPr>
              <a:t>     [循環]  若不滿意，自動繼續循環直到找到更好方案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一般 Chatbot vs AI Agent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85800"/>
            <a:ext cx="2286000" cy="621792"/>
          </a:xfrm>
          <a:prstGeom prst="rect">
            <a:avLst/>
          </a:prstGeom>
          <a:solidFill>
            <a:srgbClr val="1A2744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85800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比較項目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0" y="685800"/>
            <a:ext cx="2926080" cy="621792"/>
          </a:xfrm>
          <a:prstGeom prst="rect">
            <a:avLst/>
          </a:prstGeom>
          <a:solidFill>
            <a:srgbClr val="2A6099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52928" y="685800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 Chatbot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0" y="685800"/>
            <a:ext cx="2926080" cy="621792"/>
          </a:xfrm>
          <a:prstGeom prst="rect">
            <a:avLst/>
          </a:prstGeom>
          <a:solidFill>
            <a:srgbClr val="6C4F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79008" y="685800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344168"/>
            <a:ext cx="228600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344168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互動方式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0" y="1344168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52928" y="1344168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你問、它答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1344168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79008" y="1344168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給目標、它自己完成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002536"/>
            <a:ext cx="2286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2002536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工具使用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0" y="2002536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52928" y="2002536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無法呼叫工具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0" y="2002536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9008" y="2002536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可呼叫外部工具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660904"/>
            <a:ext cx="228600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2660904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跨步驟規劃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743200" y="2660904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52928" y="2660904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每次對話獨立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0" y="2660904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79008" y="2660904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可規劃多步驟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319272"/>
            <a:ext cx="22860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3319272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記憶與狀態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0" y="3319272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52928" y="3319272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短暫（多數無記憶）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9280" y="3319272"/>
            <a:ext cx="29260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79008" y="3319272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可跨步驟保留狀態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3977640"/>
            <a:ext cx="228600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3977640"/>
            <a:ext cx="20665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自主性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743200" y="3977640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52928" y="3977640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 — 依賴人類指令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669280" y="3977640"/>
            <a:ext cx="2926080" cy="621792"/>
          </a:xfrm>
          <a:prstGeom prst="rect">
            <a:avLst/>
          </a:prstGeom>
          <a:solidFill>
            <a:srgbClr val="F8F9FB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79008" y="3977640"/>
            <a:ext cx="270662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C4F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 — 自行判斷行動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Agent 的三種類型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11480" y="685800"/>
            <a:ext cx="8321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685800"/>
            <a:ext cx="1828800" cy="12984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23160" y="77724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按人定義的流程依序執行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423160" y="11887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人預先設定所有步驟與分支條件，AI 在每個節點負責局部處理，整體流程不自行跳脫。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132320" y="777240"/>
            <a:ext cx="1508760" cy="320040"/>
          </a:xfrm>
          <a:prstGeom prst="rect">
            <a:avLst/>
          </a:prstGeom>
          <a:solidFill>
            <a:srgbClr val="F0F0F0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77724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流水線作業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995160" y="12344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  目前最普遍的落地方式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084832"/>
            <a:ext cx="8321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084832"/>
            <a:ext cx="1828800" cy="1298448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70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23160" y="2176272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自行判斷、呼叫工具、達成目標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23160" y="258775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接收目標後，AI 自主決定需要哪些工具，逐步執行並根據結果調整策略。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0" y="2176272"/>
            <a:ext cx="1508760" cy="320040"/>
          </a:xfrm>
          <a:prstGeom prst="rect">
            <a:avLst/>
          </a:prstGeom>
          <a:solidFill>
            <a:srgbClr val="E6FAF8"/>
          </a:solidFill>
          <a:ln w="6350">
            <a:solidFill>
              <a:srgbClr val="0FA8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176272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6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一個人包辦所有事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995160" y="2633472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企業開始 PoC 驗證中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483864"/>
            <a:ext cx="832104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" y="3483864"/>
            <a:ext cx="1828800" cy="1298448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16966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423160" y="3575304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多個 AI 分工協作完成複雜任務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2423160" y="3986784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由多個專責 Agent 組成系統，各自負責子任務，透過協調機制整合輸出。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0" y="3575304"/>
            <a:ext cx="1508760" cy="320040"/>
          </a:xfrm>
          <a:prstGeom prst="rect">
            <a:avLst/>
          </a:prstGeom>
          <a:solidFill>
            <a:srgbClr val="EEE8FF"/>
          </a:solidFill>
          <a:ln w="6350">
            <a:solidFill>
              <a:srgbClr val="6C4F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0" y="3575304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1F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分工合作的團隊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95160" y="4032504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研究與實驗階段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AI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B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下一個更大的概念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3840480" cy="2606040"/>
          </a:xfrm>
          <a:prstGeom prst="rect">
            <a:avLst/>
          </a:prstGeom>
          <a:solidFill>
            <a:srgbClr val="1A2744"/>
          </a:solidFill>
          <a:ln w="19050">
            <a:solidFill>
              <a:srgbClr val="0FA8A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54480"/>
            <a:ext cx="3840480" cy="502920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 </a:t>
            </a:r>
            <a:pPr algn="ctr" indent="0" marL="0"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單體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 AI 獨立執行任務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7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接收目標 → 自主完成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554480"/>
            <a:ext cx="3840480" cy="2606040"/>
          </a:xfrm>
          <a:prstGeom prst="rect">
            <a:avLst/>
          </a:prstGeom>
          <a:solidFill>
            <a:srgbClr val="1A2744"/>
          </a:solidFill>
          <a:ln w="19050">
            <a:solidFill>
              <a:srgbClr val="6C4F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1554480"/>
            <a:ext cx="3840480" cy="502920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 </a:t>
            </a:r>
            <a:pPr algn="ctr" indent="0" marL="0">
              <a:buNone/>
            </a:pPr>
            <a:r>
              <a:rPr lang="en-US" sz="12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系統架構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0" y="2194560"/>
            <a:ext cx="3474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7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多個 Agent 協同的整體體系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7DC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分解目標 → 分工協作 → 整合輸出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26280" y="2852928"/>
            <a:ext cx="0" cy="0"/>
          </a:xfrm>
          <a:prstGeom prst="line">
            <a:avLst/>
          </a:prstGeom>
          <a:noFill/>
          <a:ln w="12700">
            <a:solidFill>
              <a:srgbClr val="33B5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60604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3B5E5"/>
                </a:solidFill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solidFill>
            <a:srgbClr val="1E2F4F"/>
          </a:solidFill>
          <a:ln w="12700">
            <a:solidFill>
              <a:srgbClr val="2A4A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34340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33B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≈ Multi-Agent 概念 — 不只是「一個 AI 在動」，而是「一支 AI 團隊在協作」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未來展望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7680960" cy="54864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7008" y="2606040"/>
            <a:ext cx="329184" cy="329184"/>
          </a:xfrm>
          <a:prstGeom prst="ellipse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83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 ～ 2027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1115568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115568"/>
            <a:ext cx="2377440" cy="64008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234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型 + 初步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Agent 落地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2487168"/>
            <a:ext cx="0" cy="118872"/>
          </a:xfrm>
          <a:prstGeom prst="line">
            <a:avLst/>
          </a:prstGeom>
          <a:noFill/>
          <a:ln w="19050">
            <a:solidFill>
              <a:srgbClr val="2E5F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15968" y="2606040"/>
            <a:ext cx="329184" cy="329184"/>
          </a:xfrm>
          <a:prstGeom prst="ellipse">
            <a:avLst/>
          </a:prstGeom>
          <a:solidFill>
            <a:srgbClr val="0A7070"/>
          </a:solidFill>
          <a:ln w="12700">
            <a:solidFill>
              <a:srgbClr val="0A70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6583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～ 2030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91840" y="1115568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115568"/>
            <a:ext cx="2377440" cy="64008"/>
          </a:xfrm>
          <a:prstGeom prst="rect">
            <a:avLst/>
          </a:prstGeom>
          <a:solidFill>
            <a:srgbClr val="0A7070"/>
          </a:solidFill>
          <a:ln w="12700">
            <a:solidFill>
              <a:srgbClr val="0A70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234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特定業務限定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自律 Agent 實用化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80560" y="2487168"/>
            <a:ext cx="0" cy="118872"/>
          </a:xfrm>
          <a:prstGeom prst="line">
            <a:avLst/>
          </a:prstGeom>
          <a:noFill/>
          <a:ln w="19050">
            <a:solidFill>
              <a:srgbClr val="0A70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24928" y="2606040"/>
            <a:ext cx="329184" cy="329184"/>
          </a:xfrm>
          <a:prstGeom prst="ellipse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6583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2030年代以後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1115568"/>
            <a:ext cx="23774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1115568"/>
            <a:ext cx="2377440" cy="64008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234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通用型完全自律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Agent（高度不確定）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589520" y="2487168"/>
            <a:ext cx="0" cy="118872"/>
          </a:xfrm>
          <a:prstGeom prst="line">
            <a:avLst/>
          </a:prstGeom>
          <a:noFill/>
          <a:ln w="19050">
            <a:solidFill>
              <a:srgbClr val="6C4F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46120"/>
            <a:ext cx="8229600" cy="1005840"/>
          </a:xfrm>
          <a:prstGeom prst="rect">
            <a:avLst/>
          </a:prstGeom>
          <a:solidFill>
            <a:srgbClr val="EDF3FF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246120"/>
            <a:ext cx="164592" cy="1005840"/>
          </a:xfrm>
          <a:prstGeom prst="rect">
            <a:avLst/>
          </a:prstGeom>
          <a:solidFill>
            <a:srgbClr val="2E5FCC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2461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重點：</a:t>
            </a:r>
            <a:pPr indent="0" marL="0">
              <a:buNone/>
            </a:pPr>
            <a:r>
              <a:rPr lang="en-US" sz="15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全能 AI 不會突然出現。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而是「能執行特定任務的 AI 工具」逐步成熟、可靠、普及。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2025 現狀 — 我們在哪裡？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8229600" cy="566928"/>
          </a:xfrm>
          <a:prstGeom prst="rect">
            <a:avLst/>
          </a:prstGeom>
          <a:solidFill>
            <a:srgbClr val="FFF8E0"/>
          </a:solidFill>
          <a:ln w="12700">
            <a:solidFill>
              <a:srgbClr val="E8A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58368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4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！  多數企業目前仍停留在 Workflow 型，真正自律的 Agent 導入仍是少數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417320"/>
            <a:ext cx="4069080" cy="438912"/>
          </a:xfrm>
          <a:prstGeom prst="rect">
            <a:avLst/>
          </a:prstGeom>
          <a:solidFill>
            <a:srgbClr val="2A6099"/>
          </a:solidFill>
          <a:ln w="12700">
            <a:solidFill>
              <a:srgbClr val="2A60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4173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Single Agent 的挑戰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993392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9339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Hallucination（幻覺）：看起來對，實際上錯了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651760"/>
            <a:ext cx="4069080" cy="594360"/>
          </a:xfrm>
          <a:prstGeom prst="rect">
            <a:avLst/>
          </a:prstGeom>
          <a:solidFill>
            <a:srgbClr val="EDF3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517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推理鏈過淺：遇到複雜問題容易失誤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310128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31012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難以驗證中間步驟是否正確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417320"/>
            <a:ext cx="4069080" cy="438912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417320"/>
            <a:ext cx="4069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Multi-Agent 的挑戰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1993392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993392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多個 AI 意圖不同步，任務卡住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651760"/>
            <a:ext cx="4069080" cy="594360"/>
          </a:xfrm>
          <a:prstGeom prst="rect">
            <a:avLst/>
          </a:prstGeom>
          <a:solidFill>
            <a:srgbClr val="EEE8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2651760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每次執行結果不穩定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310128"/>
            <a:ext cx="40690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310128"/>
            <a:ext cx="3794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內部運作過程不透明，難以除錯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553712"/>
            <a:ext cx="8229600" cy="502920"/>
          </a:xfrm>
          <a:prstGeom prst="rect">
            <a:avLst/>
          </a:prstGeom>
          <a:solidFill>
            <a:srgbClr val="E6FAF8"/>
          </a:solidFill>
          <a:ln w="12700">
            <a:solidFill>
              <a:srgbClr val="0FA8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55371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現在最重要的事：在現實條件下，找到能穩定落地的 Agent 應用方式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6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3B5E5"/>
          </a:solidFill>
          <a:ln w="12700">
            <a:solidFill>
              <a:srgbClr val="33B5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角色的三個階段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914400"/>
          </a:xfrm>
          <a:prstGeom prst="rect">
            <a:avLst/>
          </a:prstGeom>
          <a:solidFill>
            <a:srgbClr val="141E32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43000"/>
            <a:ext cx="1371600" cy="91440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工具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57400" y="121615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問它問題 → 得到答案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0" y="121615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時代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2057400"/>
            <a:ext cx="0" cy="109728"/>
          </a:xfrm>
          <a:prstGeom prst="line">
            <a:avLst/>
          </a:prstGeom>
          <a:noFill/>
          <a:ln w="19050">
            <a:solidFill>
              <a:srgbClr val="2E5FCC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48640" y="2167128"/>
            <a:ext cx="8046720" cy="914400"/>
          </a:xfrm>
          <a:prstGeom prst="rect">
            <a:avLst/>
          </a:prstGeom>
          <a:solidFill>
            <a:srgbClr val="141E32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67128"/>
            <a:ext cx="1371600" cy="914400"/>
          </a:xfrm>
          <a:prstGeom prst="rect">
            <a:avLst/>
          </a:prstGeom>
          <a:solidFill>
            <a:srgbClr val="0FA8A8"/>
          </a:solidFill>
          <a:ln w="12700">
            <a:solidFill>
              <a:srgbClr val="0FA8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67128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助手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57400" y="22402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交代任務 → 它幫你完成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2240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現在主流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3081528"/>
            <a:ext cx="0" cy="109728"/>
          </a:xfrm>
          <a:prstGeom prst="line">
            <a:avLst/>
          </a:prstGeom>
          <a:noFill/>
          <a:ln w="19050">
            <a:solidFill>
              <a:srgbClr val="2E5FCC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" y="3191256"/>
            <a:ext cx="8046720" cy="914400"/>
          </a:xfrm>
          <a:prstGeom prst="rect">
            <a:avLst/>
          </a:prstGeom>
          <a:solidFill>
            <a:srgbClr val="141E32"/>
          </a:solidFill>
          <a:ln w="12700">
            <a:solidFill>
              <a:srgbClr val="2A3A5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191256"/>
            <a:ext cx="1371600" cy="914400"/>
          </a:xfrm>
          <a:prstGeom prst="rect">
            <a:avLst/>
          </a:prstGeom>
          <a:solidFill>
            <a:srgbClr val="6C4FF5"/>
          </a:solidFill>
          <a:ln w="12700">
            <a:solidFill>
              <a:srgbClr val="6C4F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91256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代理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057400" y="32644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給它目標 → 自己規劃、執行、回報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326440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時代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279392"/>
            <a:ext cx="8046720" cy="621792"/>
          </a:xfrm>
          <a:prstGeom prst="rect">
            <a:avLst/>
          </a:prstGeom>
          <a:solidFill>
            <a:srgbClr val="0A1535"/>
          </a:solidFill>
          <a:ln w="12700">
            <a:solidFill>
              <a:srgbClr val="2E5F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79392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3B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我們正處於從「助手」走向「代理」的過渡期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介紹</dc:title>
  <dc:subject>PptxGenJS Presentation</dc:subject>
  <dc:creator>PptxGenJS</dc:creator>
  <cp:lastModifiedBy>PptxGenJS</cp:lastModifiedBy>
  <cp:revision>1</cp:revision>
  <dcterms:created xsi:type="dcterms:W3CDTF">2026-03-23T00:57:52Z</dcterms:created>
  <dcterms:modified xsi:type="dcterms:W3CDTF">2026-03-23T00:57:52Z</dcterms:modified>
</cp:coreProperties>
</file>