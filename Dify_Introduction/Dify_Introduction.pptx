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38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611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4864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3291840" y="0"/>
            <a:ext cx="1097280" cy="54864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400800" y="274320"/>
            <a:ext cx="3474720" cy="3474720"/>
          </a:xfrm>
          <a:prstGeom prst="ellipse">
            <a:avLst/>
          </a:prstGeom>
          <a:solidFill>
            <a:srgbClr val="1E3355"/>
          </a:solidFill>
          <a:ln w="12700">
            <a:solidFill>
              <a:srgbClr val="1E3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6858000" y="640080"/>
            <a:ext cx="2560320" cy="2560320"/>
          </a:xfrm>
          <a:prstGeom prst="ellipse">
            <a:avLst/>
          </a:prstGeom>
          <a:solidFill>
            <a:srgbClr val="27446E"/>
          </a:solidFill>
          <a:ln w="12700">
            <a:solidFill>
              <a:srgbClr val="2744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828800" cy="347472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工具介紹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低代碼打造企業級 AI 應用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3200400" cy="274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不需要懂程式，用拖曳介面就能部署 LLM 應用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4663440"/>
            <a:ext cx="109728" cy="109728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8028432" y="4663440"/>
            <a:ext cx="109728" cy="109728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8284464" y="4663440"/>
            <a:ext cx="109728" cy="109728"/>
          </a:xfrm>
          <a:prstGeom prst="ellipse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540496" y="4663440"/>
            <a:ext cx="109728" cy="109728"/>
          </a:xfrm>
          <a:prstGeom prst="ellipse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796528" y="4663440"/>
            <a:ext cx="109728" cy="109728"/>
          </a:xfrm>
          <a:prstGeom prst="ellipse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E5FCC"/>
                </a:solidFill>
              </a:rPr>
              <a:t>"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你需要一個企業 AI 知識問答機器人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過去你需要：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 xml:space="preserve">  </a:t>
            </a:r>
            <a:r>
              <a:rPr lang="en-US" sz="1400" dirty="0">
                <a:solidFill>
                  <a:srgbClr val="C7DCF9"/>
                </a:solidFill>
              </a:rPr>
              <a:t>寫後端 API 串接 LLM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9748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69748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 xml:space="preserve">  </a:t>
            </a:r>
            <a:r>
              <a:rPr lang="en-US" sz="1400" dirty="0">
                <a:solidFill>
                  <a:srgbClr val="C7DCF9"/>
                </a:solidFill>
              </a:rPr>
              <a:t>自建文件解析與向量搜尋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0060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0060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 xml:space="preserve">  </a:t>
            </a:r>
            <a:r>
              <a:rPr lang="en-US" sz="1400" dirty="0">
                <a:solidFill>
                  <a:srgbClr val="C7DCF9"/>
                </a:solidFill>
              </a:rPr>
              <a:t>手動維護 Prompt 版本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0372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90372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 xml:space="preserve">  </a:t>
            </a:r>
            <a:r>
              <a:rPr lang="en-US" sz="1400" dirty="0">
                <a:solidFill>
                  <a:srgbClr val="C7DCF9"/>
                </a:solidFill>
              </a:rPr>
              <a:t>自己部署監控與日誌系統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現在有了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194560" y="3401568"/>
            <a:ext cx="2926080" cy="502920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194560" y="34015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拖曳介面，幾分鐘內上線。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Dify？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74904" y="777240"/>
            <a:ext cx="2743200" cy="397764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274320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20040" y="713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2468880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平台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開源 LLM 應用開發平台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開源 LLM 應用開發平台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Workflow + RAG + Agent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開發者與非技術人員皆可使用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246888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= Define + Modify — 定義你的 AI 應用，並持續改進它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00984" y="777240"/>
            <a:ext cx="2743200" cy="397764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246120" y="71323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246120" y="713232"/>
            <a:ext cx="2743200" cy="50292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246120" y="713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383280" y="1353312"/>
            <a:ext cx="2468880" cy="274320"/>
          </a:xfrm>
          <a:prstGeom prst="rect">
            <a:avLst/>
          </a:prstGeom>
          <a:solidFill>
            <a:srgbClr val="E6FAF8"/>
          </a:solidFill>
          <a:ln w="635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38328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+ Modify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— 定義你的 AI 應用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2900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Workflow + RAG + Agent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— 持續優化疊代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一個平台，完整生命週期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383280" y="3429000"/>
            <a:ext cx="2468880" cy="502920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38328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開發者與非技術人員皆可使用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7064" y="777240"/>
            <a:ext cx="2743200" cy="397764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6172200" y="71323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6172200" y="713232"/>
            <a:ext cx="2743200" cy="50292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172200" y="713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開源優勢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309360" y="1353312"/>
            <a:ext cx="2468880" cy="274320"/>
          </a:xfrm>
          <a:prstGeom prst="rect">
            <a:avLst/>
          </a:prstGeom>
          <a:solidFill>
            <a:srgbClr val="EEE8FF"/>
          </a:solidFill>
          <a:ln w="635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30936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 GitHub Stars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開源授權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5508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可自行部署，資料不外流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100+ LLM，含本地開源模型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活躍社群，插件生態豐富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09360" y="3429000"/>
            <a:ext cx="2468880" cy="502920"/>
          </a:xfrm>
          <a:prstGeom prst="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630936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github.com/langgenius/dify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081528" y="2743200"/>
            <a:ext cx="292608" cy="0"/>
          </a:xfrm>
          <a:prstGeom prst="line">
            <a:avLst/>
          </a:prstGeom>
          <a:noFill/>
          <a:ln w="31750">
            <a:solidFill>
              <a:srgbClr val="2E5FC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6007608" y="2743200"/>
            <a:ext cx="301752" cy="0"/>
          </a:xfrm>
          <a:prstGeom prst="line">
            <a:avLst/>
          </a:prstGeom>
          <a:noFill/>
          <a:ln w="31750">
            <a:solidFill>
              <a:srgbClr val="2E5FC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Dify 的五大核心功能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234440"/>
          </a:xfrm>
          <a:prstGeom prst="rect">
            <a:avLst/>
          </a:prstGeom>
          <a:solidFill>
            <a:srgbClr val="EDF3FF"/>
          </a:solidFill>
          <a:ln w="1905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82880" cy="1234440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 LLM 開發所需的一切工具，從原型到生產，一站搞定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920240" cy="64008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5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14400" y="2852928"/>
            <a:ext cx="1005840" cy="27432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視覺化流程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拖曳式 LLM 流程編排，支援條件判斷、迴圈、HTTP 呼叫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42032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2542032" y="2148840"/>
            <a:ext cx="1920240" cy="64008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542032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999232" y="2852928"/>
            <a:ext cx="1005840" cy="27432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542032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知識庫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33472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上傳文件自動建索引，支援 PDF、PPT、TXT 等格式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26864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626864" y="2148840"/>
            <a:ext cx="1920240" cy="64008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626864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4F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084064" y="2852928"/>
            <a:ext cx="1005840" cy="27432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626864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代理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 50+ 工具，支援 Google Search、DALL·E 等外部呼叫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11696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6711696" y="2148840"/>
            <a:ext cx="1920240" cy="64008"/>
          </a:xfrm>
          <a:prstGeom prst="rect">
            <a:avLst/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711696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75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168896" y="2852928"/>
            <a:ext cx="1005840" cy="27432"/>
          </a:xfrm>
          <a:prstGeom prst="rect">
            <a:avLst/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711696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模型管理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03136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GPT、Claude、Llama3 等百種 LLM，一鍵切換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第五功能 — LLMOps：完整的應用監控、日誌分析與 Prompt 版本管理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Workflow 視覺化流程設計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0" y="685800"/>
            <a:ext cx="402336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560320" y="6858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[目標]  輸入節點 → LLM 節點 → 工具節點 → 輸出節點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2606040" cy="50292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輸入節點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2103120"/>
            <a:ext cx="2240280" cy="320040"/>
          </a:xfrm>
          <a:prstGeom prst="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接收問題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接收使用者輸入或 API 觸發，支援文字、檔案、JSON 等格式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44952" y="2670048"/>
            <a:ext cx="201168" cy="0"/>
          </a:xfrm>
          <a:prstGeom prst="line">
            <a:avLst/>
          </a:prstGeom>
          <a:noFill/>
          <a:ln w="25400">
            <a:solidFill>
              <a:srgbClr val="2E5FC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246120" y="146304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2606040" cy="50292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24612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+ 工具節點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29000" y="2103120"/>
            <a:ext cx="2240280" cy="320040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42900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調用知識庫 RAG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5603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推理、知識庫查詢、HTTP 呼叫、Python/JS 代碼執行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79592" y="2670048"/>
            <a:ext cx="201168" cy="0"/>
          </a:xfrm>
          <a:prstGeom prst="line">
            <a:avLst/>
          </a:prstGeom>
          <a:noFill/>
          <a:ln w="25400">
            <a:solidFill>
              <a:srgbClr val="2E5FC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080760" y="146304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080760" y="1463040"/>
            <a:ext cx="2606040" cy="502920"/>
          </a:xfrm>
          <a:prstGeom prst="rect">
            <a:avLst/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08076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輸出節點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63640" y="2103120"/>
            <a:ext cx="22402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26364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生成回答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25603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返回結果、更新變數、觸發下一個 Workflow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4114800"/>
            <a:ext cx="8321040" cy="640080"/>
          </a:xfrm>
          <a:prstGeom prst="rect">
            <a:avLst/>
          </a:prstGeom>
          <a:solidFill>
            <a:srgbClr val="EDF3FF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11480" y="4114800"/>
            <a:ext cx="8321040" cy="6400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[回報]  所有節點皆可拖曳連接，無需撰寫任何程式碼</a:t>
            </a:r>
            <a:r>
              <a:rPr lang="en-US" sz="1300" i="1" dirty="0">
                <a:solidFill>
                  <a:srgbClr val="8899AA"/>
                </a:solidFill>
              </a:rPr>
              <a:t xml:space="preserve">     [循環]  支援條件判斷、迴圈、平行執行等複雜邏輯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Dify vs 傳統 LLM 開發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621792"/>
          </a:xfrm>
          <a:prstGeom prst="rect">
            <a:avLst/>
          </a:prstGeom>
          <a:solidFill>
            <a:srgbClr val="1A274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66928" y="685800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比較項目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685800"/>
            <a:ext cx="2926080" cy="621792"/>
          </a:xfrm>
          <a:prstGeom prst="rect">
            <a:avLst/>
          </a:prstGeom>
          <a:solidFill>
            <a:srgbClr val="2A609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852928" y="68580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傳統開發方式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685800"/>
            <a:ext cx="2926080" cy="621792"/>
          </a:xfrm>
          <a:prstGeom prst="rect">
            <a:avLst/>
          </a:prstGeom>
          <a:solidFill>
            <a:srgbClr val="6C4F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779008" y="68580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Dify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344168"/>
            <a:ext cx="228600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66928" y="1344168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開發門檻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1344168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852928" y="1344168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需懂 Python / API 整合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344168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779008" y="1344168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拖曳介面，無需寫程式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002536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66928" y="2002536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工具使用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200253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852928" y="2002536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綁定單一廠商 API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200253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5779008" y="2002536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100+ LLM，可自由切換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660904"/>
            <a:ext cx="228600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66928" y="2660904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知識管理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0" y="2660904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2852928" y="2660904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需自建 RAG 管道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0" y="2660904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779008" y="2660904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內建知識庫，上傳即可用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319272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66928" y="3319272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0" y="3319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2852928" y="3319272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需自行設計 API 端點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0" y="3319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5779008" y="3319272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一鍵發布為 API 或 Web App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228600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566928" y="3977640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維運監控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0" y="3977640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2852928" y="397764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需自建日誌與監控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669280" y="3977640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5779008" y="397764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4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 LLMOps 監控面板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三種應用類型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685800"/>
            <a:ext cx="8321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11480" y="685800"/>
            <a:ext cx="1828800" cy="12984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23160" y="7772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聊天機器人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23160" y="1188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對話式 AI 介面，支援多輪對話、上下文記憶，可整合知識庫即時回答問題。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777240"/>
            <a:ext cx="1508760" cy="320040"/>
          </a:xfrm>
          <a:prstGeom prst="rect">
            <a:avLst/>
          </a:prstGeom>
          <a:solidFill>
            <a:srgbClr val="F0F0F0"/>
          </a:solidFill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7132320" y="7772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聊天機器人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9516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最快上線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084832"/>
            <a:ext cx="8321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11480" y="2084832"/>
            <a:ext cx="1828800" cy="1298448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11480" y="2770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23160" y="217627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自動化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23160" y="258775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視覺化流程編排，整合多個 API 與工具，適合文件處理、數據分析、自動化報表等。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0" y="2176272"/>
            <a:ext cx="1508760" cy="320040"/>
          </a:xfrm>
          <a:prstGeom prst="rect">
            <a:avLst/>
          </a:prstGeom>
          <a:solidFill>
            <a:srgbClr val="E6FAF8"/>
          </a:solidFill>
          <a:ln w="635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132320" y="2176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自動化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95160" y="2633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企業首選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483864"/>
            <a:ext cx="8321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11480" y="3483864"/>
            <a:ext cx="1828800" cy="1298448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11480" y="41696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型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23160" y="357530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自主執行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23160" y="398678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LLM Function Calling 或 ReAct，AI 自行規劃工具呼叫，完成複雜多步驟任務。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32320" y="3575304"/>
            <a:ext cx="1508760" cy="320040"/>
          </a:xfrm>
          <a:prstGeom prst="rect">
            <a:avLst/>
          </a:prstGeom>
          <a:solidFill>
            <a:srgbClr val="EEE8FF"/>
          </a:solidFill>
          <a:ln w="635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7132320" y="357530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自主執行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95160" y="403250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進階應用</a:t>
            </a:r>
            <a:endParaRPr lang="en-US" sz="1250" dirty="0"/>
          </a:p>
        </p:txBody>
      </p:sp>
      <p:pic>
        <p:nvPicPr>
          <p:cNvPr id="28" name="Icon Workf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812" y="798040"/>
            <a:ext cx="650128" cy="650128"/>
          </a:xfrm>
          <a:prstGeom prst="rect">
            <a:avLst/>
          </a:prstGeom>
        </p:spPr>
      </p:pic>
      <p:pic>
        <p:nvPicPr>
          <p:cNvPr id="29" name="Icon SingleAg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340" y="2193404"/>
            <a:ext cx="651600" cy="651600"/>
          </a:xfrm>
          <a:prstGeom prst="rect">
            <a:avLst/>
          </a:prstGeom>
        </p:spPr>
      </p:pic>
      <p:pic>
        <p:nvPicPr>
          <p:cNvPr id="30" name="Icon MultiAge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812" y="3598164"/>
            <a:ext cx="651600" cy="65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知識庫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讀懂你的文件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840480" cy="2606040"/>
          </a:xfrm>
          <a:prstGeom prst="rect">
            <a:avLst/>
          </a:prstGeom>
          <a:solidFill>
            <a:srgbClr val="1A2744"/>
          </a:solidFill>
          <a:ln w="1905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840480" cy="50292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RAG  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技術原理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檢索增強生成技術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2606040"/>
          </a:xfrm>
          <a:prstGeom prst="rect">
            <a:avLst/>
          </a:prstGeom>
          <a:solidFill>
            <a:srgbClr val="1A2744"/>
          </a:solidFill>
          <a:ln w="1905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3840480" cy="50292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Knowledge Base  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知識管理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上傳文件 → 自動解析 → 向量索引 → 語意搜尋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26280" y="2852928"/>
            <a:ext cx="0" cy="0"/>
          </a:xfrm>
          <a:prstGeom prst="line">
            <a:avLst/>
          </a:prstGeom>
          <a:noFill/>
          <a:ln w="1270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296672" y="2606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3B5E5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讓 LLM 在回答時，從你的文件中即時檢索相關資訊，大幅提升準確率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知識庫建構流程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7680960" cy="54864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207008" y="2606040"/>
            <a:ext cx="329184" cy="329184"/>
          </a:xfrm>
          <a:prstGeom prst="ellipse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82880" y="658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上傳文件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115568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82880" y="1115568"/>
            <a:ext cx="2377440" cy="64008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74320" y="1234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PDF、Word、PPT、TXT、Markdown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可連接 Notion、Google Drive 等外部資料來源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487168"/>
            <a:ext cx="0" cy="118872"/>
          </a:xfrm>
          <a:prstGeom prst="line">
            <a:avLst/>
          </a:prstGeom>
          <a:noFill/>
          <a:ln w="1905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315968" y="2606040"/>
            <a:ext cx="329184" cy="329184"/>
          </a:xfrm>
          <a:prstGeom prst="ellipse">
            <a:avLst/>
          </a:prstGeom>
          <a:solidFill>
            <a:srgbClr val="0A7070"/>
          </a:solidFill>
          <a:ln w="12700">
            <a:solidFill>
              <a:srgbClr val="0A70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291840" y="658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自動解析與切片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115568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291840" y="1115568"/>
            <a:ext cx="2377440" cy="64008"/>
          </a:xfrm>
          <a:prstGeom prst="rect">
            <a:avLst/>
          </a:prstGeom>
          <a:solidFill>
            <a:srgbClr val="0A7070"/>
          </a:solidFill>
          <a:ln w="12700">
            <a:solidFill>
              <a:srgbClr val="0A70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83280" y="1234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自動提取文字、表格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智慧切片（Chunking）策略，保留語意完整性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2487168"/>
            <a:ext cx="0" cy="118872"/>
          </a:xfrm>
          <a:prstGeom prst="line">
            <a:avLst/>
          </a:prstGeom>
          <a:noFill/>
          <a:ln w="19050">
            <a:solidFill>
              <a:srgbClr val="0A70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7424928" y="2606040"/>
            <a:ext cx="329184" cy="329184"/>
          </a:xfrm>
          <a:prstGeom prst="ellipse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400800" y="658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嵌入與索引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115568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400800" y="1115568"/>
            <a:ext cx="2377440" cy="64008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492240" y="1234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文字向量化（Embedding）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儲存至向量資料庫（Qdrant、Weaviate 等）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89520" y="2487168"/>
            <a:ext cx="0" cy="118872"/>
          </a:xfrm>
          <a:prstGeom prst="line">
            <a:avLst/>
          </a:prstGeom>
          <a:noFill/>
          <a:ln w="1905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solidFill>
            <a:srgbClr val="EDF3FF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164592" cy="1005840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777240" y="3246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完成後，Chatbot 或 Workflow 即可直接呼叫知識庫進行語意搜尋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部署方式比較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solidFill>
            <a:srgbClr val="FFF8E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 Dify 提供兩種部署方式，企業可依需求選擇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069080" cy="43891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☁ 雲端版 (dify.ai)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免安裝，立即使用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651760"/>
            <a:ext cx="4069080" cy="594360"/>
          </a:xfrm>
          <a:prstGeom prst="rect">
            <a:avLst/>
          </a:prstGeom>
          <a:solidFill>
            <a:srgbClr val="EDF3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自動更新，永遠是最新版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310128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免費方案可用，付費方案無限制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4069080" cy="438912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自行部署（Docker / K8S）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993392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19933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資料完全掌控，不外流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4069080" cy="594360"/>
          </a:xfrm>
          <a:prstGeom prst="rect">
            <a:avLst/>
          </a:prstGeom>
          <a:solidFill>
            <a:srgbClr val="EEE8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892040" y="26517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可客製化模型與外掛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3310128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892040" y="331012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支援 Docker Compose 或 Kubernetes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408011"/>
            <a:ext cx="8229600" cy="502920"/>
          </a:xfrm>
          <a:prstGeom prst="rect">
            <a:avLst/>
          </a:prstGeom>
          <a:solidFill>
            <a:srgbClr val="E6FAF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40080" y="44198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開源版本 (Apache 2.0)：完全免費，GitHub 已有 80,000+ Stars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立即開始使用 Dify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solidFill>
            <a:srgbClr val="141E32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371600" cy="9144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雲端版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57400" y="136662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前往 dify.ai 免費註冊，5 分鐘內建立第一個 AI 應用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136662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67128"/>
            <a:ext cx="8046720" cy="914400"/>
          </a:xfrm>
          <a:prstGeom prst="rect">
            <a:avLst/>
          </a:prstGeom>
          <a:solidFill>
            <a:srgbClr val="141E32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48640" y="2167128"/>
            <a:ext cx="1371600" cy="91440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16712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開源自架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57400" y="23957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langgenius/dify，支援 Docker 一鍵部署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2344481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1256"/>
            <a:ext cx="8046720" cy="914400"/>
          </a:xfrm>
          <a:prstGeom prst="rect">
            <a:avLst/>
          </a:prstGeom>
          <a:solidFill>
            <a:srgbClr val="141E32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3191256"/>
            <a:ext cx="1371600" cy="91440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191256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學習資源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57400" y="34206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 docs.dify.ai，社群討論、範本庫豐富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41935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279392"/>
            <a:ext cx="8046720" cy="621792"/>
          </a:xfrm>
          <a:prstGeom prst="rect">
            <a:avLst/>
          </a:prstGeom>
          <a:solidFill>
            <a:srgbClr val="0A1535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48640" y="427939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讓每個人都能成為 AI 應用開發者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2057400"/>
            <a:ext cx="0" cy="233624"/>
          </a:xfrm>
          <a:prstGeom prst="line">
            <a:avLst/>
          </a:prstGeom>
          <a:noFill/>
          <a:ln w="19050">
            <a:solidFill>
              <a:srgbClr val="2E5FC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0" y="3081528"/>
            <a:ext cx="0" cy="229404"/>
          </a:xfrm>
          <a:prstGeom prst="line">
            <a:avLst/>
          </a:prstGeom>
          <a:noFill/>
          <a:ln w="19050">
            <a:solidFill>
              <a:srgbClr val="2E5FC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447</Words>
  <Application>Microsoft Office PowerPoint</Application>
  <PresentationFormat>如螢幕大小 (16:9)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介紹</dc:title>
  <dc:subject>PptxGenJS Presentation</dc:subject>
  <dc:creator>PptxGenJS</dc:creator>
  <cp:lastModifiedBy>鎰群 蔡</cp:lastModifiedBy>
  <cp:revision>7</cp:revision>
  <dcterms:created xsi:type="dcterms:W3CDTF">2026-03-23T00:57:52Z</dcterms:created>
  <dcterms:modified xsi:type="dcterms:W3CDTF">2026-03-23T02:52:47Z</dcterms:modified>
</cp:coreProperties>
</file>