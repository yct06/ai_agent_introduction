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38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611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4864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3291840" y="0"/>
            <a:ext cx="1097280" cy="54864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400800" y="274320"/>
            <a:ext cx="3474720" cy="3474720"/>
          </a:xfrm>
          <a:prstGeom prst="ellipse">
            <a:avLst/>
          </a:prstGeom>
          <a:solidFill>
            <a:srgbClr val="1E3355"/>
          </a:solidFill>
          <a:ln w="12700">
            <a:solidFill>
              <a:srgbClr val="1E33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858000" y="640080"/>
            <a:ext cx="2560320" cy="2560320"/>
          </a:xfrm>
          <a:prstGeom prst="ellipse">
            <a:avLst/>
          </a:prstGeom>
          <a:solidFill>
            <a:srgbClr val="27446E"/>
          </a:solidFill>
          <a:ln w="12700">
            <a:solidFill>
              <a:srgbClr val="2744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828800" cy="347472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技術簡介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從問答工具到自主代理的 AI 演進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3200400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AI 如何從「回答問題」進化到「主動完成任務」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4663440"/>
            <a:ext cx="109728" cy="109728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8028432" y="4663440"/>
            <a:ext cx="109728" cy="109728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8284464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540496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796528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2E5FCC"/>
                </a:solidFill>
              </a:rPr>
              <a:t>"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你叫 AI 幫你安排下週的出差行程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它不只是給你建議——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  </a:t>
            </a:r>
            <a:r>
              <a:rPr lang="en-US" sz="1400" dirty="0">
                <a:solidFill>
                  <a:srgbClr val="C7DCF9"/>
                </a:solidFill>
              </a:rPr>
              <a:t>查了你的行事曆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69748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  </a:t>
            </a:r>
            <a:r>
              <a:rPr lang="en-US" sz="1400" dirty="0">
                <a:solidFill>
                  <a:srgbClr val="C7DCF9"/>
                </a:solidFill>
              </a:rPr>
              <a:t>比價並訂好機票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0060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0060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  </a:t>
            </a:r>
            <a:r>
              <a:rPr lang="en-US" sz="1400" dirty="0">
                <a:solidFill>
                  <a:srgbClr val="C7DCF9"/>
                </a:solidFill>
              </a:rPr>
              <a:t>預訂了餐廳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90372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  </a:t>
            </a:r>
            <a:r>
              <a:rPr lang="en-US" sz="1400" dirty="0">
                <a:solidFill>
                  <a:srgbClr val="C7DCF9"/>
                </a:solidFill>
              </a:rPr>
              <a:t>通知所有與會者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194560" y="3401568"/>
            <a:ext cx="2926080" cy="50292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2194560" y="34015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目標告訴它，剩下交給它。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的演進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7490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32004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320040" y="713232"/>
            <a:ext cx="274320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2004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ChatGPT 時代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你問、它答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回覆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文件起草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企業問答 Bot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246888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人類下指令 → AI 回應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0098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246120" y="713232"/>
            <a:ext cx="274320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24612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383280" y="1353312"/>
            <a:ext cx="2468880" cy="274320"/>
          </a:xfrm>
          <a:prstGeom prst="rect">
            <a:avLst/>
          </a:prstGeom>
          <a:solidFill>
            <a:srgbClr val="E6FAF8"/>
          </a:solidFill>
          <a:ln w="635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38328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現在主流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交代任務、它幫你完成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2900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自動整理會議紀錄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生成週報草稿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多輪對話處理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383280" y="3429000"/>
            <a:ext cx="2468880" cy="502920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338328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人類指定任務 → AI 執行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2706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17220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172200" y="713232"/>
            <a:ext cx="274320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17220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 (Agent)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6309360" y="1353312"/>
            <a:ext cx="2468880" cy="274320"/>
          </a:xfrm>
          <a:prstGeom prst="rect">
            <a:avLst/>
          </a:prstGeom>
          <a:solidFill>
            <a:srgbClr val="EEE8FF"/>
          </a:solidFill>
          <a:ln w="635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30936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時代（進行中）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給它目標，自己規劃執行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5508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自主規劃步驟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呼叫外部工具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反覆修正、回報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09360" y="3429000"/>
            <a:ext cx="2468880" cy="502920"/>
          </a:xfrm>
          <a:prstGeom prst="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630936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人類設定目標 → AI 自主完成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081528" y="2743200"/>
            <a:ext cx="292608" cy="0"/>
          </a:xfrm>
          <a:prstGeom prst="line">
            <a:avLst/>
          </a:prstGeom>
          <a:noFill/>
          <a:ln w="3175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6007608" y="2743200"/>
            <a:ext cx="301752" cy="0"/>
          </a:xfrm>
          <a:prstGeom prst="line">
            <a:avLst/>
          </a:prstGeom>
          <a:noFill/>
          <a:ln w="3175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Agent 是什麼？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234440"/>
          </a:xfrm>
          <a:prstGeom prst="rect">
            <a:avLst/>
          </a:prstGeom>
          <a:solidFill>
            <a:srgbClr val="EDF3FF"/>
          </a:solidFill>
          <a:ln w="1905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685800"/>
            <a:ext cx="182880" cy="123444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代替使用者或系統，自主規劃、判斷、並執行達成目標所需任務的 AI 程式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920240" cy="64008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5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14400" y="2852928"/>
            <a:ext cx="1005840" cy="27432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理解目標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解析使用者的最終意圖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542032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2542032" y="2148840"/>
            <a:ext cx="1920240" cy="64008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2542032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999232" y="2852928"/>
            <a:ext cx="1005840" cy="27432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2542032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規劃步驟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3472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自行決定執行方式與順序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26864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4626864" y="2148840"/>
            <a:ext cx="1920240" cy="6400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626864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4F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084064" y="2852928"/>
            <a:ext cx="1005840" cy="27432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626864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呼叫工具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使用外部 API 或搜尋引擎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11696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6711696" y="2148840"/>
            <a:ext cx="1920240" cy="64008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711696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7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168896" y="2852928"/>
            <a:ext cx="1005840" cy="27432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711696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反思修正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3136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根據結果調整下一步行動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這四個能力形成「Think → Act → Reflect」循環，反覆執行直到目標達成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Think → Act → Reflect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0" y="685800"/>
            <a:ext cx="402336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2560320" y="6858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[目標]  目標：找本週最便宜的台北 → 東京機票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11480" y="1463040"/>
            <a:ext cx="260604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2240280" cy="320040"/>
          </a:xfrm>
          <a:prstGeom prst="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分析需求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我需要搜尋航班資訊，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並比較不同日期的票價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044952" y="2670048"/>
            <a:ext cx="201168" cy="0"/>
          </a:xfrm>
          <a:prstGeom prst="line">
            <a:avLst/>
          </a:prstGeom>
          <a:noFill/>
          <a:ln w="2540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324612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2103120"/>
            <a:ext cx="2240280" cy="320040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42900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呼叫工具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呼叫航班查詢 API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搜尋7天內的可用航班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79592" y="2670048"/>
            <a:ext cx="201168" cy="0"/>
          </a:xfrm>
          <a:prstGeom prst="line">
            <a:avLst/>
          </a:prstGeom>
          <a:noFill/>
          <a:ln w="2540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08076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080760" y="1463040"/>
            <a:ext cx="2606040" cy="502920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08076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63640" y="2103120"/>
            <a:ext cx="22402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626364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評估結果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週五最便宜 NT$12,800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是否符合需求？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solidFill>
            <a:srgbClr val="EDF3FF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</a:rPr>
              <a:t>[回報]  回報結果：</a:t>
            </a:r>
            <a:r>
              <a:rPr lang="en-US" sz="1300" dirty="0">
                <a:solidFill>
                  <a:srgbClr val="444444"/>
                </a:solidFill>
              </a:rPr>
              <a:t>週五 NT$12,800，是否確認訂票？</a:t>
            </a:r>
            <a:r>
              <a:rPr lang="en-US" sz="1300" i="1" dirty="0">
                <a:solidFill>
                  <a:srgbClr val="8899AA"/>
                </a:solidFill>
              </a:rPr>
              <a:t>     [循環]  若不滿意，自動繼續循環直到找到更好方案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一般 Chatbot vs AI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621792"/>
          </a:xfrm>
          <a:prstGeom prst="rect">
            <a:avLst/>
          </a:prstGeom>
          <a:solidFill>
            <a:srgbClr val="1A2744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66928" y="685800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比較項目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685800"/>
            <a:ext cx="2926080" cy="621792"/>
          </a:xfrm>
          <a:prstGeom prst="rect">
            <a:avLst/>
          </a:prstGeom>
          <a:solidFill>
            <a:srgbClr val="2A6099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2852928" y="68580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 Chatbot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685800"/>
            <a:ext cx="2926080" cy="621792"/>
          </a:xfrm>
          <a:prstGeom prst="rect">
            <a:avLst/>
          </a:prstGeom>
          <a:solidFill>
            <a:srgbClr val="6C4FF5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779008" y="68580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344168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66928" y="1344168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互動方式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1344168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852928" y="1344168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你問、它答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344168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5779008" y="1344168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給目標、它自己完成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002536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66928" y="2002536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工具使用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00253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2852928" y="2002536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無法呼叫工具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00253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5779008" y="2002536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可呼叫外部工具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660904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66928" y="2660904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跨步驟規劃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0" y="2660904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852928" y="2660904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每次對話獨立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0" y="2660904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779008" y="2660904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可規劃多步驟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319272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66928" y="3319272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記憶與狀態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0" y="3319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2852928" y="3319272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短暫（多數無記憶）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3319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5779008" y="3319272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可跨步驟保留狀態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566928" y="3977640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自主性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0" y="3977640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2852928" y="397764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— 依賴人類指令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0" y="3977640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5779008" y="397764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C4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— 自行判斷行動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 的三種類型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11480" y="685800"/>
            <a:ext cx="1828800" cy="12984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423160" y="777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按人定義的流程依序執行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人預先設定所有步驟與分支條件，AI 在每個節點負責局部處理，整體流程不自行跳脫。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0" y="777240"/>
            <a:ext cx="1508760" cy="320040"/>
          </a:xfrm>
          <a:prstGeom prst="rect">
            <a:avLst/>
          </a:prstGeom>
          <a:solidFill>
            <a:srgbClr val="F0F0F0"/>
          </a:solidFill>
          <a:ln w="635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132320" y="7772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流水線作業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9516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目前最普遍的落地方式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2084832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11480" y="2084832"/>
            <a:ext cx="1828800" cy="1298448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770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23160" y="217627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自行判斷、呼叫工具、達成目標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23160" y="25877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接收目標後，AI 自主決定需要哪些工具，逐步執行並根據結果調整策略。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2176272"/>
            <a:ext cx="1508760" cy="320040"/>
          </a:xfrm>
          <a:prstGeom prst="rect">
            <a:avLst/>
          </a:prstGeom>
          <a:solidFill>
            <a:srgbClr val="E6FAF8"/>
          </a:solidFill>
          <a:ln w="635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132320" y="2176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一個人包辦所有事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95160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企業開始 PoC 驗證中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" y="3483864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411480" y="3483864"/>
            <a:ext cx="1828800" cy="129844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11480" y="41696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型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23160" y="357530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 AI 分工協作完成複雜任務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23160" y="398678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由多個專責 Agent 組成系統，各自負責子任務，透過協調機制整合輸出。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0" y="3575304"/>
            <a:ext cx="1508760" cy="320040"/>
          </a:xfrm>
          <a:prstGeom prst="rect">
            <a:avLst/>
          </a:prstGeom>
          <a:solidFill>
            <a:srgbClr val="EEE8FF"/>
          </a:solidFill>
          <a:ln w="635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7132320" y="357530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分工合作的團隊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95160" y="40325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研究與實驗階段</a:t>
            </a:r>
            <a:endParaRPr lang="en-US" sz="1250" dirty="0"/>
          </a:p>
        </p:txBody>
      </p:sp>
      <p:pic>
        <p:nvPicPr>
          <p:cNvPr id="28" name="Icon Workfl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12" y="798040"/>
            <a:ext cx="650128" cy="650128"/>
          </a:xfrm>
          <a:prstGeom prst="rect">
            <a:avLst/>
          </a:prstGeom>
        </p:spPr>
      </p:pic>
      <p:pic>
        <p:nvPicPr>
          <p:cNvPr id="29" name="Icon SingleAgen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340" y="2193404"/>
            <a:ext cx="651600" cy="651600"/>
          </a:xfrm>
          <a:prstGeom prst="rect">
            <a:avLst/>
          </a:prstGeom>
        </p:spPr>
      </p:pic>
      <p:pic>
        <p:nvPicPr>
          <p:cNvPr id="30" name="Icon MultiAge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812" y="3598164"/>
            <a:ext cx="651600" cy="65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下一個更大的概念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840480" cy="2606040"/>
          </a:xfrm>
          <a:prstGeom prst="rect">
            <a:avLst/>
          </a:prstGeom>
          <a:solidFill>
            <a:srgbClr val="1A2744"/>
          </a:solidFill>
          <a:ln w="1905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84048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 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AI 獨立執行任務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接收目標 → 自主完成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606040"/>
          </a:xfrm>
          <a:prstGeom prst="rect">
            <a:avLst/>
          </a:prstGeom>
          <a:solidFill>
            <a:srgbClr val="1A2744"/>
          </a:solidFill>
          <a:ln w="1905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84048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</a:t>
            </a: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 Agent 協同的整體體系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分解目標 → 分工協作 → 整合輸出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6280" y="2852928"/>
            <a:ext cx="0" cy="0"/>
          </a:xfrm>
          <a:prstGeom prst="line">
            <a:avLst/>
          </a:prstGeom>
          <a:noFill/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296672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3B5E5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≈ Multi-Agent 概念 — 不只是「一個 AI 在動」，而是「一支 AI 團隊在協作」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未來展望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7680960" cy="54864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207008" y="2606040"/>
            <a:ext cx="329184" cy="329184"/>
          </a:xfrm>
          <a:prstGeom prst="ellipse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18288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 ～ 2027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182880" y="1115568"/>
            <a:ext cx="2377440" cy="64008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27432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型 + 初步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落地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487168"/>
            <a:ext cx="0" cy="118872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315968" y="2606040"/>
            <a:ext cx="329184" cy="329184"/>
          </a:xfrm>
          <a:prstGeom prst="ellipse">
            <a:avLst/>
          </a:prstGeom>
          <a:solidFill>
            <a:srgbClr val="0A7070"/>
          </a:solidFill>
          <a:ln w="12700">
            <a:solidFill>
              <a:srgbClr val="0A7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329184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～ 2030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91840" y="1115568"/>
            <a:ext cx="2377440" cy="64008"/>
          </a:xfrm>
          <a:prstGeom prst="rect">
            <a:avLst/>
          </a:prstGeom>
          <a:solidFill>
            <a:srgbClr val="0A7070"/>
          </a:solidFill>
          <a:ln w="12700">
            <a:solidFill>
              <a:srgbClr val="0A7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38328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特定業務限定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 Agent 實用化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487168"/>
            <a:ext cx="0" cy="118872"/>
          </a:xfrm>
          <a:prstGeom prst="line">
            <a:avLst/>
          </a:prstGeom>
          <a:noFill/>
          <a:ln w="19050">
            <a:solidFill>
              <a:srgbClr val="0A707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424928" y="2606040"/>
            <a:ext cx="329184" cy="329184"/>
          </a:xfrm>
          <a:prstGeom prst="ellipse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0080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2030年代以後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400800" y="1115568"/>
            <a:ext cx="2377440" cy="6400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49224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通用型完全自律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Agent（高度不確定）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0" y="2487168"/>
            <a:ext cx="0" cy="118872"/>
          </a:xfrm>
          <a:prstGeom prst="line">
            <a:avLst/>
          </a:prstGeom>
          <a:noFill/>
          <a:ln w="1905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solidFill>
            <a:srgbClr val="EDF3FF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164592" cy="100584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77240" y="3246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</a:t>
            </a: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全能 AI 不會突然出現。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而是「能執行特定任務的 AI 工具」逐步成熟、可靠、普及。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2025 現狀 — 我們在哪裡？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solidFill>
            <a:srgbClr val="FFF8E0"/>
          </a:solidFill>
          <a:ln w="12700">
            <a:solidFill>
              <a:srgbClr val="E8A00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 多數企業目前仍停留在 Workflow 型，真正自律的 Agent 導入仍是少數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69080" cy="43891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Single Agent 的挑戰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4864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Hallucination（幻覺）：看起來對，實際上錯了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4069080" cy="594360"/>
          </a:xfrm>
          <a:prstGeom prst="rect">
            <a:avLst/>
          </a:prstGeom>
          <a:solidFill>
            <a:srgbClr val="EDF3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推理鏈過淺：遇到複雜問題容易失誤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48640" y="3310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難以驗證中間步驟是否正確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4069080" cy="438912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754880" y="14173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Multi-Agent 的挑戰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99339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89204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多個 AI 意圖不同步，任務卡住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4069080" cy="594360"/>
          </a:xfrm>
          <a:prstGeom prst="rect">
            <a:avLst/>
          </a:prstGeom>
          <a:solidFill>
            <a:srgbClr val="EEE8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892040" y="26517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每次執行結果不穩定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54880" y="3310128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892040" y="3310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內部運作過程不透明，難以除錯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57200" y="4408011"/>
            <a:ext cx="8229600" cy="502920"/>
          </a:xfrm>
          <a:prstGeom prst="rect">
            <a:avLst/>
          </a:prstGeom>
          <a:solidFill>
            <a:srgbClr val="E6FAF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40080" y="44198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現在最重要的事：在現實條件下，找到能穩定落地的 Agent 應用方式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角色的三個階段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1371600" cy="9144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136662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問它問題 → 得到答案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136662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時代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67128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167128"/>
            <a:ext cx="1371600" cy="91440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48640" y="216712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助手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23957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交代任務 → 它幫你完成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344481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現在主流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1256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548640" y="3191256"/>
            <a:ext cx="1371600" cy="91440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48640" y="3191256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34206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給它目標 → 自己規劃、執行、回報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41935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時代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79392"/>
            <a:ext cx="8046720" cy="621792"/>
          </a:xfrm>
          <a:prstGeom prst="rect">
            <a:avLst/>
          </a:prstGeom>
          <a:solidFill>
            <a:srgbClr val="0A1535"/>
          </a:solidFill>
          <a:ln w="12700">
            <a:solidFill>
              <a:srgbClr val="2E5FC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48640" y="42793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我們正處於從「助手」走向「代理」的過渡期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0" cy="233624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572000" y="3081528"/>
            <a:ext cx="0" cy="229404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447</Words>
  <Application>Microsoft Office PowerPoint</Application>
  <PresentationFormat>如螢幕大小 (16:9)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介紹</dc:title>
  <dc:subject>PptxGenJS Presentation</dc:subject>
  <dc:creator>PptxGenJS</dc:creator>
  <cp:lastModifiedBy>鎰群 蔡</cp:lastModifiedBy>
  <cp:revision>7</cp:revision>
  <dcterms:created xsi:type="dcterms:W3CDTF">2026-03-23T00:57:52Z</dcterms:created>
  <dcterms:modified xsi:type="dcterms:W3CDTF">2026-03-23T02:52:47Z</dcterms:modified>
</cp:coreProperties>
</file>