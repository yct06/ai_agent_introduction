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274320"/>
            <a:ext cx="4114800" cy="4114800"/>
          </a:xfrm>
          <a:prstGeom prst="ellipse">
            <a:avLst/>
          </a:prstGeom>
          <a:solidFill>
            <a:srgbClr val="00B4D8">
              <a:alpha val="12000"/>
            </a:srgbClr>
          </a:solidFill>
          <a:ln w="6350">
            <a:solidFill>
              <a:srgbClr val="00B4D8">
                <a:alpha val="30000"/>
              </a:srgbClr>
            </a:solidFill>
            <a:prstDash val="solid"/>
          </a:ln>
        </p:spPr>
      </p:sp>
      <p:pic>
        <p:nvPicPr>
          <p:cNvPr id="5" name="Image 0" descr="/sessions/dreamy-optimistic-newton/mnt/work/openclaw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548640"/>
            <a:ext cx="3108960" cy="3108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9144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640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32004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1031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你的個人 AI 助理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457200" y="2834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 AI 幫你做事，不只是聊天！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3474720"/>
            <a:ext cx="1417320" cy="347472"/>
          </a:xfrm>
          <a:prstGeom prst="rect">
            <a:avLst/>
          </a:prstGeom>
          <a:solidFill>
            <a:srgbClr val="1A27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4747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 免費開源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011680" y="3474720"/>
            <a:ext cx="1417320" cy="347472"/>
          </a:xfrm>
          <a:prstGeom prst="rect">
            <a:avLst/>
          </a:prstGeom>
          <a:solidFill>
            <a:srgbClr val="1A27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11680" y="34747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 隱私優先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566160" y="3474720"/>
            <a:ext cx="1417320" cy="347472"/>
          </a:xfrm>
          <a:prstGeom prst="rect">
            <a:avLst/>
          </a:prstGeom>
          <a:solidFill>
            <a:srgbClr val="1A27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66160" y="34747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 多平台整合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0" y="482803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課堂教育推廣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什麼是 OpenClaw？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68680"/>
            <a:ext cx="5120640" cy="3840480"/>
          </a:xfrm>
          <a:prstGeom prst="rect">
            <a:avLst/>
          </a:prstGeom>
          <a:solidFill>
            <a:srgbClr val="162032"/>
          </a:solidFill>
          <a:ln w="12700">
            <a:solidFill>
              <a:srgbClr val="1A2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115568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02412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是一個「可以幫你做事的 AI」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1810512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719072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不像一般聊天機器人只會回答問題——它有「眼睛」和「手」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2505456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414016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能自動瀏覽網路、讀寫你的文件、發送訊息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20040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10896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透過 LINE、Telegram、WhatsApp 等訊息軟體操控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3895344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803904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完全免費、開放原始碼，任何人都可以使用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806440" y="868680"/>
            <a:ext cx="2926080" cy="3840480"/>
          </a:xfrm>
          <a:prstGeom prst="rect">
            <a:avLst/>
          </a:prstGeom>
          <a:solidFill>
            <a:srgbClr val="162032"/>
          </a:solidFill>
          <a:ln w="12700">
            <a:solidFill>
              <a:srgbClr val="1A2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051560"/>
            <a:ext cx="1188720" cy="11887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943600" y="2331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用比喻來說…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943600" y="2743200"/>
            <a:ext cx="2651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就像你的
</a:t>
            </a:r>
            <a:pPr algn="ctr"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超強私人助理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幫你上網查資料、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整理文件、傳訊息，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小時隨時待命！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的由來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5156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216152"/>
            <a:ext cx="18288" cy="7315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914400"/>
            <a:ext cx="777240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A2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960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2025年11月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123444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奧地利工程師 Peter Steinberger 以「Clawdbot」名稱發布第一版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01168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2176272"/>
            <a:ext cx="18288" cy="7315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1874520"/>
            <a:ext cx="777240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A2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5156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2026年1月27日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19456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更名為「Moltbot」（因商標問題）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3136392"/>
            <a:ext cx="18288" cy="7315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2834640"/>
            <a:ext cx="777240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A2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5156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2026年1月30日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315468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再次更名為「OpenClaw」，並正式走紅全球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93192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3794760"/>
            <a:ext cx="777240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A2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5156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2026年3月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411480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星標數突破 68,000！成為年度最熱開源專案之一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669280" y="822960"/>
            <a:ext cx="2926080" cy="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4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主要功能和特點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2606040" cy="1691640"/>
          </a:xfrm>
          <a:prstGeom prst="rect">
            <a:avLst/>
          </a:prstGeom>
          <a:solidFill>
            <a:srgbClr val="162032"/>
          </a:solidFill>
          <a:ln w="12700">
            <a:solidFill>
              <a:srgbClr val="1A2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097280"/>
            <a:ext cx="502920" cy="502920"/>
          </a:xfrm>
          <a:prstGeom prst="ellipse">
            <a:avLst/>
          </a:prstGeom>
          <a:solidFill>
            <a:srgbClr val="0096C7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152144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07008" y="111556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瀏覽網路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94360" y="1691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自動上網查詢資料、填表單、搜尋內容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91840" y="914400"/>
            <a:ext cx="2606040" cy="1691640"/>
          </a:xfrm>
          <a:prstGeom prst="rect">
            <a:avLst/>
          </a:prstGeom>
          <a:solidFill>
            <a:srgbClr val="162032"/>
          </a:solidFill>
          <a:ln w="12700">
            <a:solidFill>
              <a:srgbClr val="1A2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29000" y="1097280"/>
            <a:ext cx="502920" cy="502920"/>
          </a:xfrm>
          <a:prstGeom prst="ellipse">
            <a:avLst/>
          </a:prstGeom>
          <a:solidFill>
            <a:srgbClr val="0096C7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008" y="1152144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41648" y="111556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讀寫文件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429000" y="1691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讀取和編輯你電腦裡的文件、筆記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26480" y="914400"/>
            <a:ext cx="2606040" cy="1691640"/>
          </a:xfrm>
          <a:prstGeom prst="rect">
            <a:avLst/>
          </a:prstGeom>
          <a:solidFill>
            <a:srgbClr val="162032"/>
          </a:solidFill>
          <a:ln w="12700">
            <a:solidFill>
              <a:srgbClr val="1A2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63640" y="1097280"/>
            <a:ext cx="502920" cy="502920"/>
          </a:xfrm>
          <a:prstGeom prst="ellipse">
            <a:avLst/>
          </a:prstGeom>
          <a:solidFill>
            <a:srgbClr val="0096C7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152144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76288" y="111556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多平台操控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263640" y="1691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透過 Telegram、Discord、WhatsApp 操作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57200" y="2834640"/>
            <a:ext cx="2606040" cy="1691640"/>
          </a:xfrm>
          <a:prstGeom prst="rect">
            <a:avLst/>
          </a:prstGeom>
          <a:solidFill>
            <a:srgbClr val="162032"/>
          </a:solidFill>
          <a:ln w="12700">
            <a:solidFill>
              <a:srgbClr val="1A2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94360" y="3017520"/>
            <a:ext cx="502920" cy="502920"/>
          </a:xfrm>
          <a:prstGeom prst="ellipse">
            <a:avLst/>
          </a:prstGeom>
          <a:solidFill>
            <a:srgbClr val="0096C7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072384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07008" y="303580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整合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594360" y="36118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連結 Notion、GitHub、智慧家電等服務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3291840" y="2834640"/>
            <a:ext cx="2606040" cy="1691640"/>
          </a:xfrm>
          <a:prstGeom prst="rect">
            <a:avLst/>
          </a:prstGeom>
          <a:solidFill>
            <a:srgbClr val="162032"/>
          </a:solidFill>
          <a:ln w="12700">
            <a:solidFill>
              <a:srgbClr val="1A2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429000" y="3017520"/>
            <a:ext cx="502920" cy="502920"/>
          </a:xfrm>
          <a:prstGeom prst="ellipse">
            <a:avLst/>
          </a:prstGeom>
          <a:solidFill>
            <a:srgbClr val="0096C7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3008" y="3072384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041648" y="303580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本地運行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3429000" y="36118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資料儲存在自己電腦，不上傳至雲端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6126480" y="2834640"/>
            <a:ext cx="2606040" cy="1691640"/>
          </a:xfrm>
          <a:prstGeom prst="rect">
            <a:avLst/>
          </a:prstGeom>
          <a:solidFill>
            <a:srgbClr val="162032"/>
          </a:solidFill>
          <a:ln w="12700">
            <a:solidFill>
              <a:srgbClr val="1A2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263640" y="3017520"/>
            <a:ext cx="502920" cy="502920"/>
          </a:xfrm>
          <a:prstGeom prst="ellipse">
            <a:avLst/>
          </a:prstGeom>
          <a:solidFill>
            <a:srgbClr val="0096C7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3072384"/>
            <a:ext cx="365760" cy="36576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876288" y="303580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記憶功能</a:t>
            </a:r>
            <a:endParaRPr lang="en-US" sz="1500" dirty="0"/>
          </a:p>
        </p:txBody>
      </p:sp>
      <p:sp>
        <p:nvSpPr>
          <p:cNvPr id="35" name="Text 27"/>
          <p:cNvSpPr/>
          <p:nvPr/>
        </p:nvSpPr>
        <p:spPr>
          <a:xfrm>
            <a:off x="6263640" y="36118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記得之前的對話，越用越懂你的習慣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如何運作的？（原理圖）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51560"/>
            <a:ext cx="1737360" cy="256032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61288" y="118872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82880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2423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你發出指令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28803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透過訊息軟體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用日常語言說話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331720" y="2057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2651760" y="1051560"/>
            <a:ext cx="1737360" cy="256032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64408" y="118872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64408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82880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743200" y="2423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理解指令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2743200" y="28803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由大型語言模型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分析你的意思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434840" y="2057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4754880" y="1051560"/>
            <a:ext cx="1737360" cy="256032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367528" y="118872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367528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828800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846320" y="2423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執行動作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4846320" y="28803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上網查詢、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讀寫文件、發送通知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537960" y="2057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Shape 22"/>
          <p:cNvSpPr/>
          <p:nvPr/>
        </p:nvSpPr>
        <p:spPr>
          <a:xfrm>
            <a:off x="6858000" y="1051560"/>
            <a:ext cx="1737360" cy="2560320"/>
          </a:xfrm>
          <a:prstGeom prst="rect">
            <a:avLst/>
          </a:prstGeom>
          <a:solidFill>
            <a:srgbClr val="16203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7470648" y="118872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7470648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1828800"/>
            <a:ext cx="457200" cy="45720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949440" y="24231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回報結果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6949440" y="28803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完成後告訴你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做了什麼、結果如何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OpenClaw 可以連接 Claude、GPT-4、DeepSeek 等多種 AI 模型！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6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應用場景和優勢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2788920" cy="1691640"/>
          </a:xfrm>
          <a:prstGeom prst="rect">
            <a:avLst/>
          </a:prstGeom>
          <a:solidFill>
            <a:srgbClr val="162032"/>
          </a:solidFill>
          <a:ln w="12700">
            <a:solidFill>
              <a:srgbClr val="1A2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64008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97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自動整理信箱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幫你分類郵件、自動回覆常見問題，節省大量時間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788920" cy="1691640"/>
          </a:xfrm>
          <a:prstGeom prst="rect">
            <a:avLst/>
          </a:prstGeom>
          <a:solidFill>
            <a:srgbClr val="162032"/>
          </a:solidFill>
          <a:ln w="12700">
            <a:solidFill>
              <a:srgbClr val="1A2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14400"/>
            <a:ext cx="64008" cy="16916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097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輔助程式開發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15544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幫你查 Bug、管理 GitHub、自動化 DevOps 工作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914400"/>
            <a:ext cx="2788920" cy="1691640"/>
          </a:xfrm>
          <a:prstGeom prst="rect">
            <a:avLst/>
          </a:prstGeom>
          <a:solidFill>
            <a:srgbClr val="162032"/>
          </a:solidFill>
          <a:ln w="12700">
            <a:solidFill>
              <a:srgbClr val="1A2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914400"/>
            <a:ext cx="64008" cy="16916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097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控制智慧家電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15544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透過訊息控制燈光、家電、音樂播放器等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788920"/>
            <a:ext cx="2788920" cy="1691640"/>
          </a:xfrm>
          <a:prstGeom prst="rect">
            <a:avLst/>
          </a:prstGeom>
          <a:solidFill>
            <a:srgbClr val="162032"/>
          </a:solidFill>
          <a:ln w="12700">
            <a:solidFill>
              <a:srgbClr val="1A2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788920"/>
            <a:ext cx="64008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971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個人行程管理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4290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 Notion、Apple 提醒、行事曆，統一管理你的待辦事項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0" y="2788920"/>
            <a:ext cx="2788920" cy="1691640"/>
          </a:xfrm>
          <a:prstGeom prst="rect">
            <a:avLst/>
          </a:prstGeom>
          <a:solidFill>
            <a:srgbClr val="162032"/>
          </a:solidFill>
          <a:ln w="12700">
            <a:solidFill>
              <a:srgbClr val="1A2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2788920"/>
            <a:ext cx="64008" cy="16916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2971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自動網路研究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83280" y="34290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幫你搜尋、整理、摘要網路上的最新資訊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2788920"/>
            <a:ext cx="2788920" cy="1691640"/>
          </a:xfrm>
          <a:prstGeom prst="rect">
            <a:avLst/>
          </a:prstGeom>
          <a:solidFill>
            <a:srgbClr val="162032"/>
          </a:solidFill>
          <a:ln w="12700">
            <a:solidFill>
              <a:srgbClr val="1A2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2788920"/>
            <a:ext cx="64008" cy="16916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2971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每日生活摘要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09360" y="34290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每天早上自動傳給你天氣、新聞、今日行程摘要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7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使用方法和操作流程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1188720" cy="7132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83080" y="960120"/>
            <a:ext cx="690372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A2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20240" y="1005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下載與安裝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920240" y="1307592"/>
            <a:ext cx="6537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GitHub 下載 OpenClaw，安裝在自己的電腦或伺服器上（支援 Windows / Mac / Linux）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892808"/>
            <a:ext cx="1188720" cy="7132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92808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783080" y="1892808"/>
            <a:ext cx="690372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A2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920240" y="1938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 AI 模型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20240" y="2240280"/>
            <a:ext cx="6537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輸入你的 AI API 金鑰（Claude / GPT / DeepSeek 均可），或使用本機模型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825496"/>
            <a:ext cx="1188720" cy="7132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825496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783080" y="2825496"/>
            <a:ext cx="690372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A2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20240" y="28712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連接訊息平台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920240" y="3172968"/>
            <a:ext cx="6537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 Telegram Bot 或 Discord Bot，讓 OpenClaw 接收你的指令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758184"/>
            <a:ext cx="1188720" cy="713232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758184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783080" y="3758184"/>
            <a:ext cx="690372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A2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920240" y="38039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開始對話使用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920240" y="4105656"/>
            <a:ext cx="6537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用自然語言告訴 OpenClaw 你想做什麼，例如：「幫我查今天台北天氣」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solidFill>
            <a:srgbClr val="1A274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63600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範例指令：「幫我把今天的會議記錄整理成表格，並存到 Notion」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8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成功案例和用戶反饋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2651760" cy="914400"/>
          </a:xfrm>
          <a:prstGeom prst="rect">
            <a:avLst/>
          </a:prstGeom>
          <a:solidFill>
            <a:srgbClr val="162032"/>
          </a:solidFill>
          <a:ln w="12700">
            <a:solidFill>
              <a:srgbClr val="1A2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9875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68,000+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星標數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914400"/>
            <a:ext cx="2651760" cy="914400"/>
          </a:xfrm>
          <a:prstGeom prst="rect">
            <a:avLst/>
          </a:prstGeom>
          <a:solidFill>
            <a:srgbClr val="162032"/>
          </a:solidFill>
          <a:ln w="12700">
            <a:solidFill>
              <a:srgbClr val="1A2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9875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337560" y="1508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整合服務數量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914400"/>
            <a:ext cx="2651760" cy="914400"/>
          </a:xfrm>
          <a:prstGeom prst="rect">
            <a:avLst/>
          </a:prstGeom>
          <a:solidFill>
            <a:srgbClr val="162032"/>
          </a:solidFill>
          <a:ln w="12700">
            <a:solidFill>
              <a:srgbClr val="1A2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9875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217920" y="1508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使用者分布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057400"/>
            <a:ext cx="8229600" cy="749808"/>
          </a:xfrm>
          <a:prstGeom prst="rect">
            <a:avLst/>
          </a:prstGeom>
          <a:solidFill>
            <a:srgbClr val="162032"/>
          </a:solidFill>
          <a:ln w="12700">
            <a:solidFill>
              <a:srgbClr val="1A2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057400"/>
            <a:ext cx="64008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112264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「每天早上 OpenClaw 自動幫我整理郵件、傳今日天氣，節省了我至少 30 分鐘！」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5800" y="2514600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軟體工程師，德國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8229600" cy="749808"/>
          </a:xfrm>
          <a:prstGeom prst="rect">
            <a:avLst/>
          </a:prstGeom>
          <a:solidFill>
            <a:srgbClr val="162032"/>
          </a:solidFill>
          <a:ln w="12700">
            <a:solidFill>
              <a:srgbClr val="1A2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926080"/>
            <a:ext cx="64008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980944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「我用 WhatsApp 控制家裡的燈光和音樂，感覺像住在科幻電影裡！」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85800" y="3383280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大學生，台灣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794760"/>
            <a:ext cx="8229600" cy="749808"/>
          </a:xfrm>
          <a:prstGeom prst="rect">
            <a:avLst/>
          </a:prstGeom>
          <a:solidFill>
            <a:srgbClr val="162032"/>
          </a:solidFill>
          <a:ln w="12700">
            <a:solidFill>
              <a:srgbClr val="1A2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794760"/>
            <a:ext cx="64008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849624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「OpenClaw 幫我自動備份程式碼、回報 Bug，完全不需要手動操作。」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85800" y="4251960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獨立開發者，美國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9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競爭優勢和市場前景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3474720" cy="475488"/>
          </a:xfrm>
          <a:prstGeom prst="rect">
            <a:avLst/>
          </a:prstGeom>
          <a:solidFill>
            <a:srgbClr val="1A2740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特性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0" y="1005840"/>
            <a:ext cx="1645920" cy="475488"/>
          </a:xfrm>
          <a:prstGeom prst="rect">
            <a:avLst/>
          </a:prstGeom>
          <a:solidFill>
            <a:srgbClr val="0096C7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10058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0" y="1005840"/>
            <a:ext cx="1645920" cy="475488"/>
          </a:xfrm>
          <a:prstGeom prst="rect">
            <a:avLst/>
          </a:prstGeom>
          <a:solidFill>
            <a:srgbClr val="162032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10058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132320" y="1005840"/>
            <a:ext cx="1920240" cy="475488"/>
          </a:xfrm>
          <a:prstGeom prst="rect">
            <a:avLst/>
          </a:prstGeom>
          <a:solidFill>
            <a:srgbClr val="162032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10058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一般聊天機器人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1481328"/>
            <a:ext cx="3474720" cy="475488"/>
          </a:xfrm>
          <a:prstGeom prst="rect">
            <a:avLst/>
          </a:prstGeom>
          <a:solidFill>
            <a:srgbClr val="162032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481328"/>
            <a:ext cx="347472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可執行實際動作（有「手」）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40480" y="1481328"/>
            <a:ext cx="1645920" cy="475488"/>
          </a:xfrm>
          <a:prstGeom prst="rect">
            <a:avLst/>
          </a:prstGeom>
          <a:solidFill>
            <a:srgbClr val="162032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148132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 支援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0" y="1481328"/>
            <a:ext cx="1645920" cy="475488"/>
          </a:xfrm>
          <a:prstGeom prst="rect">
            <a:avLst/>
          </a:prstGeom>
          <a:solidFill>
            <a:srgbClr val="162032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148132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不支援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132320" y="1481328"/>
            <a:ext cx="1920240" cy="475488"/>
          </a:xfrm>
          <a:prstGeom prst="rect">
            <a:avLst/>
          </a:prstGeom>
          <a:solidFill>
            <a:srgbClr val="162032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14813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不支援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1956816"/>
            <a:ext cx="3474720" cy="475488"/>
          </a:xfrm>
          <a:prstGeom prst="rect">
            <a:avLst/>
          </a:prstGeom>
          <a:solidFill>
            <a:srgbClr val="0D1B2A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1956816"/>
            <a:ext cx="347472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能瀏覽網路（有「眼睛」）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840480" y="1956816"/>
            <a:ext cx="1645920" cy="475488"/>
          </a:xfrm>
          <a:prstGeom prst="rect">
            <a:avLst/>
          </a:prstGeom>
          <a:solidFill>
            <a:srgbClr val="0D1B2A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0" y="195681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 支援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0" y="1956816"/>
            <a:ext cx="1645920" cy="475488"/>
          </a:xfrm>
          <a:prstGeom prst="rect">
            <a:avLst/>
          </a:prstGeom>
          <a:solidFill>
            <a:srgbClr val="0D1B2A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195681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部分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132320" y="1956816"/>
            <a:ext cx="1920240" cy="475488"/>
          </a:xfrm>
          <a:prstGeom prst="rect">
            <a:avLst/>
          </a:prstGeom>
          <a:solidFill>
            <a:srgbClr val="0D1B2A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0" y="195681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不支援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65760" y="2432304"/>
            <a:ext cx="3474720" cy="475488"/>
          </a:xfrm>
          <a:prstGeom prst="rect">
            <a:avLst/>
          </a:prstGeom>
          <a:solidFill>
            <a:srgbClr val="162032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432304"/>
            <a:ext cx="347472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完全免費開源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840480" y="2432304"/>
            <a:ext cx="1645920" cy="475488"/>
          </a:xfrm>
          <a:prstGeom prst="rect">
            <a:avLst/>
          </a:prstGeom>
          <a:solidFill>
            <a:srgbClr val="162032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0" y="24323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 支援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0" y="2432304"/>
            <a:ext cx="1645920" cy="475488"/>
          </a:xfrm>
          <a:prstGeom prst="rect">
            <a:avLst/>
          </a:prstGeom>
          <a:solidFill>
            <a:srgbClr val="162032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0" y="24323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不支援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132320" y="2432304"/>
            <a:ext cx="1920240" cy="475488"/>
          </a:xfrm>
          <a:prstGeom prst="rect">
            <a:avLst/>
          </a:prstGeom>
          <a:solidFill>
            <a:srgbClr val="162032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0" y="243230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不支援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65760" y="2907792"/>
            <a:ext cx="3474720" cy="475488"/>
          </a:xfrm>
          <a:prstGeom prst="rect">
            <a:avLst/>
          </a:prstGeom>
          <a:solidFill>
            <a:srgbClr val="0D1B2A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2907792"/>
            <a:ext cx="347472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資料儲存在本地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840480" y="2907792"/>
            <a:ext cx="1645920" cy="475488"/>
          </a:xfrm>
          <a:prstGeom prst="rect">
            <a:avLst/>
          </a:prstGeom>
          <a:solidFill>
            <a:srgbClr val="0D1B2A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0" y="29077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 支援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486400" y="2907792"/>
            <a:ext cx="1645920" cy="475488"/>
          </a:xfrm>
          <a:prstGeom prst="rect">
            <a:avLst/>
          </a:prstGeom>
          <a:solidFill>
            <a:srgbClr val="0D1B2A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0" y="29077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不支援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132320" y="2907792"/>
            <a:ext cx="1920240" cy="475488"/>
          </a:xfrm>
          <a:prstGeom prst="rect">
            <a:avLst/>
          </a:prstGeom>
          <a:solidFill>
            <a:srgbClr val="0D1B2A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32320" y="290779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不支援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65760" y="3383280"/>
            <a:ext cx="3474720" cy="475488"/>
          </a:xfrm>
          <a:prstGeom prst="rect">
            <a:avLst/>
          </a:prstGeom>
          <a:solidFill>
            <a:srgbClr val="162032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3383280"/>
            <a:ext cx="347472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透過訊息軟體操控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3840480" y="3383280"/>
            <a:ext cx="1645920" cy="475488"/>
          </a:xfrm>
          <a:prstGeom prst="rect">
            <a:avLst/>
          </a:prstGeom>
          <a:solidFill>
            <a:srgbClr val="162032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40480" y="338328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 支援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486400" y="3383280"/>
            <a:ext cx="1645920" cy="475488"/>
          </a:xfrm>
          <a:prstGeom prst="rect">
            <a:avLst/>
          </a:prstGeom>
          <a:solidFill>
            <a:srgbClr val="162032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0" y="338328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不支援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7132320" y="3383280"/>
            <a:ext cx="1920240" cy="475488"/>
          </a:xfrm>
          <a:prstGeom prst="rect">
            <a:avLst/>
          </a:prstGeom>
          <a:solidFill>
            <a:srgbClr val="162032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32320" y="33832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部分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365760" y="3858768"/>
            <a:ext cx="3474720" cy="475488"/>
          </a:xfrm>
          <a:prstGeom prst="rect">
            <a:avLst/>
          </a:prstGeom>
          <a:solidFill>
            <a:srgbClr val="0D1B2A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3858768"/>
            <a:ext cx="347472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支援多種 AI 模型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3840480" y="3858768"/>
            <a:ext cx="1645920" cy="475488"/>
          </a:xfrm>
          <a:prstGeom prst="rect">
            <a:avLst/>
          </a:prstGeom>
          <a:solidFill>
            <a:srgbClr val="0D1B2A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840480" y="385876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 支援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5486400" y="3858768"/>
            <a:ext cx="1645920" cy="475488"/>
          </a:xfrm>
          <a:prstGeom prst="rect">
            <a:avLst/>
          </a:prstGeom>
          <a:solidFill>
            <a:srgbClr val="0D1B2A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86400" y="385876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不支援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7132320" y="3858768"/>
            <a:ext cx="1920240" cy="475488"/>
          </a:xfrm>
          <a:prstGeom prst="rect">
            <a:avLst/>
          </a:prstGeom>
          <a:solidFill>
            <a:srgbClr val="0D1B2A"/>
          </a:solidFill>
          <a:ln w="6350">
            <a:solidFill>
              <a:srgbClr val="1A274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32320" y="385876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不支援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AI 代理市場預計 2028 年達到 280 億美元規模，OpenClaw 站在浪尖上！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10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安全性和隱私保護措施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2606040" cy="2560320"/>
          </a:xfrm>
          <a:prstGeom prst="rect">
            <a:avLst/>
          </a:prstGeom>
          <a:solidFill>
            <a:srgbClr val="162032"/>
          </a:solidFill>
          <a:ln w="12700">
            <a:solidFill>
              <a:srgbClr val="1A2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1051560"/>
            <a:ext cx="685800" cy="685800"/>
          </a:xfrm>
          <a:prstGeom prst="ellipse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124712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18745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本地資料儲存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233172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所有設定和對話記錄儲存在你自己的電腦，不上傳到任何伺服器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91840" y="914400"/>
            <a:ext cx="2606040" cy="2560320"/>
          </a:xfrm>
          <a:prstGeom prst="rect">
            <a:avLst/>
          </a:prstGeom>
          <a:solidFill>
            <a:srgbClr val="162032"/>
          </a:solidFill>
          <a:ln w="12700">
            <a:solidFill>
              <a:srgbClr val="1A2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06240" y="1051560"/>
            <a:ext cx="685800" cy="685800"/>
          </a:xfrm>
          <a:prstGeom prst="ellipse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124712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83280" y="18745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自備 API 金鑰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383280" y="233172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使用你自己的 AI API，Anthropic / OpenAI 看不到你的使用內容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26480" y="914400"/>
            <a:ext cx="2606040" cy="2560320"/>
          </a:xfrm>
          <a:prstGeom prst="rect">
            <a:avLst/>
          </a:prstGeom>
          <a:solidFill>
            <a:srgbClr val="162032"/>
          </a:solidFill>
          <a:ln w="12700">
            <a:solidFill>
              <a:srgbClr val="1A2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40880" y="1051560"/>
            <a:ext cx="685800" cy="685800"/>
          </a:xfrm>
          <a:prstGeom prst="ellipse">
            <a:avLst/>
          </a:prstGeom>
          <a:solidFill>
            <a:srgbClr val="06D6A0">
              <a:alpha val="80000"/>
            </a:srgbClr>
          </a:solidFill>
          <a:ln w="12700">
            <a:solidFill>
              <a:srgbClr val="06D6A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124712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17920" y="18745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開放原始碼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217920" y="233172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程式碼完全公開，任何人都可以檢查有沒有後門或惡意程式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57200" y="3657600"/>
            <a:ext cx="8229600" cy="475488"/>
          </a:xfrm>
          <a:prstGeom prst="rect">
            <a:avLst/>
          </a:prstGeom>
          <a:solidFill>
            <a:srgbClr val="2D1A0E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94360" y="3694176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需注意：廣泛權限  OpenClaw 運作時需要較大的系統權限（可讀寫檔案、上網），設定時需小心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57200" y="4206240"/>
            <a:ext cx="8229600" cy="475488"/>
          </a:xfrm>
          <a:prstGeom prst="rect">
            <a:avLst/>
          </a:prstGeom>
          <a:solidFill>
            <a:srgbClr val="2D1A0E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94360" y="4242816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需注意：設定錯誤風險  若設定不當，可能讓他人透過 Bot 存取你的系統，務必設定存取密碼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11 /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未來發展方向和計劃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2743200" cy="3840480"/>
          </a:xfrm>
          <a:prstGeom prst="rect">
            <a:avLst/>
          </a:prstGeom>
          <a:solidFill>
            <a:srgbClr val="162032"/>
          </a:solidFill>
          <a:ln w="12700">
            <a:solidFill>
              <a:srgbClr val="1A2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27432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14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近期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53619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支援更多訊息平台（LINE、Slack）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45059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更簡單的圖形化安裝介面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91440" cy="91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36499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中文語系完整支援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46120" y="914400"/>
            <a:ext cx="2743200" cy="3840480"/>
          </a:xfrm>
          <a:prstGeom prst="rect">
            <a:avLst/>
          </a:prstGeom>
          <a:solidFill>
            <a:srgbClr val="162032"/>
          </a:solidFill>
          <a:ln w="12700">
            <a:solidFill>
              <a:srgbClr val="1A2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914400"/>
            <a:ext cx="2743200" cy="5029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914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中期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429000" y="1600200"/>
            <a:ext cx="91440" cy="914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153619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 AI 代理協作功能（多個 Bot 互相合作）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29000" y="2514600"/>
            <a:ext cx="91440" cy="914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245059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語音指令支援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29000" y="3429000"/>
            <a:ext cx="91440" cy="914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336499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更強的網路自動化能力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26480" y="914400"/>
            <a:ext cx="2743200" cy="3840480"/>
          </a:xfrm>
          <a:prstGeom prst="rect">
            <a:avLst/>
          </a:prstGeom>
          <a:solidFill>
            <a:srgbClr val="162032"/>
          </a:solidFill>
          <a:ln w="12700">
            <a:solidFill>
              <a:srgbClr val="1A2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914400"/>
            <a:ext cx="2743200" cy="5029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914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長期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309360" y="1600200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153619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 AI 代理市集（分享自訂工作流程）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09360" y="2514600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245059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企業版本，支援公司內部系統整合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09360" y="3429000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336499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成為個人 AI 作業系統</a:t>
            </a:r>
            <a:endParaRPr lang="en-US" sz="130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914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12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重點回顧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777240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1A2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9601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10058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是有「眼睛」和「手」的 AI，不只是聊天機器人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627632"/>
            <a:ext cx="777240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1A2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6733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88720" y="171907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完全免費開源，任何人都可以在自己電腦上架設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340864"/>
            <a:ext cx="777240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1A2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238658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243230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透過 Telegram、Discord 等訊息軟體，用自然語言操控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054096"/>
            <a:ext cx="777240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1A2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309981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88720" y="314553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資料本地儲存，隱私自己掌控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767328"/>
            <a:ext cx="777240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1A27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381304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88720" y="38587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未來將成為個人 AI 助理的新標準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0" y="4480560"/>
            <a:ext cx="365760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0" y="4480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？  有問題嗎？歡迎發問！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OpenClaw 介紹簡報</dc:title>
  <dc:subject>PptxGenJS Presentation</dc:subject>
  <dc:creator>Helix</dc:creator>
  <cp:lastModifiedBy>Helix</cp:lastModifiedBy>
  <cp:revision>1</cp:revision>
  <dcterms:created xsi:type="dcterms:W3CDTF">2026-03-30T01:09:00Z</dcterms:created>
  <dcterms:modified xsi:type="dcterms:W3CDTF">2026-03-30T01:09:00Z</dcterms:modified>
</cp:coreProperties>
</file>